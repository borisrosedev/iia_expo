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mpact" charset="1" panose="020B0806030902050204"/>
      <p:regular r:id="rId16"/>
    </p:embeddedFont>
    <p:embeddedFont>
      <p:font typeface="Questrial" charset="1" panose="02000000000000000000"/>
      <p:regular r:id="rId17"/>
    </p:embeddedFont>
    <p:embeddedFont>
      <p:font typeface="Agrandir" charset="1" panose="00000500000000000000"/>
      <p:regular r:id="rId18"/>
    </p:embeddedFont>
    <p:embeddedFont>
      <p:font typeface="Open Sans 1" charset="1" panose="020B0606030504020204"/>
      <p:regular r:id="rId19"/>
    </p:embeddedFont>
    <p:embeddedFont>
      <p:font typeface="Open Sans 1 Bold" charset="1" panose="020B0806030504020204"/>
      <p:regular r:id="rId20"/>
    </p:embeddedFont>
    <p:embeddedFont>
      <p:font typeface="Open Sans 2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1.png" Type="http://schemas.openxmlformats.org/officeDocument/2006/relationships/image"/><Relationship Id="rId20" Target="../media/image23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4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8.pn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7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https://www.rfc-editor.org/rfc/rfc9000.html" TargetMode="External" Type="http://schemas.openxmlformats.org/officeDocument/2006/relationships/hyperlink"/><Relationship Id="rId8" Target="https://fr.wikipedia.org/wiki/QUIC" TargetMode="External" Type="http://schemas.openxmlformats.org/officeDocument/2006/relationships/hyperlink"/><Relationship Id="rId9" Target="https://www.ionos.fr/digitalguide/hebergement/aspects-techniques/quic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36790" y="3004335"/>
            <a:ext cx="2451210" cy="4090976"/>
            <a:chOff x="0" y="0"/>
            <a:chExt cx="645586" cy="107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586" cy="1077459"/>
            </a:xfrm>
            <a:custGeom>
              <a:avLst/>
              <a:gdLst/>
              <a:ahLst/>
              <a:cxnLst/>
              <a:rect r="r" b="b" t="t" l="l"/>
              <a:pathLst>
                <a:path h="1077459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645586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74562" y="3023385"/>
            <a:ext cx="3086100" cy="4090976"/>
            <a:chOff x="0" y="0"/>
            <a:chExt cx="812800" cy="1077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77459"/>
            </a:xfrm>
            <a:custGeom>
              <a:avLst/>
              <a:gdLst/>
              <a:ahLst/>
              <a:cxnLst/>
              <a:rect r="r" b="b" t="t" l="l"/>
              <a:pathLst>
                <a:path h="10774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812800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185536" y="6462883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3"/>
                </a:lnTo>
                <a:lnTo>
                  <a:pt x="0" y="356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6325" y="1028700"/>
            <a:ext cx="6225111" cy="8229600"/>
            <a:chOff x="0" y="0"/>
            <a:chExt cx="964433" cy="1274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443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64433">
                  <a:moveTo>
                    <a:pt x="0" y="0"/>
                  </a:moveTo>
                  <a:lnTo>
                    <a:pt x="964433" y="0"/>
                  </a:lnTo>
                  <a:lnTo>
                    <a:pt x="96443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-66241" t="0" r="-1150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532517" y="2124446"/>
            <a:ext cx="7319770" cy="200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7820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INTERNET ET</a:t>
            </a:r>
          </a:p>
          <a:p>
            <a:pPr algn="l" marL="0" indent="0" lvl="0">
              <a:lnSpc>
                <a:spcPts val="7038"/>
              </a:lnSpc>
            </a:pPr>
            <a:r>
              <a:rPr lang="en-US" b="true" sz="7820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LE PROTOCOLE QUIC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463361" y="3960691"/>
            <a:ext cx="6001164" cy="0"/>
          </a:xfrm>
          <a:prstGeom prst="line">
            <a:avLst/>
          </a:prstGeom>
          <a:ln cap="flat" w="28575">
            <a:solidFill>
              <a:srgbClr val="413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93528" y="4298295"/>
            <a:ext cx="7413645" cy="741364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42975" cap="sq">
              <a:solidFill>
                <a:srgbClr val="F5F0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67300" lIns="67300" bIns="67300" rIns="67300"/>
            <a:lstStyle/>
            <a:p>
              <a:pPr algn="ctr" marL="0" indent="0" lvl="0">
                <a:lnSpc>
                  <a:spcPts val="19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242537" y="5788281"/>
            <a:ext cx="5040201" cy="3521840"/>
          </a:xfrm>
          <a:custGeom>
            <a:avLst/>
            <a:gdLst/>
            <a:ahLst/>
            <a:cxnLst/>
            <a:rect r="r" b="b" t="t" l="l"/>
            <a:pathLst>
              <a:path h="3521840" w="5040201">
                <a:moveTo>
                  <a:pt x="0" y="0"/>
                </a:moveTo>
                <a:lnTo>
                  <a:pt x="5040201" y="0"/>
                </a:lnTo>
                <a:lnTo>
                  <a:pt x="5040201" y="3521840"/>
                </a:lnTo>
                <a:lnTo>
                  <a:pt x="0" y="3521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01436" y="4878016"/>
            <a:ext cx="1705737" cy="5408984"/>
          </a:xfrm>
          <a:custGeom>
            <a:avLst/>
            <a:gdLst/>
            <a:ahLst/>
            <a:cxnLst/>
            <a:rect r="r" b="b" t="t" l="l"/>
            <a:pathLst>
              <a:path h="5408984" w="1705737">
                <a:moveTo>
                  <a:pt x="0" y="0"/>
                </a:moveTo>
                <a:lnTo>
                  <a:pt x="1705737" y="0"/>
                </a:lnTo>
                <a:lnTo>
                  <a:pt x="1705737" y="5408984"/>
                </a:lnTo>
                <a:lnTo>
                  <a:pt x="0" y="5408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232" t="-1690" r="-111444" b="-673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463361" y="3950416"/>
            <a:ext cx="7096062" cy="64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1"/>
              </a:lnSpc>
            </a:pPr>
            <a:r>
              <a:rPr lang="en-US" sz="1857" spc="40">
                <a:solidFill>
                  <a:srgbClr val="272626"/>
                </a:solidFill>
                <a:latin typeface="Questrial"/>
                <a:ea typeface="Questrial"/>
                <a:cs typeface="Questrial"/>
                <a:sym typeface="Questrial"/>
              </a:rPr>
              <a:t>Une nouvelle façon rapide et sécurisée de naviguer. </a:t>
            </a:r>
          </a:p>
          <a:p>
            <a:pPr algn="just" marL="0" indent="0" lvl="0">
              <a:lnSpc>
                <a:spcPts val="2601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5400000">
            <a:off x="3674531" y="6660094"/>
            <a:ext cx="1028700" cy="6225111"/>
          </a:xfrm>
          <a:custGeom>
            <a:avLst/>
            <a:gdLst/>
            <a:ahLst/>
            <a:cxnLst/>
            <a:rect r="r" b="b" t="t" l="l"/>
            <a:pathLst>
              <a:path h="6225111" w="1028700">
                <a:moveTo>
                  <a:pt x="0" y="0"/>
                </a:moveTo>
                <a:lnTo>
                  <a:pt x="1028700" y="0"/>
                </a:lnTo>
                <a:lnTo>
                  <a:pt x="1028700" y="6225112"/>
                </a:lnTo>
                <a:lnTo>
                  <a:pt x="0" y="62251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8721" t="0" r="-6374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23692" y="5480146"/>
            <a:ext cx="1677405" cy="65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PROTOCOLE</a:t>
            </a:r>
          </a:p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QUIC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51210" cy="4090976"/>
            <a:chOff x="0" y="0"/>
            <a:chExt cx="645586" cy="107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586" cy="1077459"/>
            </a:xfrm>
            <a:custGeom>
              <a:avLst/>
              <a:gdLst/>
              <a:ahLst/>
              <a:cxnLst/>
              <a:rect r="r" b="b" t="t" l="l"/>
              <a:pathLst>
                <a:path h="1077459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645586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8746" y="3458547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4"/>
                </a:lnTo>
                <a:lnTo>
                  <a:pt x="0" y="356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22247" y="943594"/>
            <a:ext cx="711369" cy="711369"/>
          </a:xfrm>
          <a:custGeom>
            <a:avLst/>
            <a:gdLst/>
            <a:ahLst/>
            <a:cxnLst/>
            <a:rect r="r" b="b" t="t" l="l"/>
            <a:pathLst>
              <a:path h="711369" w="711369">
                <a:moveTo>
                  <a:pt x="0" y="0"/>
                </a:moveTo>
                <a:lnTo>
                  <a:pt x="711369" y="0"/>
                </a:lnTo>
                <a:lnTo>
                  <a:pt x="711369" y="711369"/>
                </a:lnTo>
                <a:lnTo>
                  <a:pt x="0" y="711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795497" y="1969288"/>
            <a:ext cx="8364308" cy="1905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 flipV="true">
            <a:off x="2804553" y="4736963"/>
            <a:ext cx="8364308" cy="1905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1511784" y="1028700"/>
            <a:ext cx="6225111" cy="8229600"/>
            <a:chOff x="0" y="0"/>
            <a:chExt cx="964433" cy="1274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443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64433">
                  <a:moveTo>
                    <a:pt x="0" y="0"/>
                  </a:moveTo>
                  <a:lnTo>
                    <a:pt x="964433" y="0"/>
                  </a:lnTo>
                  <a:lnTo>
                    <a:pt x="96443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6"/>
              <a:stretch>
                <a:fillRect l="0" t="-682" r="0" b="-68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259300" y="3098012"/>
            <a:ext cx="3086100" cy="4090976"/>
            <a:chOff x="0" y="0"/>
            <a:chExt cx="812800" cy="10774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77459"/>
            </a:xfrm>
            <a:custGeom>
              <a:avLst/>
              <a:gdLst/>
              <a:ahLst/>
              <a:cxnLst/>
              <a:rect r="r" b="b" t="t" l="l"/>
              <a:pathLst>
                <a:path h="10774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812800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751424" y="191353"/>
            <a:ext cx="1387221" cy="695457"/>
            <a:chOff x="0" y="0"/>
            <a:chExt cx="1849628" cy="927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2984" cy="808816"/>
            </a:xfrm>
            <a:custGeom>
              <a:avLst/>
              <a:gdLst/>
              <a:ahLst/>
              <a:cxnLst/>
              <a:rect r="r" b="b" t="t" l="l"/>
              <a:pathLst>
                <a:path h="808816" w="802984">
                  <a:moveTo>
                    <a:pt x="0" y="0"/>
                  </a:moveTo>
                  <a:lnTo>
                    <a:pt x="802984" y="0"/>
                  </a:lnTo>
                  <a:lnTo>
                    <a:pt x="802984" y="808816"/>
                  </a:lnTo>
                  <a:lnTo>
                    <a:pt x="0" y="80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802984" y="243081"/>
              <a:ext cx="1046644" cy="68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42"/>
                </a:lnSpc>
              </a:pPr>
              <a:r>
                <a:rPr lang="en-US" sz="2816">
                  <a:solidFill>
                    <a:srgbClr val="5E17EB"/>
                  </a:solidFill>
                  <a:latin typeface="Agrandir"/>
                  <a:ea typeface="Agrandir"/>
                  <a:cs typeface="Agrandir"/>
                  <a:sym typeface="Agrandir"/>
                </a:rPr>
                <a:t>U2C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45774" y="7540065"/>
            <a:ext cx="1823770" cy="1443058"/>
          </a:xfrm>
          <a:custGeom>
            <a:avLst/>
            <a:gdLst/>
            <a:ahLst/>
            <a:cxnLst/>
            <a:rect r="r" b="b" t="t" l="l"/>
            <a:pathLst>
              <a:path h="1443058" w="1823770">
                <a:moveTo>
                  <a:pt x="0" y="0"/>
                </a:moveTo>
                <a:lnTo>
                  <a:pt x="1823770" y="0"/>
                </a:lnTo>
                <a:lnTo>
                  <a:pt x="1823770" y="1443058"/>
                </a:lnTo>
                <a:lnTo>
                  <a:pt x="0" y="1443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813609" y="2360871"/>
            <a:ext cx="4984359" cy="45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sz="2628" spc="-52" strike="noStrike" u="none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Les bases de la communication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13609" y="5146120"/>
            <a:ext cx="4984359" cy="45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sz="2628" spc="-52" strike="noStrike" u="none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Le protocole TCP/IP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00316" y="886138"/>
            <a:ext cx="3977764" cy="85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0"/>
              </a:lnSpc>
            </a:pPr>
            <a:r>
              <a:rPr lang="en-US" b="true" sz="2686" spc="-53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COMMENT FONCTIONNE INTERNET AUJOURD'HUI 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13609" y="2903717"/>
            <a:ext cx="8346196" cy="127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Internet repose principalement sur le protocole TCP/IP pour transmettre les données entre votre appareil et les serveurs. TCP (Transmission Control Protocol) garantit que toutes les informations arrivent correctement à destination, comme un facteur qui vérifie chaque colis livré.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13609" y="5684521"/>
            <a:ext cx="8346196" cy="127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TCP fonctionne avec un système de "handshake" (poignée de main) : avant d'envoyer des données, votre appareil et le serveur échangent plusieurs messages pour établir la connexion.</a:t>
            </a:r>
          </a:p>
          <a:p>
            <a:pPr algn="just" marL="0" indent="0" lvl="0">
              <a:lnSpc>
                <a:spcPts val="2558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267263" y="9747930"/>
            <a:ext cx="4710263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</a:pPr>
            <a:r>
              <a:rPr lang="en-US" b="true" sz="1200" spc="1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8746" y="2571946"/>
            <a:ext cx="1816462" cy="65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3"/>
              </a:lnSpc>
            </a:pPr>
            <a:r>
              <a:rPr lang="en-US" b="true" sz="2779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COMPRENDRE QUIC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95497" y="7912850"/>
            <a:ext cx="8346196" cy="171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Ce processus garantit la fiabilité, mais nécessite plusieurs allers-retours avant de commencer le transfert réel des données.</a:t>
            </a:r>
          </a:p>
          <a:p>
            <a:pPr algn="just" marL="0" indent="0" lvl="0">
              <a:lnSpc>
                <a:spcPts val="960"/>
              </a:lnSpc>
            </a:pP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C'est comme prendre le métro – vous devez d'abord valider votre ticket, attendre que les portes s'ouvrent, puis entrer. Chaque étape prend du temps !</a:t>
            </a:r>
          </a:p>
          <a:p>
            <a:pPr algn="just" marL="0" indent="0" lvl="0">
              <a:lnSpc>
                <a:spcPts val="2558"/>
              </a:lnSpc>
            </a:pPr>
          </a:p>
        </p:txBody>
      </p:sp>
      <p:sp>
        <p:nvSpPr>
          <p:cNvPr name="AutoShape 26" id="26"/>
          <p:cNvSpPr/>
          <p:nvPr/>
        </p:nvSpPr>
        <p:spPr>
          <a:xfrm flipV="true">
            <a:off x="2786441" y="7108248"/>
            <a:ext cx="8364308" cy="1905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2813609" y="7370004"/>
            <a:ext cx="4984359" cy="45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9"/>
              </a:lnSpc>
              <a:spcBef>
                <a:spcPct val="0"/>
              </a:spcBef>
            </a:pPr>
            <a:r>
              <a:rPr lang="en-US" sz="2628" spc="-52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A Retenir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51210" cy="4208780"/>
            <a:chOff x="0" y="0"/>
            <a:chExt cx="645586" cy="1108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586" cy="1108485"/>
            </a:xfrm>
            <a:custGeom>
              <a:avLst/>
              <a:gdLst/>
              <a:ahLst/>
              <a:cxnLst/>
              <a:rect r="r" b="b" t="t" l="l"/>
              <a:pathLst>
                <a:path h="1108485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108485"/>
                  </a:lnTo>
                  <a:lnTo>
                    <a:pt x="0" y="1108485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645586" cy="127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8746" y="3458547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4"/>
                </a:lnTo>
                <a:lnTo>
                  <a:pt x="0" y="356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22247" y="943594"/>
            <a:ext cx="711369" cy="711369"/>
          </a:xfrm>
          <a:custGeom>
            <a:avLst/>
            <a:gdLst/>
            <a:ahLst/>
            <a:cxnLst/>
            <a:rect r="r" b="b" t="t" l="l"/>
            <a:pathLst>
              <a:path h="711369" w="711369">
                <a:moveTo>
                  <a:pt x="0" y="0"/>
                </a:moveTo>
                <a:lnTo>
                  <a:pt x="711369" y="0"/>
                </a:lnTo>
                <a:lnTo>
                  <a:pt x="711369" y="711369"/>
                </a:lnTo>
                <a:lnTo>
                  <a:pt x="0" y="711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2722269" y="1873919"/>
            <a:ext cx="8000059" cy="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1407745" y="1154784"/>
            <a:ext cx="6225111" cy="5511834"/>
            <a:chOff x="0" y="0"/>
            <a:chExt cx="964433" cy="8539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4433" cy="853927"/>
            </a:xfrm>
            <a:custGeom>
              <a:avLst/>
              <a:gdLst/>
              <a:ahLst/>
              <a:cxnLst/>
              <a:rect r="r" b="b" t="t" l="l"/>
              <a:pathLst>
                <a:path h="853927" w="964433">
                  <a:moveTo>
                    <a:pt x="0" y="0"/>
                  </a:moveTo>
                  <a:lnTo>
                    <a:pt x="964433" y="0"/>
                  </a:lnTo>
                  <a:lnTo>
                    <a:pt x="964433" y="853927"/>
                  </a:lnTo>
                  <a:lnTo>
                    <a:pt x="0" y="853927"/>
                  </a:lnTo>
                  <a:close/>
                </a:path>
              </a:pathLst>
            </a:custGeom>
            <a:blipFill>
              <a:blip r:embed="rId6"/>
              <a:stretch>
                <a:fillRect l="0" t="-25672" r="0" b="-2567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59300" y="3098012"/>
            <a:ext cx="3086100" cy="4090976"/>
            <a:chOff x="0" y="0"/>
            <a:chExt cx="812800" cy="10774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077459"/>
            </a:xfrm>
            <a:custGeom>
              <a:avLst/>
              <a:gdLst/>
              <a:ahLst/>
              <a:cxnLst/>
              <a:rect r="r" b="b" t="t" l="l"/>
              <a:pathLst>
                <a:path h="10774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61925"/>
              <a:ext cx="812800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759986" y="2612694"/>
            <a:ext cx="8381059" cy="127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</a:t>
            </a: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Latence importante : TCP nécessite plusieurs allers-retours (handshake) avant de commencer à transmettre les données réelles.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Pas optimisé pour le mobile : Sur les réseaux instables comme la 4G, TCP gère mal les pertes de paquets et les changements d'adresse IP.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831795" y="2580040"/>
            <a:ext cx="305925" cy="299042"/>
          </a:xfrm>
          <a:custGeom>
            <a:avLst/>
            <a:gdLst/>
            <a:ahLst/>
            <a:cxnLst/>
            <a:rect r="r" b="b" t="t" l="l"/>
            <a:pathLst>
              <a:path h="299042" w="305925">
                <a:moveTo>
                  <a:pt x="0" y="0"/>
                </a:moveTo>
                <a:lnTo>
                  <a:pt x="305925" y="0"/>
                </a:lnTo>
                <a:lnTo>
                  <a:pt x="305925" y="299042"/>
                </a:lnTo>
                <a:lnTo>
                  <a:pt x="0" y="2990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31795" y="3276933"/>
            <a:ext cx="246137" cy="286205"/>
          </a:xfrm>
          <a:custGeom>
            <a:avLst/>
            <a:gdLst/>
            <a:ahLst/>
            <a:cxnLst/>
            <a:rect r="r" b="b" t="t" l="l"/>
            <a:pathLst>
              <a:path h="286205" w="246137">
                <a:moveTo>
                  <a:pt x="0" y="0"/>
                </a:moveTo>
                <a:lnTo>
                  <a:pt x="246136" y="0"/>
                </a:lnTo>
                <a:lnTo>
                  <a:pt x="246136" y="286205"/>
                </a:lnTo>
                <a:lnTo>
                  <a:pt x="0" y="2862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4361180"/>
            <a:ext cx="10112345" cy="289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</a:t>
            </a: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Handshake TCP = 3 échanges minimum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Avant d'envoyer la moindre donnée, TCP doit établir une connexion en 3 étapes (SYN, SYN-ACK, ACK). Sur un réseau lent, cela peut prendre plusieurs centaines de millisecondes.</a:t>
            </a:r>
          </a:p>
          <a:p>
            <a:pPr algn="just" marL="0" indent="0" lvl="0">
              <a:lnSpc>
                <a:spcPts val="2558"/>
              </a:lnSpc>
            </a:pP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Exemple : Dans le métro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Quand votre téléphone passe d'une antenne 4G à une autre, TCP perd la connexion et doit tout recommencer. 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Résultat : votre vidéo se met en pause !</a:t>
            </a:r>
          </a:p>
          <a:p>
            <a:pPr algn="just" marL="0" indent="0" lvl="0">
              <a:lnSpc>
                <a:spcPts val="2558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6751424" y="191353"/>
            <a:ext cx="1387221" cy="695457"/>
            <a:chOff x="0" y="0"/>
            <a:chExt cx="1849628" cy="927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2984" cy="808816"/>
            </a:xfrm>
            <a:custGeom>
              <a:avLst/>
              <a:gdLst/>
              <a:ahLst/>
              <a:cxnLst/>
              <a:rect r="r" b="b" t="t" l="l"/>
              <a:pathLst>
                <a:path h="808816" w="802984">
                  <a:moveTo>
                    <a:pt x="0" y="0"/>
                  </a:moveTo>
                  <a:lnTo>
                    <a:pt x="802984" y="0"/>
                  </a:lnTo>
                  <a:lnTo>
                    <a:pt x="802984" y="808816"/>
                  </a:lnTo>
                  <a:lnTo>
                    <a:pt x="0" y="80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802984" y="243081"/>
              <a:ext cx="1046644" cy="68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42"/>
                </a:lnSpc>
              </a:pPr>
              <a:r>
                <a:rPr lang="en-US" sz="2816">
                  <a:solidFill>
                    <a:srgbClr val="5E17EB"/>
                  </a:solidFill>
                  <a:latin typeface="Agrandir"/>
                  <a:ea typeface="Agrandir"/>
                  <a:cs typeface="Agrandir"/>
                  <a:sym typeface="Agrandir"/>
                </a:rPr>
                <a:t>U3C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5552" y="7034419"/>
            <a:ext cx="10112345" cy="25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À retenir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TCP a été conçu dans les années 1970 pour des réseaux fixes et stables. Il n'est pas adapté à notre usage mobile moderne avec Wi-Fi, 4G et déplacements constants.</a:t>
            </a:r>
          </a:p>
          <a:p>
            <a:pPr algn="just" marL="0" indent="0" lvl="0">
              <a:lnSpc>
                <a:spcPts val="2558"/>
              </a:lnSpc>
            </a:pP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Le problème principal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Chaque perte de paquet bloque toute la transmission (head-of-line blocking), même si les autres données sont déjà arrivées.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25552" y="7344143"/>
            <a:ext cx="400105" cy="316583"/>
          </a:xfrm>
          <a:custGeom>
            <a:avLst/>
            <a:gdLst/>
            <a:ahLst/>
            <a:cxnLst/>
            <a:rect r="r" b="b" t="t" l="l"/>
            <a:pathLst>
              <a:path h="316583" w="400105">
                <a:moveTo>
                  <a:pt x="0" y="0"/>
                </a:moveTo>
                <a:lnTo>
                  <a:pt x="400106" y="0"/>
                </a:lnTo>
                <a:lnTo>
                  <a:pt x="400106" y="316584"/>
                </a:lnTo>
                <a:lnTo>
                  <a:pt x="0" y="316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5140" y="5714155"/>
            <a:ext cx="229083" cy="241776"/>
          </a:xfrm>
          <a:custGeom>
            <a:avLst/>
            <a:gdLst/>
            <a:ahLst/>
            <a:cxnLst/>
            <a:rect r="r" b="b" t="t" l="l"/>
            <a:pathLst>
              <a:path h="241776" w="229083">
                <a:moveTo>
                  <a:pt x="0" y="0"/>
                </a:moveTo>
                <a:lnTo>
                  <a:pt x="229082" y="0"/>
                </a:lnTo>
                <a:lnTo>
                  <a:pt x="229082" y="241776"/>
                </a:lnTo>
                <a:lnTo>
                  <a:pt x="0" y="2417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89815" y="6666618"/>
            <a:ext cx="264408" cy="253501"/>
          </a:xfrm>
          <a:custGeom>
            <a:avLst/>
            <a:gdLst/>
            <a:ahLst/>
            <a:cxnLst/>
            <a:rect r="r" b="b" t="t" l="l"/>
            <a:pathLst>
              <a:path h="253501" w="264408">
                <a:moveTo>
                  <a:pt x="0" y="0"/>
                </a:moveTo>
                <a:lnTo>
                  <a:pt x="264407" y="0"/>
                </a:lnTo>
                <a:lnTo>
                  <a:pt x="264407" y="253501"/>
                </a:lnTo>
                <a:lnTo>
                  <a:pt x="0" y="2535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1058407" y="8663173"/>
            <a:ext cx="295815" cy="295815"/>
          </a:xfrm>
          <a:custGeom>
            <a:avLst/>
            <a:gdLst/>
            <a:ahLst/>
            <a:cxnLst/>
            <a:rect r="r" b="b" t="t" l="l"/>
            <a:pathLst>
              <a:path h="295815" w="295815">
                <a:moveTo>
                  <a:pt x="295815" y="0"/>
                </a:moveTo>
                <a:lnTo>
                  <a:pt x="0" y="0"/>
                </a:lnTo>
                <a:lnTo>
                  <a:pt x="0" y="295815"/>
                </a:lnTo>
                <a:lnTo>
                  <a:pt x="295815" y="295815"/>
                </a:lnTo>
                <a:lnTo>
                  <a:pt x="295815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28700" y="4459657"/>
            <a:ext cx="328670" cy="188574"/>
          </a:xfrm>
          <a:custGeom>
            <a:avLst/>
            <a:gdLst/>
            <a:ahLst/>
            <a:cxnLst/>
            <a:rect r="r" b="b" t="t" l="l"/>
            <a:pathLst>
              <a:path h="188574" w="328670">
                <a:moveTo>
                  <a:pt x="0" y="0"/>
                </a:moveTo>
                <a:lnTo>
                  <a:pt x="328670" y="0"/>
                </a:lnTo>
                <a:lnTo>
                  <a:pt x="328670" y="188574"/>
                </a:lnTo>
                <a:lnTo>
                  <a:pt x="0" y="18857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328387" y="6401307"/>
            <a:ext cx="4930913" cy="3199839"/>
          </a:xfrm>
          <a:custGeom>
            <a:avLst/>
            <a:gdLst/>
            <a:ahLst/>
            <a:cxnLst/>
            <a:rect r="r" b="b" t="t" l="l"/>
            <a:pathLst>
              <a:path h="3199839" w="4930913">
                <a:moveTo>
                  <a:pt x="0" y="0"/>
                </a:moveTo>
                <a:lnTo>
                  <a:pt x="4930913" y="0"/>
                </a:lnTo>
                <a:lnTo>
                  <a:pt x="4930913" y="3199839"/>
                </a:lnTo>
                <a:lnTo>
                  <a:pt x="0" y="319983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-1334" r="0" b="-1334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700316" y="1072321"/>
            <a:ext cx="5910478" cy="51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5"/>
              </a:lnSpc>
            </a:pPr>
            <a:r>
              <a:rPr lang="en-US" b="true" sz="3012" spc="-60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POURQUOI TCP PEUT RALENTIR LA CONNEXION 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59986" y="1989598"/>
            <a:ext cx="4984359" cy="50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7"/>
              </a:lnSpc>
            </a:pPr>
            <a:r>
              <a:rPr lang="en-US" sz="2897" spc="-57" strike="noStrike" u="none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Les limites du protocole TCP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4099" y="2569692"/>
            <a:ext cx="1677405" cy="65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PROTOCOLE</a:t>
            </a:r>
          </a:p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QUIC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51210" cy="4208780"/>
            <a:chOff x="0" y="0"/>
            <a:chExt cx="645586" cy="1108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586" cy="1108485"/>
            </a:xfrm>
            <a:custGeom>
              <a:avLst/>
              <a:gdLst/>
              <a:ahLst/>
              <a:cxnLst/>
              <a:rect r="r" b="b" t="t" l="l"/>
              <a:pathLst>
                <a:path h="1108485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108485"/>
                  </a:lnTo>
                  <a:lnTo>
                    <a:pt x="0" y="1108485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645586" cy="127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8746" y="3458547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4"/>
                </a:lnTo>
                <a:lnTo>
                  <a:pt x="0" y="356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22247" y="943594"/>
            <a:ext cx="711369" cy="711369"/>
          </a:xfrm>
          <a:custGeom>
            <a:avLst/>
            <a:gdLst/>
            <a:ahLst/>
            <a:cxnLst/>
            <a:rect r="r" b="b" t="t" l="l"/>
            <a:pathLst>
              <a:path h="711369" w="711369">
                <a:moveTo>
                  <a:pt x="0" y="0"/>
                </a:moveTo>
                <a:lnTo>
                  <a:pt x="711369" y="0"/>
                </a:lnTo>
                <a:lnTo>
                  <a:pt x="711369" y="711369"/>
                </a:lnTo>
                <a:lnTo>
                  <a:pt x="0" y="711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65667" y="2292967"/>
            <a:ext cx="6728785" cy="50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7" spc="-57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Définition et fonctionnement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00316" y="1083241"/>
            <a:ext cx="5910478" cy="657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27"/>
              </a:lnSpc>
            </a:pPr>
            <a:r>
              <a:rPr lang="en-US" b="true" sz="3837" spc="-76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QU'EST-CE QUE LE PROTOCOLE QUIC ?</a:t>
            </a:r>
          </a:p>
        </p:txBody>
      </p:sp>
      <p:sp>
        <p:nvSpPr>
          <p:cNvPr name="AutoShape 9" id="9"/>
          <p:cNvSpPr/>
          <p:nvPr/>
        </p:nvSpPr>
        <p:spPr>
          <a:xfrm>
            <a:off x="2722269" y="1988219"/>
            <a:ext cx="8000059" cy="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2722269" y="2983899"/>
            <a:ext cx="8000059" cy="9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QUIC (Quick UDP Internet Connections) est un protocole imaginé par Jim Roskind chez Google en 2012 pour améliorer la rapidité des échanges. Il fonctionne sur UDP et a été reconnu comme norme par l’IETF en 2021.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11784" y="1028700"/>
            <a:ext cx="6225111" cy="8229600"/>
            <a:chOff x="0" y="0"/>
            <a:chExt cx="964433" cy="12749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443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64433">
                  <a:moveTo>
                    <a:pt x="0" y="0"/>
                  </a:moveTo>
                  <a:lnTo>
                    <a:pt x="964433" y="0"/>
                  </a:lnTo>
                  <a:lnTo>
                    <a:pt x="96443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6"/>
              <a:stretch>
                <a:fillRect l="0" t="-682" r="0" b="-68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3098012"/>
            <a:ext cx="3086100" cy="4090976"/>
            <a:chOff x="0" y="0"/>
            <a:chExt cx="812800" cy="10774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077459"/>
            </a:xfrm>
            <a:custGeom>
              <a:avLst/>
              <a:gdLst/>
              <a:ahLst/>
              <a:cxnLst/>
              <a:rect r="r" b="b" t="t" l="l"/>
              <a:pathLst>
                <a:path h="10774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61925"/>
              <a:ext cx="812800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27092" y="4810393"/>
            <a:ext cx="8895312" cy="127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À retenir : QUIC intègre tout en un seul protocole :</a:t>
            </a:r>
          </a:p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 • Gestion de connexion (plus besoin de handshake TCP séparé)</a:t>
            </a:r>
          </a:p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 • Chiffrement TLS 1.3 intégré dès le départ</a:t>
            </a:r>
          </a:p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 • Multiplexage des flux sans blocage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8240" y="6786513"/>
            <a:ext cx="8895312" cy="159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</a:t>
            </a: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Exemple : Imaginez prendre le métro. </a:t>
            </a:r>
          </a:p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•  Avec TCP, vous devez valider votre ticket à 3 portillons différents avant d'entrer.  </a:t>
            </a:r>
          </a:p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•  Avec QUIC, un seul portillon intelligent vérifie tout en une fois ! </a:t>
            </a:r>
          </a:p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Résultat : vous accédez au quai beaucoup plus rapidement, et votre trajet est sécurisé dès le premier pas.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1788240" y="6453138"/>
            <a:ext cx="8914717" cy="1905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 flipV="true">
            <a:off x="1807686" y="4498290"/>
            <a:ext cx="8914717" cy="1905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6751424" y="191353"/>
            <a:ext cx="1387221" cy="695457"/>
            <a:chOff x="0" y="0"/>
            <a:chExt cx="1849628" cy="9272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2984" cy="808816"/>
            </a:xfrm>
            <a:custGeom>
              <a:avLst/>
              <a:gdLst/>
              <a:ahLst/>
              <a:cxnLst/>
              <a:rect r="r" b="b" t="t" l="l"/>
              <a:pathLst>
                <a:path h="808816" w="802984">
                  <a:moveTo>
                    <a:pt x="0" y="0"/>
                  </a:moveTo>
                  <a:lnTo>
                    <a:pt x="802984" y="0"/>
                  </a:lnTo>
                  <a:lnTo>
                    <a:pt x="802984" y="808816"/>
                  </a:lnTo>
                  <a:lnTo>
                    <a:pt x="0" y="80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802984" y="243081"/>
              <a:ext cx="1046644" cy="68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42"/>
                </a:lnSpc>
              </a:pPr>
              <a:r>
                <a:rPr lang="en-US" sz="2816">
                  <a:solidFill>
                    <a:srgbClr val="5E17EB"/>
                  </a:solidFill>
                  <a:latin typeface="Agrandir"/>
                  <a:ea typeface="Agrandir"/>
                  <a:cs typeface="Agrandir"/>
                  <a:sym typeface="Agrandir"/>
                </a:rPr>
                <a:t>U4C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59243" y="4803090"/>
            <a:ext cx="400105" cy="316583"/>
          </a:xfrm>
          <a:custGeom>
            <a:avLst/>
            <a:gdLst/>
            <a:ahLst/>
            <a:cxnLst/>
            <a:rect r="r" b="b" t="t" l="l"/>
            <a:pathLst>
              <a:path h="316583" w="400105">
                <a:moveTo>
                  <a:pt x="0" y="0"/>
                </a:moveTo>
                <a:lnTo>
                  <a:pt x="400105" y="0"/>
                </a:lnTo>
                <a:lnTo>
                  <a:pt x="400105" y="316584"/>
                </a:lnTo>
                <a:lnTo>
                  <a:pt x="0" y="316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862417" y="6843663"/>
            <a:ext cx="229083" cy="241776"/>
          </a:xfrm>
          <a:custGeom>
            <a:avLst/>
            <a:gdLst/>
            <a:ahLst/>
            <a:cxnLst/>
            <a:rect r="r" b="b" t="t" l="l"/>
            <a:pathLst>
              <a:path h="241776" w="229083">
                <a:moveTo>
                  <a:pt x="0" y="0"/>
                </a:moveTo>
                <a:lnTo>
                  <a:pt x="229082" y="0"/>
                </a:lnTo>
                <a:lnTo>
                  <a:pt x="229082" y="241776"/>
                </a:lnTo>
                <a:lnTo>
                  <a:pt x="0" y="241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827092" y="7813349"/>
            <a:ext cx="264408" cy="253501"/>
          </a:xfrm>
          <a:custGeom>
            <a:avLst/>
            <a:gdLst/>
            <a:ahLst/>
            <a:cxnLst/>
            <a:rect r="r" b="b" t="t" l="l"/>
            <a:pathLst>
              <a:path h="253501" w="264408">
                <a:moveTo>
                  <a:pt x="0" y="0"/>
                </a:moveTo>
                <a:lnTo>
                  <a:pt x="264407" y="0"/>
                </a:lnTo>
                <a:lnTo>
                  <a:pt x="264407" y="253501"/>
                </a:lnTo>
                <a:lnTo>
                  <a:pt x="0" y="2535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04099" y="2569692"/>
            <a:ext cx="1677405" cy="65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PROTOCOLE</a:t>
            </a:r>
          </a:p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QUIC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22273" y="1916017"/>
            <a:ext cx="4984359" cy="50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7" spc="-57" strike="noStrike" u="none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Comparaison en situation réelle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44536" y="2490110"/>
            <a:ext cx="6962815" cy="191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Sans QUIC (TCP traditionnel) :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• Plusieurs allers-retours avant d'afficher la page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• Temps d'attente visible : 2-3 secondes sur mobile</a:t>
            </a:r>
          </a:p>
          <a:p>
            <a:pPr algn="just" marL="0" indent="0" lvl="0">
              <a:lnSpc>
                <a:spcPts val="2558"/>
              </a:lnSpc>
            </a:pP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Exemple : dans le métro, la page reste blanche longtemps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• Handshake TCP + négociation TLS séparés = lenteur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77931" y="7410175"/>
            <a:ext cx="7615389" cy="94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</a:t>
            </a: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À retenir : QUIC combine handshake et chiffrement en un seul échange, réduisant le temps de connexion de 50% ou plus. 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Résultat : navigation quasi instantanée, même en 4G instable 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77931" y="4652948"/>
            <a:ext cx="7615389" cy="22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Avec QUIC :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• Un seul aller-retour pour établir la connexion sécurisée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• Chargement quasi instantané : moins d'1 seconde</a:t>
            </a:r>
          </a:p>
          <a:p>
            <a:pPr algn="just" marL="0" indent="0" lvl="0">
              <a:lnSpc>
                <a:spcPts val="2558"/>
              </a:lnSpc>
            </a:pP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Exemple : même page, même réseau Wi-Fi public = affichage immédiat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• Sécurité TLS 1.3 intégrée dès le premier échange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• Pas de "page blanche" frustrante !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2451210" cy="4208780"/>
            <a:chOff x="0" y="0"/>
            <a:chExt cx="645586" cy="11084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5586" cy="1108485"/>
            </a:xfrm>
            <a:custGeom>
              <a:avLst/>
              <a:gdLst/>
              <a:ahLst/>
              <a:cxnLst/>
              <a:rect r="r" b="b" t="t" l="l"/>
              <a:pathLst>
                <a:path h="1108485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108485"/>
                  </a:lnTo>
                  <a:lnTo>
                    <a:pt x="0" y="1108485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645586" cy="127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48746" y="3458547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4"/>
                </a:lnTo>
                <a:lnTo>
                  <a:pt x="0" y="356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22247" y="943594"/>
            <a:ext cx="711369" cy="711369"/>
          </a:xfrm>
          <a:custGeom>
            <a:avLst/>
            <a:gdLst/>
            <a:ahLst/>
            <a:cxnLst/>
            <a:rect r="r" b="b" t="t" l="l"/>
            <a:pathLst>
              <a:path h="711369" w="711369">
                <a:moveTo>
                  <a:pt x="0" y="0"/>
                </a:moveTo>
                <a:lnTo>
                  <a:pt x="711369" y="0"/>
                </a:lnTo>
                <a:lnTo>
                  <a:pt x="711369" y="711369"/>
                </a:lnTo>
                <a:lnTo>
                  <a:pt x="0" y="711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00316" y="1067387"/>
            <a:ext cx="5137279" cy="55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3"/>
              </a:lnSpc>
            </a:pPr>
            <a:r>
              <a:rPr lang="en-US" b="true" sz="3248" spc="-64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EXEMPLE : L'IMPACT DE QUIC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2722273" y="1827704"/>
            <a:ext cx="6941081" cy="1905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0" y="4710098"/>
            <a:ext cx="2451210" cy="5576902"/>
            <a:chOff x="0" y="0"/>
            <a:chExt cx="908638" cy="2067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8638" cy="2067300"/>
            </a:xfrm>
            <a:custGeom>
              <a:avLst/>
              <a:gdLst/>
              <a:ahLst/>
              <a:cxnLst/>
              <a:rect r="r" b="b" t="t" l="l"/>
              <a:pathLst>
                <a:path h="2067300" w="908638">
                  <a:moveTo>
                    <a:pt x="0" y="0"/>
                  </a:moveTo>
                  <a:lnTo>
                    <a:pt x="908638" y="0"/>
                  </a:lnTo>
                  <a:lnTo>
                    <a:pt x="908638" y="2067300"/>
                  </a:lnTo>
                  <a:lnTo>
                    <a:pt x="0" y="2067300"/>
                  </a:lnTo>
                  <a:close/>
                </a:path>
              </a:pathLst>
            </a:custGeom>
            <a:blipFill>
              <a:blip r:embed="rId6"/>
              <a:stretch>
                <a:fillRect l="-14842" t="0" r="-1484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511784" y="1028700"/>
            <a:ext cx="6225111" cy="8229600"/>
            <a:chOff x="0" y="0"/>
            <a:chExt cx="964433" cy="12749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443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64433">
                  <a:moveTo>
                    <a:pt x="0" y="0"/>
                  </a:moveTo>
                  <a:lnTo>
                    <a:pt x="964433" y="0"/>
                  </a:lnTo>
                  <a:lnTo>
                    <a:pt x="96443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7"/>
              <a:stretch>
                <a:fillRect l="0" t="-682" r="0" b="-68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259300" y="3098012"/>
            <a:ext cx="3086100" cy="4090976"/>
            <a:chOff x="0" y="0"/>
            <a:chExt cx="812800" cy="10774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077459"/>
            </a:xfrm>
            <a:custGeom>
              <a:avLst/>
              <a:gdLst/>
              <a:ahLst/>
              <a:cxnLst/>
              <a:rect r="r" b="b" t="t" l="l"/>
              <a:pathLst>
                <a:path h="10774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61925"/>
              <a:ext cx="812800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51424" y="191353"/>
            <a:ext cx="1387221" cy="695457"/>
            <a:chOff x="0" y="0"/>
            <a:chExt cx="1849628" cy="9272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2984" cy="808816"/>
            </a:xfrm>
            <a:custGeom>
              <a:avLst/>
              <a:gdLst/>
              <a:ahLst/>
              <a:cxnLst/>
              <a:rect r="r" b="b" t="t" l="l"/>
              <a:pathLst>
                <a:path h="808816" w="802984">
                  <a:moveTo>
                    <a:pt x="0" y="0"/>
                  </a:moveTo>
                  <a:lnTo>
                    <a:pt x="802984" y="0"/>
                  </a:lnTo>
                  <a:lnTo>
                    <a:pt x="802984" y="808816"/>
                  </a:lnTo>
                  <a:lnTo>
                    <a:pt x="0" y="80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802984" y="243081"/>
              <a:ext cx="1046644" cy="68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42"/>
                </a:lnSpc>
              </a:pPr>
              <a:r>
                <a:rPr lang="en-US" sz="2816">
                  <a:solidFill>
                    <a:srgbClr val="5E17EB"/>
                  </a:solidFill>
                  <a:latin typeface="Agrandir"/>
                  <a:ea typeface="Agrandir"/>
                  <a:cs typeface="Agrandir"/>
                  <a:sym typeface="Agrandir"/>
                </a:rPr>
                <a:t>U5C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124624" y="7403649"/>
            <a:ext cx="400105" cy="316583"/>
          </a:xfrm>
          <a:custGeom>
            <a:avLst/>
            <a:gdLst/>
            <a:ahLst/>
            <a:cxnLst/>
            <a:rect r="r" b="b" t="t" l="l"/>
            <a:pathLst>
              <a:path h="316583" w="400105">
                <a:moveTo>
                  <a:pt x="0" y="0"/>
                </a:moveTo>
                <a:lnTo>
                  <a:pt x="400105" y="0"/>
                </a:lnTo>
                <a:lnTo>
                  <a:pt x="400105" y="316584"/>
                </a:lnTo>
                <a:lnTo>
                  <a:pt x="0" y="3165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124624" y="8104151"/>
            <a:ext cx="264408" cy="253501"/>
          </a:xfrm>
          <a:custGeom>
            <a:avLst/>
            <a:gdLst/>
            <a:ahLst/>
            <a:cxnLst/>
            <a:rect r="r" b="b" t="t" l="l"/>
            <a:pathLst>
              <a:path h="253501" w="264408">
                <a:moveTo>
                  <a:pt x="0" y="0"/>
                </a:moveTo>
                <a:lnTo>
                  <a:pt x="264407" y="0"/>
                </a:lnTo>
                <a:lnTo>
                  <a:pt x="264407" y="253501"/>
                </a:lnTo>
                <a:lnTo>
                  <a:pt x="0" y="2535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210135" y="6028541"/>
            <a:ext cx="229083" cy="241776"/>
          </a:xfrm>
          <a:custGeom>
            <a:avLst/>
            <a:gdLst/>
            <a:ahLst/>
            <a:cxnLst/>
            <a:rect r="r" b="b" t="t" l="l"/>
            <a:pathLst>
              <a:path h="241776" w="229083">
                <a:moveTo>
                  <a:pt x="0" y="0"/>
                </a:moveTo>
                <a:lnTo>
                  <a:pt x="229083" y="0"/>
                </a:lnTo>
                <a:lnTo>
                  <a:pt x="229083" y="241776"/>
                </a:lnTo>
                <a:lnTo>
                  <a:pt x="0" y="2417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159949" y="3859402"/>
            <a:ext cx="229083" cy="241776"/>
          </a:xfrm>
          <a:custGeom>
            <a:avLst/>
            <a:gdLst/>
            <a:ahLst/>
            <a:cxnLst/>
            <a:rect r="r" b="b" t="t" l="l"/>
            <a:pathLst>
              <a:path h="241776" w="229083">
                <a:moveTo>
                  <a:pt x="0" y="0"/>
                </a:moveTo>
                <a:lnTo>
                  <a:pt x="229082" y="0"/>
                </a:lnTo>
                <a:lnTo>
                  <a:pt x="229082" y="241775"/>
                </a:lnTo>
                <a:lnTo>
                  <a:pt x="0" y="241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04099" y="2569692"/>
            <a:ext cx="1677405" cy="65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PROTOCOLE</a:t>
            </a:r>
          </a:p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QUIC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51210" cy="4208780"/>
            <a:chOff x="0" y="0"/>
            <a:chExt cx="645586" cy="1108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586" cy="1108485"/>
            </a:xfrm>
            <a:custGeom>
              <a:avLst/>
              <a:gdLst/>
              <a:ahLst/>
              <a:cxnLst/>
              <a:rect r="r" b="b" t="t" l="l"/>
              <a:pathLst>
                <a:path h="1108485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108485"/>
                  </a:lnTo>
                  <a:lnTo>
                    <a:pt x="0" y="1108485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645586" cy="127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8746" y="3458547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4"/>
                </a:lnTo>
                <a:lnTo>
                  <a:pt x="0" y="356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46604" y="2094789"/>
            <a:ext cx="711369" cy="711369"/>
          </a:xfrm>
          <a:custGeom>
            <a:avLst/>
            <a:gdLst/>
            <a:ahLst/>
            <a:cxnLst/>
            <a:rect r="r" b="b" t="t" l="l"/>
            <a:pathLst>
              <a:path h="711369" w="711369">
                <a:moveTo>
                  <a:pt x="0" y="0"/>
                </a:moveTo>
                <a:lnTo>
                  <a:pt x="711369" y="0"/>
                </a:lnTo>
                <a:lnTo>
                  <a:pt x="711369" y="711368"/>
                </a:lnTo>
                <a:lnTo>
                  <a:pt x="0" y="71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2746626" y="2965671"/>
            <a:ext cx="8000059" cy="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4784294"/>
            <a:ext cx="10087962" cy="353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</a:t>
            </a: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Connexion plus rapide grâce à un handshake réduit</a:t>
            </a:r>
          </a:p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Contrairement à TCP qui nécessite plusieurs allers-retours, QUIC établit la connexion en un seul échange. Exemple : comme prendre le métro express au lieu de changer 3 fois de ligne !</a:t>
            </a:r>
          </a:p>
          <a:p>
            <a:pPr algn="just" marL="0" indent="0" lvl="0">
              <a:lnSpc>
                <a:spcPts val="2559"/>
              </a:lnSpc>
            </a:pPr>
          </a:p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Sécurité intégrée avec chiffrement TLS 1.3</a:t>
            </a:r>
          </a:p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Le chiffrement est inclus dès le départ, pas besoin d'étape supplémentaire. Vos données sont protégées automatiquement, comme un tunnel Wi-Fi sécurisé.</a:t>
            </a:r>
          </a:p>
          <a:p>
            <a:pPr algn="just" marL="0" indent="0" lvl="0">
              <a:lnSpc>
                <a:spcPts val="2559"/>
              </a:lnSpc>
            </a:pPr>
          </a:p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 Résilience face aux pertes de paquets et mobilité</a:t>
            </a:r>
          </a:p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QUIC gère intelligemment les changements d'adresse IP (passage Wi-Fi → 4G). Parfait pour le métro ou en déplacement : la connexion reste stable même si le réseau change !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11784" y="1028700"/>
            <a:ext cx="6225111" cy="8229600"/>
            <a:chOff x="0" y="0"/>
            <a:chExt cx="964433" cy="1274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443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64433">
                  <a:moveTo>
                    <a:pt x="0" y="0"/>
                  </a:moveTo>
                  <a:lnTo>
                    <a:pt x="964433" y="0"/>
                  </a:lnTo>
                  <a:lnTo>
                    <a:pt x="96443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6"/>
              <a:stretch>
                <a:fillRect l="0" t="-682" r="0" b="-68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259300" y="3098012"/>
            <a:ext cx="3086100" cy="4090976"/>
            <a:chOff x="0" y="0"/>
            <a:chExt cx="812800" cy="10774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77459"/>
            </a:xfrm>
            <a:custGeom>
              <a:avLst/>
              <a:gdLst/>
              <a:ahLst/>
              <a:cxnLst/>
              <a:rect r="r" b="b" t="t" l="l"/>
              <a:pathLst>
                <a:path h="10774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812800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751424" y="191353"/>
            <a:ext cx="1387221" cy="695457"/>
            <a:chOff x="0" y="0"/>
            <a:chExt cx="1849628" cy="927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2984" cy="808816"/>
            </a:xfrm>
            <a:custGeom>
              <a:avLst/>
              <a:gdLst/>
              <a:ahLst/>
              <a:cxnLst/>
              <a:rect r="r" b="b" t="t" l="l"/>
              <a:pathLst>
                <a:path h="808816" w="802984">
                  <a:moveTo>
                    <a:pt x="0" y="0"/>
                  </a:moveTo>
                  <a:lnTo>
                    <a:pt x="802984" y="0"/>
                  </a:lnTo>
                  <a:lnTo>
                    <a:pt x="802984" y="808816"/>
                  </a:lnTo>
                  <a:lnTo>
                    <a:pt x="0" y="80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802984" y="243081"/>
              <a:ext cx="1046644" cy="68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42"/>
                </a:lnSpc>
              </a:pPr>
              <a:r>
                <a:rPr lang="en-US" sz="2816">
                  <a:solidFill>
                    <a:srgbClr val="5E17EB"/>
                  </a:solidFill>
                  <a:latin typeface="Agrandir"/>
                  <a:ea typeface="Agrandir"/>
                  <a:cs typeface="Agrandir"/>
                  <a:sym typeface="Agrandir"/>
                </a:rPr>
                <a:t>U6C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746604" y="3127596"/>
            <a:ext cx="553253" cy="437762"/>
          </a:xfrm>
          <a:custGeom>
            <a:avLst/>
            <a:gdLst/>
            <a:ahLst/>
            <a:cxnLst/>
            <a:rect r="r" b="b" t="t" l="l"/>
            <a:pathLst>
              <a:path h="437762" w="553253">
                <a:moveTo>
                  <a:pt x="0" y="0"/>
                </a:moveTo>
                <a:lnTo>
                  <a:pt x="553253" y="0"/>
                </a:lnTo>
                <a:lnTo>
                  <a:pt x="553253" y="437762"/>
                </a:lnTo>
                <a:lnTo>
                  <a:pt x="0" y="437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4841444"/>
            <a:ext cx="281100" cy="250530"/>
          </a:xfrm>
          <a:custGeom>
            <a:avLst/>
            <a:gdLst/>
            <a:ahLst/>
            <a:cxnLst/>
            <a:rect r="r" b="b" t="t" l="l"/>
            <a:pathLst>
              <a:path h="250530" w="281100">
                <a:moveTo>
                  <a:pt x="0" y="0"/>
                </a:moveTo>
                <a:lnTo>
                  <a:pt x="281100" y="0"/>
                </a:lnTo>
                <a:lnTo>
                  <a:pt x="281100" y="250530"/>
                </a:lnTo>
                <a:lnTo>
                  <a:pt x="0" y="250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8700" y="6072419"/>
            <a:ext cx="323932" cy="305711"/>
          </a:xfrm>
          <a:custGeom>
            <a:avLst/>
            <a:gdLst/>
            <a:ahLst/>
            <a:cxnLst/>
            <a:rect r="r" b="b" t="t" l="l"/>
            <a:pathLst>
              <a:path h="305711" w="323932">
                <a:moveTo>
                  <a:pt x="0" y="0"/>
                </a:moveTo>
                <a:lnTo>
                  <a:pt x="323932" y="0"/>
                </a:lnTo>
                <a:lnTo>
                  <a:pt x="323932" y="305711"/>
                </a:lnTo>
                <a:lnTo>
                  <a:pt x="0" y="305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70551" y="7408346"/>
            <a:ext cx="282081" cy="282081"/>
          </a:xfrm>
          <a:custGeom>
            <a:avLst/>
            <a:gdLst/>
            <a:ahLst/>
            <a:cxnLst/>
            <a:rect r="r" b="b" t="t" l="l"/>
            <a:pathLst>
              <a:path h="282081" w="282081">
                <a:moveTo>
                  <a:pt x="0" y="0"/>
                </a:moveTo>
                <a:lnTo>
                  <a:pt x="282081" y="0"/>
                </a:lnTo>
                <a:lnTo>
                  <a:pt x="282081" y="282081"/>
                </a:lnTo>
                <a:lnTo>
                  <a:pt x="0" y="2820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4099" y="2569692"/>
            <a:ext cx="1677405" cy="65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PROTOCOLE</a:t>
            </a:r>
          </a:p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QUIC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24673" y="2230803"/>
            <a:ext cx="5910478" cy="49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6"/>
              </a:lnSpc>
            </a:pPr>
            <a:r>
              <a:rPr lang="en-US" b="true" sz="2895" spc="-57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LES PRINCIPAUX AVANTAGES DU PROTOCOLE QUIC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73425" y="3129432"/>
            <a:ext cx="4984359" cy="50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7"/>
              </a:lnSpc>
            </a:pPr>
            <a:r>
              <a:rPr lang="en-US" sz="2897" spc="-57" strike="noStrike" u="none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À retenir 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46626" y="3732099"/>
            <a:ext cx="8000059" cy="62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</a:pPr>
            <a:r>
              <a:rPr lang="en-US" sz="1599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QUIC combine rapidité, sécurité et fiabilité en un seul protocole moderne. Voici les trois avantages clés qui font de QUIC l'avenir des communications Internet.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77401" y="3898435"/>
            <a:ext cx="1946725" cy="2754759"/>
            <a:chOff x="0" y="0"/>
            <a:chExt cx="651234" cy="9215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1234" cy="921544"/>
            </a:xfrm>
            <a:custGeom>
              <a:avLst/>
              <a:gdLst/>
              <a:ahLst/>
              <a:cxnLst/>
              <a:rect r="r" b="b" t="t" l="l"/>
              <a:pathLst>
                <a:path h="921544" w="651234">
                  <a:moveTo>
                    <a:pt x="0" y="0"/>
                  </a:moveTo>
                  <a:lnTo>
                    <a:pt x="651234" y="0"/>
                  </a:lnTo>
                  <a:lnTo>
                    <a:pt x="651234" y="921544"/>
                  </a:lnTo>
                  <a:lnTo>
                    <a:pt x="0" y="921544"/>
                  </a:lnTo>
                  <a:close/>
                </a:path>
              </a:pathLst>
            </a:custGeom>
            <a:blipFill>
              <a:blip r:embed="rId2"/>
              <a:stretch>
                <a:fillRect l="0" t="-2443" r="0" b="-2443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421925" y="6307354"/>
            <a:ext cx="1799753" cy="2754759"/>
            <a:chOff x="0" y="0"/>
            <a:chExt cx="1034041" cy="15827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4041" cy="1582735"/>
            </a:xfrm>
            <a:custGeom>
              <a:avLst/>
              <a:gdLst/>
              <a:ahLst/>
              <a:cxnLst/>
              <a:rect r="r" b="b" t="t" l="l"/>
              <a:pathLst>
                <a:path h="1582735" w="1034041">
                  <a:moveTo>
                    <a:pt x="0" y="0"/>
                  </a:moveTo>
                  <a:lnTo>
                    <a:pt x="1034041" y="0"/>
                  </a:lnTo>
                  <a:lnTo>
                    <a:pt x="1034041" y="1582735"/>
                  </a:lnTo>
                  <a:lnTo>
                    <a:pt x="0" y="1582735"/>
                  </a:lnTo>
                  <a:close/>
                </a:path>
              </a:pathLst>
            </a:custGeom>
            <a:blipFill>
              <a:blip r:embed="rId3"/>
              <a:stretch>
                <a:fillRect l="-1563" t="0" r="-1563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48246" y="4057073"/>
            <a:ext cx="3308064" cy="4731252"/>
            <a:chOff x="0" y="0"/>
            <a:chExt cx="1106639" cy="15827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6639" cy="1582735"/>
            </a:xfrm>
            <a:custGeom>
              <a:avLst/>
              <a:gdLst/>
              <a:ahLst/>
              <a:cxnLst/>
              <a:rect r="r" b="b" t="t" l="l"/>
              <a:pathLst>
                <a:path h="1582735" w="1106639">
                  <a:moveTo>
                    <a:pt x="0" y="0"/>
                  </a:moveTo>
                  <a:lnTo>
                    <a:pt x="1106639" y="0"/>
                  </a:lnTo>
                  <a:lnTo>
                    <a:pt x="1106639" y="1582735"/>
                  </a:lnTo>
                  <a:lnTo>
                    <a:pt x="0" y="1582735"/>
                  </a:lnTo>
                  <a:close/>
                </a:path>
              </a:pathLst>
            </a:custGeom>
            <a:blipFill>
              <a:blip r:embed="rId4"/>
              <a:stretch>
                <a:fillRect l="0" t="-1888" r="0" b="-1888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2451210" cy="4208780"/>
            <a:chOff x="0" y="0"/>
            <a:chExt cx="645586" cy="11084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5586" cy="1108485"/>
            </a:xfrm>
            <a:custGeom>
              <a:avLst/>
              <a:gdLst/>
              <a:ahLst/>
              <a:cxnLst/>
              <a:rect r="r" b="b" t="t" l="l"/>
              <a:pathLst>
                <a:path h="1108485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108485"/>
                  </a:lnTo>
                  <a:lnTo>
                    <a:pt x="0" y="1108485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61925"/>
              <a:ext cx="645586" cy="127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48746" y="3458547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4"/>
                </a:lnTo>
                <a:lnTo>
                  <a:pt x="0" y="3566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22247" y="943594"/>
            <a:ext cx="711369" cy="711369"/>
          </a:xfrm>
          <a:custGeom>
            <a:avLst/>
            <a:gdLst/>
            <a:ahLst/>
            <a:cxnLst/>
            <a:rect r="r" b="b" t="t" l="l"/>
            <a:pathLst>
              <a:path h="711369" w="711369">
                <a:moveTo>
                  <a:pt x="0" y="0"/>
                </a:moveTo>
                <a:lnTo>
                  <a:pt x="711369" y="0"/>
                </a:lnTo>
                <a:lnTo>
                  <a:pt x="711369" y="711369"/>
                </a:lnTo>
                <a:lnTo>
                  <a:pt x="0" y="7113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00316" y="952500"/>
            <a:ext cx="5910478" cy="657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27"/>
              </a:lnSpc>
            </a:pPr>
            <a:r>
              <a:rPr lang="en-US" b="true" sz="3837" spc="-76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TCP VS QUIC : COMPARAISON RAPIDE</a:t>
            </a:r>
          </a:p>
        </p:txBody>
      </p:sp>
      <p:sp>
        <p:nvSpPr>
          <p:cNvPr name="AutoShape 14" id="14"/>
          <p:cNvSpPr/>
          <p:nvPr/>
        </p:nvSpPr>
        <p:spPr>
          <a:xfrm>
            <a:off x="2722269" y="1808034"/>
            <a:ext cx="8000059" cy="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2836932" y="1893759"/>
            <a:ext cx="4984359" cy="50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7"/>
              </a:lnSpc>
            </a:pPr>
            <a:r>
              <a:rPr lang="en-US" sz="2897" spc="-57" strike="noStrike" u="none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Différences clés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36932" y="2399276"/>
            <a:ext cx="8000059" cy="62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Voyez comment la 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co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mpara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ison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des deux protocoles m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évid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nce la manière dont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QUIC fait 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progress</a:t>
            </a:r>
            <a:r>
              <a:rPr lang="en-US" sz="1599" spc="14" strike="noStrike" u="none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er la navigation web.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45261" y="4357029"/>
            <a:ext cx="6599774" cy="177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QUIC (nouveau protocole) :</a:t>
            </a:r>
          </a:p>
          <a:p>
            <a:pPr algn="l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• Connexion rapide, handshake intégré en 1 aller-retour</a:t>
            </a:r>
          </a:p>
          <a:p>
            <a:pPr algn="l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• Chiffrement TLS 1.3 natif dès le départ</a:t>
            </a:r>
          </a:p>
          <a:p>
            <a:pPr algn="l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• Conçu pour la mobilité et les réseaux 4G/Wi-Fi</a:t>
            </a:r>
          </a:p>
          <a:p>
            <a:pPr algn="l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 • Changement d'IP = connexion maintenue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751424" y="191353"/>
            <a:ext cx="1387221" cy="695457"/>
            <a:chOff x="0" y="0"/>
            <a:chExt cx="1849628" cy="9272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2984" cy="808816"/>
            </a:xfrm>
            <a:custGeom>
              <a:avLst/>
              <a:gdLst/>
              <a:ahLst/>
              <a:cxnLst/>
              <a:rect r="r" b="b" t="t" l="l"/>
              <a:pathLst>
                <a:path h="808816" w="802984">
                  <a:moveTo>
                    <a:pt x="0" y="0"/>
                  </a:moveTo>
                  <a:lnTo>
                    <a:pt x="802984" y="0"/>
                  </a:lnTo>
                  <a:lnTo>
                    <a:pt x="802984" y="808816"/>
                  </a:lnTo>
                  <a:lnTo>
                    <a:pt x="0" y="80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802984" y="243081"/>
              <a:ext cx="1046644" cy="68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42"/>
                </a:lnSpc>
              </a:pPr>
              <a:r>
                <a:rPr lang="en-US" sz="2816">
                  <a:solidFill>
                    <a:srgbClr val="5E17EB"/>
                  </a:solidFill>
                  <a:latin typeface="Agrandir"/>
                  <a:ea typeface="Agrandir"/>
                  <a:cs typeface="Agrandir"/>
                  <a:sym typeface="Agrandir"/>
                </a:rPr>
                <a:t>U7C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47456" y="6744839"/>
            <a:ext cx="6599774" cy="212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TCP (ancien protocole) :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• Connexion lente avec handshake en plusieurs étapes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• Chiffrement TLS séparé (étape supplémentaire)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• Mal adapté aux réseaux mobiles instables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• Changement d'IP = reconnexion complète</a:t>
            </a:r>
          </a:p>
          <a:p>
            <a:pPr algn="just" marL="0" indent="0" lvl="0">
              <a:lnSpc>
                <a:spcPts val="283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04099" y="2569692"/>
            <a:ext cx="1677405" cy="65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PROTOCOLE</a:t>
            </a:r>
          </a:p>
          <a:p>
            <a:pPr algn="l" marL="0" indent="0" lvl="0">
              <a:lnSpc>
                <a:spcPts val="2221"/>
              </a:lnSpc>
            </a:pPr>
            <a:r>
              <a:rPr lang="en-US" b="true" sz="2776" spc="141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QUIC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0686" y="2342087"/>
            <a:ext cx="4984359" cy="50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7" spc="-57" strike="noStrike" u="none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Points clés à retenir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92366" y="6271994"/>
            <a:ext cx="7326927" cy="50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7" spc="-57" strike="noStrike" u="none">
                <a:solidFill>
                  <a:srgbClr val="413072"/>
                </a:solidFill>
                <a:latin typeface="Questrial"/>
                <a:ea typeface="Questrial"/>
                <a:cs typeface="Questrial"/>
                <a:sym typeface="Questrial"/>
              </a:rPr>
              <a:t>À retenir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7518" y="1701843"/>
            <a:ext cx="4682603" cy="76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267263" y="9616801"/>
            <a:ext cx="4710263" cy="46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14"/>
              </a:lnSpc>
            </a:pPr>
            <a:r>
              <a:rPr lang="en-US" b="true" sz="2008" spc="18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00316" y="2937452"/>
            <a:ext cx="5853314" cy="127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5E17EB"/>
                </a:solidFill>
                <a:latin typeface="Open Sans 1"/>
                <a:ea typeface="Open Sans 1"/>
                <a:cs typeface="Open Sans 1"/>
                <a:sym typeface="Open Sans 1"/>
              </a:rPr>
              <a:t>→ Rapidité :</a:t>
            </a: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handshake réduit, connexion quasi instantanée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5E17EB"/>
                </a:solidFill>
                <a:latin typeface="Open Sans 1"/>
                <a:ea typeface="Open Sans 1"/>
                <a:cs typeface="Open Sans 1"/>
                <a:sym typeface="Open Sans 1"/>
              </a:rPr>
              <a:t>→ Sécurité :</a:t>
            </a: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chiffrement TLS 1.3 intégré dès le départ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5E17EB"/>
                </a:solidFill>
                <a:latin typeface="Open Sans 1"/>
                <a:ea typeface="Open Sans 1"/>
                <a:cs typeface="Open Sans 1"/>
                <a:sym typeface="Open Sans 1"/>
              </a:rPr>
              <a:t>→ Adaptation </a:t>
            </a: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: conçu pour les réseaux mobiles et instables</a:t>
            </a: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5E17EB"/>
                </a:solidFill>
                <a:latin typeface="Open Sans 1"/>
                <a:ea typeface="Open Sans 1"/>
                <a:cs typeface="Open Sans 1"/>
                <a:sym typeface="Open Sans 1"/>
              </a:rPr>
              <a:t>→ Mobilité :</a:t>
            </a: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changement d'IP sans perte de connexion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77931" y="6960386"/>
            <a:ext cx="8000059" cy="22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8"/>
              </a:lnSpc>
            </a:pPr>
            <a:r>
              <a:rPr lang="en-US" b="true" sz="1598" spc="14">
                <a:solidFill>
                  <a:srgbClr val="0D203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"Avec QUIC, l'Internet devient plus rapide et plus sûr pour tous"</a:t>
            </a:r>
          </a:p>
          <a:p>
            <a:pPr algn="just" marL="0" indent="0" lvl="0">
              <a:lnSpc>
                <a:spcPts val="2558"/>
              </a:lnSpc>
            </a:pP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QUIC représente l'avenir des communications sur Internet. En combinant vitesse, sécurité et résilience, ce protocole répond aux besoins des utilisateurs modernes, que ce soit dans le métro, en Wi-Fi public ou en 4G.</a:t>
            </a:r>
          </a:p>
          <a:p>
            <a:pPr algn="just" marL="0" indent="0" lvl="0">
              <a:lnSpc>
                <a:spcPts val="2558"/>
              </a:lnSpc>
            </a:pPr>
          </a:p>
          <a:p>
            <a:pPr algn="just" marL="0" indent="0" lvl="0">
              <a:lnSpc>
                <a:spcPts val="2558"/>
              </a:lnSpc>
            </a:pPr>
            <a:r>
              <a:rPr lang="en-US" sz="1598" spc="14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La prochaine fois que vous naviguez rapidement sur un site, pensez à QUIC !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2451210" cy="4208780"/>
            <a:chOff x="0" y="0"/>
            <a:chExt cx="645586" cy="11084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5586" cy="1108485"/>
            </a:xfrm>
            <a:custGeom>
              <a:avLst/>
              <a:gdLst/>
              <a:ahLst/>
              <a:cxnLst/>
              <a:rect r="r" b="b" t="t" l="l"/>
              <a:pathLst>
                <a:path h="1108485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108485"/>
                  </a:lnTo>
                  <a:lnTo>
                    <a:pt x="0" y="1108485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61925"/>
              <a:ext cx="645586" cy="127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48746" y="3458547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4"/>
                </a:lnTo>
                <a:lnTo>
                  <a:pt x="0" y="356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22247" y="943594"/>
            <a:ext cx="711369" cy="711369"/>
          </a:xfrm>
          <a:custGeom>
            <a:avLst/>
            <a:gdLst/>
            <a:ahLst/>
            <a:cxnLst/>
            <a:rect r="r" b="b" t="t" l="l"/>
            <a:pathLst>
              <a:path h="711369" w="711369">
                <a:moveTo>
                  <a:pt x="0" y="0"/>
                </a:moveTo>
                <a:lnTo>
                  <a:pt x="711369" y="0"/>
                </a:lnTo>
                <a:lnTo>
                  <a:pt x="711369" y="711369"/>
                </a:lnTo>
                <a:lnTo>
                  <a:pt x="0" y="711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8746" y="2558986"/>
            <a:ext cx="1592063" cy="61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8"/>
              </a:lnSpc>
            </a:pPr>
            <a:r>
              <a:rPr lang="en-US" sz="2635" spc="134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ENTREPRISE NOMADE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00316" y="976791"/>
            <a:ext cx="5910478" cy="76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6"/>
              </a:lnSpc>
            </a:pPr>
            <a:r>
              <a:rPr lang="en-US" b="true" sz="4496" spc="-89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EN RÉSUMÉ</a:t>
            </a:r>
          </a:p>
        </p:txBody>
      </p:sp>
      <p:sp>
        <p:nvSpPr>
          <p:cNvPr name="AutoShape 15" id="15"/>
          <p:cNvSpPr/>
          <p:nvPr/>
        </p:nvSpPr>
        <p:spPr>
          <a:xfrm>
            <a:off x="2722269" y="1988219"/>
            <a:ext cx="8000059" cy="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6" id="16"/>
          <p:cNvSpPr/>
          <p:nvPr/>
        </p:nvSpPr>
        <p:spPr>
          <a:xfrm>
            <a:off x="2700066" y="5958840"/>
            <a:ext cx="8000059" cy="0"/>
          </a:xfrm>
          <a:prstGeom prst="line">
            <a:avLst/>
          </a:prstGeom>
          <a:ln cap="flat" w="19050">
            <a:solidFill>
              <a:srgbClr val="413072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0" y="4710098"/>
            <a:ext cx="2451210" cy="5576902"/>
            <a:chOff x="0" y="0"/>
            <a:chExt cx="908638" cy="2067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8638" cy="2067300"/>
            </a:xfrm>
            <a:custGeom>
              <a:avLst/>
              <a:gdLst/>
              <a:ahLst/>
              <a:cxnLst/>
              <a:rect r="r" b="b" t="t" l="l"/>
              <a:pathLst>
                <a:path h="2067300" w="908638">
                  <a:moveTo>
                    <a:pt x="0" y="0"/>
                  </a:moveTo>
                  <a:lnTo>
                    <a:pt x="908638" y="0"/>
                  </a:lnTo>
                  <a:lnTo>
                    <a:pt x="908638" y="2067300"/>
                  </a:lnTo>
                  <a:lnTo>
                    <a:pt x="0" y="2067300"/>
                  </a:lnTo>
                  <a:close/>
                </a:path>
              </a:pathLst>
            </a:custGeom>
            <a:blipFill>
              <a:blip r:embed="rId6"/>
              <a:stretch>
                <a:fillRect l="-14842" t="0" r="-1484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511784" y="1028700"/>
            <a:ext cx="6225111" cy="8229600"/>
            <a:chOff x="0" y="0"/>
            <a:chExt cx="964433" cy="12749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443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64433">
                  <a:moveTo>
                    <a:pt x="0" y="0"/>
                  </a:moveTo>
                  <a:lnTo>
                    <a:pt x="964433" y="0"/>
                  </a:lnTo>
                  <a:lnTo>
                    <a:pt x="96443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7"/>
              <a:stretch>
                <a:fillRect l="-3220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636051" y="3098012"/>
            <a:ext cx="3086100" cy="4090976"/>
            <a:chOff x="0" y="0"/>
            <a:chExt cx="812800" cy="10774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077459"/>
            </a:xfrm>
            <a:custGeom>
              <a:avLst/>
              <a:gdLst/>
              <a:ahLst/>
              <a:cxnLst/>
              <a:rect r="r" b="b" t="t" l="l"/>
              <a:pathLst>
                <a:path h="10774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61925"/>
              <a:ext cx="812800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077931" y="6292215"/>
            <a:ext cx="555737" cy="439727"/>
          </a:xfrm>
          <a:custGeom>
            <a:avLst/>
            <a:gdLst/>
            <a:ahLst/>
            <a:cxnLst/>
            <a:rect r="r" b="b" t="t" l="l"/>
            <a:pathLst>
              <a:path h="439727" w="555737">
                <a:moveTo>
                  <a:pt x="0" y="0"/>
                </a:moveTo>
                <a:lnTo>
                  <a:pt x="555738" y="0"/>
                </a:lnTo>
                <a:lnTo>
                  <a:pt x="555738" y="439727"/>
                </a:lnTo>
                <a:lnTo>
                  <a:pt x="0" y="4397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6751424" y="191353"/>
            <a:ext cx="1387221" cy="695457"/>
            <a:chOff x="0" y="0"/>
            <a:chExt cx="1849628" cy="9272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2984" cy="808816"/>
            </a:xfrm>
            <a:custGeom>
              <a:avLst/>
              <a:gdLst/>
              <a:ahLst/>
              <a:cxnLst/>
              <a:rect r="r" b="b" t="t" l="l"/>
              <a:pathLst>
                <a:path h="808816" w="802984">
                  <a:moveTo>
                    <a:pt x="0" y="0"/>
                  </a:moveTo>
                  <a:lnTo>
                    <a:pt x="802984" y="0"/>
                  </a:lnTo>
                  <a:lnTo>
                    <a:pt x="802984" y="808816"/>
                  </a:lnTo>
                  <a:lnTo>
                    <a:pt x="0" y="80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802984" y="243081"/>
              <a:ext cx="1046644" cy="68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42"/>
                </a:lnSpc>
              </a:pPr>
              <a:r>
                <a:rPr lang="en-US" sz="2816">
                  <a:solidFill>
                    <a:srgbClr val="5E17EB"/>
                  </a:solidFill>
                  <a:latin typeface="Agrandir"/>
                  <a:ea typeface="Agrandir"/>
                  <a:cs typeface="Agrandir"/>
                  <a:sym typeface="Agrandir"/>
                </a:rPr>
                <a:t>U8C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36790" y="3004335"/>
            <a:ext cx="2451210" cy="4090976"/>
            <a:chOff x="0" y="0"/>
            <a:chExt cx="645586" cy="107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586" cy="1077459"/>
            </a:xfrm>
            <a:custGeom>
              <a:avLst/>
              <a:gdLst/>
              <a:ahLst/>
              <a:cxnLst/>
              <a:rect r="r" b="b" t="t" l="l"/>
              <a:pathLst>
                <a:path h="1077459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645586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6185536" y="6462883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3"/>
                </a:lnTo>
                <a:lnTo>
                  <a:pt x="0" y="356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2107988"/>
            <a:ext cx="6225111" cy="8229600"/>
            <a:chOff x="0" y="0"/>
            <a:chExt cx="964433" cy="127498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96443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64433">
                  <a:moveTo>
                    <a:pt x="964433" y="0"/>
                  </a:moveTo>
                  <a:lnTo>
                    <a:pt x="0" y="0"/>
                  </a:lnTo>
                  <a:lnTo>
                    <a:pt x="0" y="1274980"/>
                  </a:lnTo>
                  <a:lnTo>
                    <a:pt x="964433" y="1274980"/>
                  </a:lnTo>
                  <a:close/>
                </a:path>
              </a:pathLst>
            </a:custGeom>
            <a:blipFill>
              <a:blip r:embed="rId4"/>
              <a:stretch>
                <a:fillRect l="-66241" t="0" r="-1150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070229" y="2503647"/>
            <a:ext cx="6123041" cy="10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6"/>
              </a:lnSpc>
              <a:spcBef>
                <a:spcPct val="0"/>
              </a:spcBef>
            </a:pPr>
            <a:r>
              <a:rPr lang="en-US" sz="7063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RESOURCES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41614" y="5651729"/>
            <a:ext cx="2041561" cy="56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1"/>
              </a:lnSpc>
            </a:pPr>
            <a:r>
              <a:rPr lang="en-US" b="true" sz="2476" spc="126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POUR ALLER PLUS LOIN</a:t>
            </a:r>
          </a:p>
        </p:txBody>
      </p:sp>
      <p:sp>
        <p:nvSpPr>
          <p:cNvPr name="AutoShape 10" id="10"/>
          <p:cNvSpPr/>
          <p:nvPr/>
        </p:nvSpPr>
        <p:spPr>
          <a:xfrm>
            <a:off x="7070229" y="3407998"/>
            <a:ext cx="6001164" cy="0"/>
          </a:xfrm>
          <a:prstGeom prst="line">
            <a:avLst/>
          </a:prstGeom>
          <a:ln cap="flat" w="28575">
            <a:solidFill>
              <a:srgbClr val="413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-1383682">
            <a:off x="-2404734" y="-281614"/>
            <a:ext cx="3086100" cy="4090976"/>
            <a:chOff x="0" y="0"/>
            <a:chExt cx="812800" cy="10774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77459"/>
            </a:xfrm>
            <a:custGeom>
              <a:avLst/>
              <a:gdLst/>
              <a:ahLst/>
              <a:cxnLst/>
              <a:rect r="r" b="b" t="t" l="l"/>
              <a:pathLst>
                <a:path h="10774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812800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182295" y="8083113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4"/>
                </a:lnTo>
                <a:lnTo>
                  <a:pt x="0" y="3566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15056" y="5089209"/>
            <a:ext cx="7108614" cy="19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6"/>
              </a:lnSpc>
            </a:pPr>
            <a:r>
              <a:rPr lang="en-US" b="true" sz="1770" spc="90">
                <a:solidFill>
                  <a:srgbClr val="41307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</a:t>
            </a:r>
            <a:r>
              <a:rPr lang="en-US" b="true" sz="1770" spc="90">
                <a:solidFill>
                  <a:srgbClr val="41307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es RFC sont les références techniques ultimes.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17441" y="3523845"/>
            <a:ext cx="7467940" cy="138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1772" spc="15" u="sng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  <a:hlinkClick r:id="rId7" tooltip="https://www.rfc-editor.org/rfc/rfc9000.html"/>
              </a:rPr>
              <a:t>https://www.rfc-editor.org/rfc/rfc9000.html</a:t>
            </a:r>
          </a:p>
          <a:p>
            <a:pPr algn="l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- RFC 9000 – QUIC: A UDP-Based Multiplexed and Secure Transport</a:t>
            </a:r>
          </a:p>
          <a:p>
            <a:pPr algn="l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- RFC 9001 – QUIC-TLS </a:t>
            </a:r>
          </a:p>
          <a:p>
            <a:pPr algn="l" marL="0" indent="0" lvl="0">
              <a:lnSpc>
                <a:spcPts val="2836"/>
              </a:lnSpc>
            </a:pPr>
            <a:r>
              <a:rPr lang="en-US" sz="1772" spc="15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</a:rPr>
              <a:t>     - RFC 9002 – Loss Detection and Congestion Control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17441" y="5513342"/>
            <a:ext cx="7910213" cy="103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1772" spc="15" u="sng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  <a:hlinkClick r:id="rId8" tooltip="https://fr.wikipedia.org/wiki/QUIC"/>
              </a:rPr>
              <a:t>https://fr.wikipedia.org/wiki/QUIC</a:t>
            </a:r>
          </a:p>
          <a:p>
            <a:pPr algn="l">
              <a:lnSpc>
                <a:spcPts val="2836"/>
              </a:lnSpc>
            </a:pPr>
          </a:p>
          <a:p>
            <a:pPr algn="l" marL="0" indent="0" lvl="0">
              <a:lnSpc>
                <a:spcPts val="2836"/>
              </a:lnSpc>
            </a:pPr>
            <a:r>
              <a:rPr lang="en-US" sz="1772" spc="15" u="sng">
                <a:solidFill>
                  <a:srgbClr val="0D203B"/>
                </a:solidFill>
                <a:latin typeface="Open Sans 1"/>
                <a:ea typeface="Open Sans 1"/>
                <a:cs typeface="Open Sans 1"/>
                <a:sym typeface="Open Sans 1"/>
                <a:hlinkClick r:id="rId9" tooltip="https://www.ionos.fr/digitalguide/hebergement/aspects-techniques/quic/"/>
              </a:rPr>
              <a:t>https://www.ionos.fr/digitalguide/hebergement/aspects-techniques/quic/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751424" y="191353"/>
            <a:ext cx="1387221" cy="695457"/>
            <a:chOff x="0" y="0"/>
            <a:chExt cx="1849628" cy="9272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2984" cy="808816"/>
            </a:xfrm>
            <a:custGeom>
              <a:avLst/>
              <a:gdLst/>
              <a:ahLst/>
              <a:cxnLst/>
              <a:rect r="r" b="b" t="t" l="l"/>
              <a:pathLst>
                <a:path h="808816" w="802984">
                  <a:moveTo>
                    <a:pt x="0" y="0"/>
                  </a:moveTo>
                  <a:lnTo>
                    <a:pt x="802984" y="0"/>
                  </a:lnTo>
                  <a:lnTo>
                    <a:pt x="802984" y="808816"/>
                  </a:lnTo>
                  <a:lnTo>
                    <a:pt x="0" y="80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802984" y="243081"/>
              <a:ext cx="1046644" cy="684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42"/>
                </a:lnSpc>
              </a:pPr>
              <a:r>
                <a:rPr lang="en-US" sz="2816">
                  <a:solidFill>
                    <a:srgbClr val="5E17EB"/>
                  </a:solidFill>
                  <a:latin typeface="Agrandir"/>
                  <a:ea typeface="Agrandir"/>
                  <a:cs typeface="Agrandir"/>
                  <a:sym typeface="Agrandir"/>
                </a:rPr>
                <a:t>U9C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861684" y="5689090"/>
            <a:ext cx="6234249" cy="623424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42975" cap="sq">
              <a:solidFill>
                <a:srgbClr val="F5F0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67300" lIns="67300" bIns="67300" rIns="67300"/>
            <a:lstStyle/>
            <a:p>
              <a:pPr algn="ctr" marL="0" indent="0" lvl="0">
                <a:lnSpc>
                  <a:spcPts val="19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true" flipV="false" rot="0">
            <a:off x="480239" y="7325430"/>
            <a:ext cx="4238384" cy="2961570"/>
          </a:xfrm>
          <a:custGeom>
            <a:avLst/>
            <a:gdLst/>
            <a:ahLst/>
            <a:cxnLst/>
            <a:rect r="r" b="b" t="t" l="l"/>
            <a:pathLst>
              <a:path h="2961570" w="4238384">
                <a:moveTo>
                  <a:pt x="4238384" y="0"/>
                </a:moveTo>
                <a:lnTo>
                  <a:pt x="0" y="0"/>
                </a:lnTo>
                <a:lnTo>
                  <a:pt x="0" y="2961570"/>
                </a:lnTo>
                <a:lnTo>
                  <a:pt x="4238384" y="2961570"/>
                </a:lnTo>
                <a:lnTo>
                  <a:pt x="4238384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36790" y="3004335"/>
            <a:ext cx="2451210" cy="4090976"/>
            <a:chOff x="0" y="0"/>
            <a:chExt cx="645586" cy="1077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586" cy="1077459"/>
            </a:xfrm>
            <a:custGeom>
              <a:avLst/>
              <a:gdLst/>
              <a:ahLst/>
              <a:cxnLst/>
              <a:rect r="r" b="b" t="t" l="l"/>
              <a:pathLst>
                <a:path h="1077459" w="645586">
                  <a:moveTo>
                    <a:pt x="0" y="0"/>
                  </a:moveTo>
                  <a:lnTo>
                    <a:pt x="645586" y="0"/>
                  </a:lnTo>
                  <a:lnTo>
                    <a:pt x="645586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645586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509678">
            <a:off x="16185536" y="6462883"/>
            <a:ext cx="794056" cy="356603"/>
          </a:xfrm>
          <a:custGeom>
            <a:avLst/>
            <a:gdLst/>
            <a:ahLst/>
            <a:cxnLst/>
            <a:rect r="r" b="b" t="t" l="l"/>
            <a:pathLst>
              <a:path h="356603" w="794056">
                <a:moveTo>
                  <a:pt x="0" y="0"/>
                </a:moveTo>
                <a:lnTo>
                  <a:pt x="794056" y="0"/>
                </a:lnTo>
                <a:lnTo>
                  <a:pt x="794056" y="356603"/>
                </a:lnTo>
                <a:lnTo>
                  <a:pt x="0" y="356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70229" y="2532222"/>
            <a:ext cx="6123041" cy="1419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  <a:spcBef>
                <a:spcPct val="0"/>
              </a:spcBef>
            </a:pPr>
            <a:r>
              <a:rPr lang="en-US" sz="9999">
                <a:solidFill>
                  <a:srgbClr val="413072"/>
                </a:solidFill>
                <a:latin typeface="Impact"/>
                <a:ea typeface="Impact"/>
                <a:cs typeface="Impact"/>
                <a:sym typeface="Impact"/>
              </a:rPr>
              <a:t>MERCI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20083" y="5700871"/>
            <a:ext cx="1484624" cy="31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1"/>
              </a:lnSpc>
            </a:pPr>
            <a:r>
              <a:rPr lang="en-US" sz="2476" spc="126">
                <a:solidFill>
                  <a:srgbClr val="F8F4EB"/>
                </a:solidFill>
                <a:latin typeface="Impact"/>
                <a:ea typeface="Impact"/>
                <a:cs typeface="Impact"/>
                <a:sym typeface="Impact"/>
              </a:rPr>
              <a:t>END</a:t>
            </a:r>
          </a:p>
        </p:txBody>
      </p:sp>
      <p:sp>
        <p:nvSpPr>
          <p:cNvPr name="AutoShape 8" id="8"/>
          <p:cNvSpPr/>
          <p:nvPr/>
        </p:nvSpPr>
        <p:spPr>
          <a:xfrm>
            <a:off x="7070229" y="3637325"/>
            <a:ext cx="6001164" cy="0"/>
          </a:xfrm>
          <a:prstGeom prst="line">
            <a:avLst/>
          </a:prstGeom>
          <a:ln cap="flat" w="28575">
            <a:solidFill>
              <a:srgbClr val="413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174562" y="3023385"/>
            <a:ext cx="3086100" cy="4090976"/>
            <a:chOff x="0" y="0"/>
            <a:chExt cx="812800" cy="10774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77459"/>
            </a:xfrm>
            <a:custGeom>
              <a:avLst/>
              <a:gdLst/>
              <a:ahLst/>
              <a:cxnLst/>
              <a:rect r="r" b="b" t="t" l="l"/>
              <a:pathLst>
                <a:path h="10774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7459"/>
                  </a:lnTo>
                  <a:lnTo>
                    <a:pt x="0" y="1077459"/>
                  </a:lnTo>
                  <a:close/>
                </a:path>
              </a:pathLst>
            </a:custGeom>
            <a:solidFill>
              <a:srgbClr val="4130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812800" cy="1239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6325" y="1028700"/>
            <a:ext cx="5831979" cy="8229600"/>
            <a:chOff x="0" y="0"/>
            <a:chExt cx="903526" cy="1274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3526" cy="1274980"/>
            </a:xfrm>
            <a:custGeom>
              <a:avLst/>
              <a:gdLst/>
              <a:ahLst/>
              <a:cxnLst/>
              <a:rect r="r" b="b" t="t" l="l"/>
              <a:pathLst>
                <a:path h="1274980" w="903526">
                  <a:moveTo>
                    <a:pt x="0" y="0"/>
                  </a:moveTo>
                  <a:lnTo>
                    <a:pt x="903526" y="0"/>
                  </a:lnTo>
                  <a:lnTo>
                    <a:pt x="903526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-2652" t="0" r="-2652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608977" y="3859371"/>
            <a:ext cx="7108614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9"/>
              </a:lnSpc>
            </a:pPr>
            <a:r>
              <a:rPr lang="en-US" b="true" sz="2499" spc="127">
                <a:solidFill>
                  <a:srgbClr val="41307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DAHGS4eWOrw</dc:identifier>
  <dcterms:modified xsi:type="dcterms:W3CDTF">2011-08-01T06:04:30Z</dcterms:modified>
  <cp:revision>1</cp:revision>
  <dc:title>Protocole Quic</dc:title>
</cp:coreProperties>
</file>