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6"/>
  </p:notesMasterIdLst>
  <p:sldIdLst>
    <p:sldId id="256" r:id="rId2"/>
    <p:sldId id="257" r:id="rId3"/>
    <p:sldId id="258" r:id="rId4"/>
    <p:sldId id="259" r:id="rId5"/>
    <p:sldId id="260" r:id="rId6"/>
    <p:sldId id="264" r:id="rId7"/>
    <p:sldId id="261" r:id="rId8"/>
    <p:sldId id="265" r:id="rId9"/>
    <p:sldId id="262" r:id="rId10"/>
    <p:sldId id="263" r:id="rId11"/>
    <p:sldId id="266" r:id="rId12"/>
    <p:sldId id="267" r:id="rId13"/>
    <p:sldId id="269" r:id="rId14"/>
    <p:sldId id="268" r:id="rId15"/>
  </p:sldIdLst>
  <p:sldSz cx="18288000" cy="10287000"/>
  <p:notesSz cx="6858000" cy="9144000"/>
  <p:embeddedFontLst>
    <p:embeddedFont>
      <p:font typeface="Canva Sans" panose="020B0604020202020204" charset="0"/>
      <p:regular r:id="rId17"/>
    </p:embeddedFont>
    <p:embeddedFont>
      <p:font typeface="Canva Sans Bold" panose="020B0604020202020204" charset="0"/>
      <p:regular r:id="rId18"/>
    </p:embeddedFont>
    <p:embeddedFont>
      <p:font typeface="Montserrat" panose="00000500000000000000" pitchFamily="2" charset="0"/>
      <p:regular r:id="rId19"/>
      <p:bold r:id="rId20"/>
      <p:italic r:id="rId21"/>
      <p:boldItalic r:id="rId22"/>
    </p:embeddedFont>
    <p:embeddedFont>
      <p:font typeface="Montserrat Bold" panose="00000800000000000000" charset="0"/>
      <p:regular r:id="rId23"/>
    </p:embeddedFont>
    <p:embeddedFont>
      <p:font typeface="Montserrat Italics" panose="020B0604020202020204" charset="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623" autoAdjust="0"/>
    <p:restoredTop sz="82446" autoAdjust="0"/>
  </p:normalViewPr>
  <p:slideViewPr>
    <p:cSldViewPr>
      <p:cViewPr varScale="1">
        <p:scale>
          <a:sx n="59" d="100"/>
          <a:sy n="59" d="100"/>
        </p:scale>
        <p:origin x="1032" y="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D80B43C-0538-4880-933C-373E4170C03C}" type="datetimeFigureOut">
              <a:rPr lang="fr-FR" smtClean="0"/>
              <a:t>16/04/2026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2FBB7F-D4B5-4926-B1EF-6215FA5EFE5A}" type="slidenum">
              <a:rPr lang="fr-FR" smtClean="0"/>
              <a:t>‹N°›</a:t>
            </a:fld>
            <a:endParaRPr lang="fr-FR"/>
          </a:p>
        </p:txBody>
      </p:sp>
    </p:spTree>
    <p:extLst>
      <p:ext uri="{BB962C8B-B14F-4D97-AF65-F5344CB8AC3E}">
        <p14:creationId xmlns:p14="http://schemas.microsoft.com/office/powerpoint/2010/main" val="30914155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472FBB7F-D4B5-4926-B1EF-6215FA5EFE5A}" type="slidenum">
              <a:rPr lang="fr-FR" smtClean="0"/>
              <a:t>1</a:t>
            </a:fld>
            <a:endParaRPr lang="fr-FR"/>
          </a:p>
        </p:txBody>
      </p:sp>
    </p:spTree>
    <p:extLst>
      <p:ext uri="{BB962C8B-B14F-4D97-AF65-F5344CB8AC3E}">
        <p14:creationId xmlns:p14="http://schemas.microsoft.com/office/powerpoint/2010/main" val="21517567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effectLst/>
              </a:rPr>
              <a:t>Raft est un </a:t>
            </a:r>
            <a:r>
              <a:rPr lang="fr-FR" b="1" dirty="0">
                <a:effectLst/>
              </a:rPr>
              <a:t>algorithme de consensus</a:t>
            </a:r>
            <a:r>
              <a:rPr lang="fr-FR" dirty="0">
                <a:effectLst/>
              </a:rPr>
              <a:t> utilisé dans les systèmes distribués (c’est-à-dire quand plusieurs serveurs doivent travailler ensemble sans se contredire.)</a:t>
            </a:r>
          </a:p>
          <a:p>
            <a:endParaRPr lang="fr-FR" dirty="0"/>
          </a:p>
          <a:p>
            <a:r>
              <a:rPr lang="fr-FR" dirty="0">
                <a:effectLst/>
              </a:rPr>
              <a:t>Son but : </a:t>
            </a:r>
            <a:r>
              <a:rPr lang="fr-FR" b="0" dirty="0">
                <a:effectLst/>
              </a:rPr>
              <a:t>Faire en sorte que tous les serveurs aient le même historique d’opérations, </a:t>
            </a:r>
            <a:r>
              <a:rPr lang="fr-FR" dirty="0">
                <a:effectLst/>
              </a:rPr>
              <a:t>même si certains tombent en panne.</a:t>
            </a:r>
          </a:p>
          <a:p>
            <a:endParaRPr lang="fr-FR" dirty="0">
              <a:effectLst/>
            </a:endParaRPr>
          </a:p>
          <a:p>
            <a:r>
              <a:rPr lang="fr-FR" dirty="0"/>
              <a:t>Raft rend le consensus </a:t>
            </a:r>
            <a:r>
              <a:rPr lang="fr-FR" b="1" dirty="0"/>
              <a:t>fiable, simple et compréhensible</a:t>
            </a:r>
            <a:r>
              <a:rPr lang="fr-FR" dirty="0"/>
              <a:t>, là où d’autres algorithmes (comme Paxos) sont plus complexes à suivre.</a:t>
            </a:r>
            <a:endParaRPr lang="fr-FR" dirty="0">
              <a:effectLst/>
            </a:endParaRPr>
          </a:p>
          <a:p>
            <a:endParaRPr lang="fr-FR" dirty="0">
              <a:effectLst/>
            </a:endParaRPr>
          </a:p>
          <a:p>
            <a:endParaRPr lang="fr-FR" dirty="0"/>
          </a:p>
          <a:p>
            <a:endParaRPr lang="fr-FR" dirty="0"/>
          </a:p>
        </p:txBody>
      </p:sp>
      <p:sp>
        <p:nvSpPr>
          <p:cNvPr id="4" name="Espace réservé du numéro de diapositive 3"/>
          <p:cNvSpPr>
            <a:spLocks noGrp="1"/>
          </p:cNvSpPr>
          <p:nvPr>
            <p:ph type="sldNum" sz="quarter" idx="5"/>
          </p:nvPr>
        </p:nvSpPr>
        <p:spPr/>
        <p:txBody>
          <a:bodyPr/>
          <a:lstStyle/>
          <a:p>
            <a:fld id="{472FBB7F-D4B5-4926-B1EF-6215FA5EFE5A}" type="slidenum">
              <a:rPr lang="fr-FR" smtClean="0"/>
              <a:t>2</a:t>
            </a:fld>
            <a:endParaRPr lang="fr-FR"/>
          </a:p>
        </p:txBody>
      </p:sp>
    </p:spTree>
    <p:extLst>
      <p:ext uri="{BB962C8B-B14F-4D97-AF65-F5344CB8AC3E}">
        <p14:creationId xmlns:p14="http://schemas.microsoft.com/office/powerpoint/2010/main" val="30602589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b="1" dirty="0"/>
              <a:t>Systèmes distribués</a:t>
            </a:r>
          </a:p>
          <a:p>
            <a:r>
              <a:rPr lang="fr-FR" dirty="0">
                <a:effectLst/>
              </a:rPr>
              <a:t>Quand plusieurs serveurs travaillent ensemble, ils doivent </a:t>
            </a:r>
            <a:r>
              <a:rPr lang="fr-FR" b="1" dirty="0">
                <a:effectLst/>
              </a:rPr>
              <a:t>rester d’accord</a:t>
            </a:r>
            <a:r>
              <a:rPr lang="fr-FR" dirty="0">
                <a:effectLst/>
              </a:rPr>
              <a:t> même si :</a:t>
            </a:r>
            <a:endParaRPr lang="fr-FR" dirty="0"/>
          </a:p>
          <a:p>
            <a:pPr>
              <a:buFont typeface="Arial" panose="020B0604020202020204" pitchFamily="34" charset="0"/>
              <a:buChar char="•"/>
            </a:pPr>
            <a:r>
              <a:rPr lang="fr-FR" dirty="0">
                <a:effectLst/>
              </a:rPr>
              <a:t>certains tombent en panne,</a:t>
            </a:r>
            <a:endParaRPr lang="fr-FR" dirty="0"/>
          </a:p>
          <a:p>
            <a:pPr>
              <a:buFont typeface="Arial" panose="020B0604020202020204" pitchFamily="34" charset="0"/>
              <a:buChar char="•"/>
            </a:pPr>
            <a:r>
              <a:rPr lang="fr-FR" dirty="0">
                <a:effectLst/>
              </a:rPr>
              <a:t>le réseau est lent,</a:t>
            </a:r>
            <a:endParaRPr lang="fr-FR" dirty="0"/>
          </a:p>
          <a:p>
            <a:pPr>
              <a:buFont typeface="Arial" panose="020B0604020202020204" pitchFamily="34" charset="0"/>
              <a:buChar char="•"/>
            </a:pPr>
            <a:r>
              <a:rPr lang="fr-FR" dirty="0">
                <a:effectLst/>
              </a:rPr>
              <a:t>des messages arrivent en retard.</a:t>
            </a:r>
            <a:endParaRPr lang="fr-FR" dirty="0"/>
          </a:p>
          <a:p>
            <a:r>
              <a:rPr lang="fr-FR" b="0" dirty="0">
                <a:effectLst/>
              </a:rPr>
              <a:t>Sans consensus, chacun peut avoir une version différente des données, ce qui crée du chaos.</a:t>
            </a:r>
            <a:endParaRPr lang="fr-FR" b="0" dirty="0"/>
          </a:p>
          <a:p>
            <a:endParaRPr lang="fr-FR" dirty="0"/>
          </a:p>
          <a:p>
            <a:r>
              <a:rPr lang="fr-FR" u="sng" dirty="0"/>
              <a:t>EN GROS :</a:t>
            </a:r>
          </a:p>
          <a:p>
            <a:r>
              <a:rPr lang="fr-FR" dirty="0">
                <a:effectLst/>
              </a:rPr>
              <a:t>Trois serveurs qui doivent savoir si un fichier est “verrouillé”. </a:t>
            </a:r>
          </a:p>
          <a:p>
            <a:r>
              <a:rPr lang="fr-FR" dirty="0">
                <a:effectLst/>
              </a:rPr>
              <a:t>___Sans consensus :</a:t>
            </a:r>
            <a:endParaRPr lang="fr-FR" dirty="0"/>
          </a:p>
          <a:p>
            <a:pPr>
              <a:buFont typeface="Arial" panose="020B0604020202020204" pitchFamily="34" charset="0"/>
              <a:buChar char="•"/>
            </a:pPr>
            <a:r>
              <a:rPr lang="fr-FR" dirty="0">
                <a:effectLst/>
              </a:rPr>
              <a:t>Serveur A pense que le fichier est libre</a:t>
            </a:r>
            <a:endParaRPr lang="fr-FR" dirty="0"/>
          </a:p>
          <a:p>
            <a:pPr>
              <a:buFont typeface="Arial" panose="020B0604020202020204" pitchFamily="34" charset="0"/>
              <a:buChar char="•"/>
            </a:pPr>
            <a:r>
              <a:rPr lang="fr-FR" dirty="0">
                <a:effectLst/>
              </a:rPr>
              <a:t>Serveur B pense qu’il est verrouillé</a:t>
            </a:r>
            <a:endParaRPr lang="fr-FR" dirty="0"/>
          </a:p>
          <a:p>
            <a:pPr>
              <a:buFont typeface="Arial" panose="020B0604020202020204" pitchFamily="34" charset="0"/>
              <a:buChar char="•"/>
            </a:pPr>
            <a:r>
              <a:rPr lang="fr-FR" dirty="0">
                <a:effectLst/>
              </a:rPr>
              <a:t>Serveur C n’a pas reçu l’info</a:t>
            </a:r>
            <a:endParaRPr lang="fr-FR" dirty="0"/>
          </a:p>
          <a:p>
            <a:r>
              <a:rPr lang="fr-FR" dirty="0">
                <a:effectLst/>
              </a:rPr>
              <a:t>Résultat : </a:t>
            </a:r>
            <a:r>
              <a:rPr lang="fr-FR" b="0" dirty="0">
                <a:effectLst/>
              </a:rPr>
              <a:t>incohérence, erreurs, corruption possible.</a:t>
            </a:r>
            <a:endParaRPr lang="fr-FR" b="0" dirty="0"/>
          </a:p>
          <a:p>
            <a:r>
              <a:rPr lang="fr-FR" dirty="0"/>
              <a:t>_______________________________</a:t>
            </a:r>
          </a:p>
          <a:p>
            <a:endParaRPr lang="fr-FR" dirty="0"/>
          </a:p>
          <a:p>
            <a:r>
              <a:rPr lang="fr-FR" b="1" dirty="0"/>
              <a:t>Cohérence des données</a:t>
            </a:r>
          </a:p>
          <a:p>
            <a:r>
              <a:rPr lang="fr-FR" dirty="0">
                <a:effectLst/>
              </a:rPr>
              <a:t>Le consensus sert à garder</a:t>
            </a:r>
            <a:endParaRPr lang="fr-FR" b="0" dirty="0"/>
          </a:p>
          <a:p>
            <a:r>
              <a:rPr lang="fr-FR" dirty="0">
                <a:effectLst/>
              </a:rPr>
              <a:t>C’est essentiel pour :</a:t>
            </a:r>
            <a:r>
              <a:rPr lang="fr-FR" b="0" dirty="0">
                <a:effectLst/>
              </a:rPr>
              <a:t>la même information partout, même si un serveur tombe.</a:t>
            </a:r>
            <a:endParaRPr lang="fr-FR" dirty="0"/>
          </a:p>
          <a:p>
            <a:pPr>
              <a:buFont typeface="Arial" panose="020B0604020202020204" pitchFamily="34" charset="0"/>
              <a:buChar char="•"/>
            </a:pPr>
            <a:r>
              <a:rPr lang="fr-FR" dirty="0">
                <a:effectLst/>
              </a:rPr>
              <a:t>les métadonnées (ex : qui possède quoi)</a:t>
            </a:r>
            <a:endParaRPr lang="fr-FR" dirty="0"/>
          </a:p>
          <a:p>
            <a:pPr>
              <a:buFont typeface="Arial" panose="020B0604020202020204" pitchFamily="34" charset="0"/>
              <a:buChar char="•"/>
            </a:pPr>
            <a:r>
              <a:rPr lang="fr-FR" dirty="0">
                <a:effectLst/>
              </a:rPr>
              <a:t>les configurations (ex : paramètres d’un cluster)</a:t>
            </a:r>
            <a:endParaRPr lang="fr-FR" dirty="0"/>
          </a:p>
          <a:p>
            <a:pPr>
              <a:buFont typeface="Arial" panose="020B0604020202020204" pitchFamily="34" charset="0"/>
              <a:buChar char="•"/>
            </a:pPr>
            <a:r>
              <a:rPr lang="fr-FR" dirty="0">
                <a:effectLst/>
              </a:rPr>
              <a:t>les verrous (ex : qui a le droit d’écrire)</a:t>
            </a:r>
            <a:endParaRPr lang="fr-FR" dirty="0"/>
          </a:p>
          <a:p>
            <a:r>
              <a:rPr lang="fr-FR" b="0" dirty="0">
                <a:effectLst/>
              </a:rPr>
              <a:t>Le système reste disponible et fiable, même en cas de panne.</a:t>
            </a:r>
          </a:p>
          <a:p>
            <a:endParaRPr lang="fr-FR" b="0" dirty="0">
              <a:effectLst/>
            </a:endParaRPr>
          </a:p>
          <a:p>
            <a:r>
              <a:rPr lang="fr-FR" b="0" u="sng" dirty="0"/>
              <a:t>EN GROS :</a:t>
            </a:r>
          </a:p>
          <a:p>
            <a:r>
              <a:rPr lang="fr-FR" dirty="0">
                <a:effectLst/>
              </a:rPr>
              <a:t>On ajoute un utilisateur dans un service distribué. </a:t>
            </a:r>
          </a:p>
          <a:p>
            <a:r>
              <a:rPr lang="fr-FR" dirty="0">
                <a:effectLst/>
              </a:rPr>
              <a:t>___Grâce au consensus : </a:t>
            </a:r>
          </a:p>
          <a:p>
            <a:r>
              <a:rPr lang="fr-FR" b="0" dirty="0">
                <a:effectLst/>
              </a:rPr>
              <a:t>Tous les serveurs enregistrent la même modification</a:t>
            </a:r>
            <a:r>
              <a:rPr lang="fr-FR" dirty="0">
                <a:effectLst/>
              </a:rPr>
              <a:t>, dans le même ordre.</a:t>
            </a:r>
            <a:endParaRPr lang="fr-FR" dirty="0"/>
          </a:p>
          <a:p>
            <a:r>
              <a:rPr lang="fr-FR" dirty="0">
                <a:effectLst/>
              </a:rPr>
              <a:t>___Sans consensus : </a:t>
            </a:r>
          </a:p>
          <a:p>
            <a:r>
              <a:rPr lang="fr-FR" dirty="0">
                <a:effectLst/>
              </a:rPr>
              <a:t>Un serveur pourrait dire “l’utilisateur existe”, un autre “non”.</a:t>
            </a:r>
            <a:endParaRPr lang="fr-FR" dirty="0"/>
          </a:p>
          <a:p>
            <a:endParaRPr lang="fr-FR" dirty="0"/>
          </a:p>
          <a:p>
            <a:endParaRPr lang="fr-FR" dirty="0"/>
          </a:p>
          <a:p>
            <a:endParaRPr lang="fr-FR" dirty="0"/>
          </a:p>
          <a:p>
            <a:r>
              <a:rPr lang="fr-FR" u="sng" dirty="0"/>
              <a:t>DONC: </a:t>
            </a:r>
          </a:p>
          <a:p>
            <a:r>
              <a:rPr lang="fr-FR" b="0" dirty="0"/>
              <a:t>Le consensus empêche les serveurs de se contredire. </a:t>
            </a:r>
          </a:p>
          <a:p>
            <a:r>
              <a:rPr lang="fr-FR" b="0" dirty="0"/>
              <a:t>Il garantit que tout le monde voit la même vérité. </a:t>
            </a:r>
          </a:p>
          <a:p>
            <a:r>
              <a:rPr lang="fr-FR" b="0" dirty="0"/>
              <a:t>Il protège le système contre les pannes.</a:t>
            </a:r>
          </a:p>
        </p:txBody>
      </p:sp>
      <p:sp>
        <p:nvSpPr>
          <p:cNvPr id="4" name="Espace réservé du numéro de diapositive 3"/>
          <p:cNvSpPr>
            <a:spLocks noGrp="1"/>
          </p:cNvSpPr>
          <p:nvPr>
            <p:ph type="sldNum" sz="quarter" idx="5"/>
          </p:nvPr>
        </p:nvSpPr>
        <p:spPr/>
        <p:txBody>
          <a:bodyPr/>
          <a:lstStyle/>
          <a:p>
            <a:fld id="{472FBB7F-D4B5-4926-B1EF-6215FA5EFE5A}" type="slidenum">
              <a:rPr lang="fr-FR" smtClean="0"/>
              <a:t>3</a:t>
            </a:fld>
            <a:endParaRPr lang="fr-FR"/>
          </a:p>
        </p:txBody>
      </p:sp>
    </p:spTree>
    <p:extLst>
      <p:ext uri="{BB962C8B-B14F-4D97-AF65-F5344CB8AC3E}">
        <p14:creationId xmlns:p14="http://schemas.microsoft.com/office/powerpoint/2010/main" val="7984916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b="0" u="sng" dirty="0"/>
              <a:t>Leader</a:t>
            </a:r>
          </a:p>
          <a:p>
            <a:r>
              <a:rPr lang="fr-FR" b="0" dirty="0">
                <a:effectLst/>
              </a:rPr>
              <a:t>C’est le chef du cluster. Il reçoit les requêtes, écrit dans le log, et dit aux autres quoi faire.</a:t>
            </a:r>
            <a:endParaRPr lang="fr-FR" b="0" dirty="0"/>
          </a:p>
          <a:p>
            <a:r>
              <a:rPr lang="fr-FR" b="0" dirty="0"/>
              <a:t>Pourquoi c’est important</a:t>
            </a:r>
          </a:p>
          <a:p>
            <a:r>
              <a:rPr lang="fr-FR" b="0" dirty="0">
                <a:effectLst/>
              </a:rPr>
              <a:t>Sans leader, tout le monde pourrait essayer de décider en même temps → chaos.</a:t>
            </a:r>
            <a:endParaRPr lang="fr-FR" b="0" dirty="0"/>
          </a:p>
          <a:p>
            <a:r>
              <a:rPr lang="fr-FR" b="0" dirty="0"/>
              <a:t>Exemple concret</a:t>
            </a:r>
          </a:p>
          <a:p>
            <a:r>
              <a:rPr lang="fr-FR" b="0" dirty="0">
                <a:effectLst/>
              </a:rPr>
              <a:t>Comme un chef d’équipe qui reçoit les tâches et les distribue aux membres.</a:t>
            </a:r>
          </a:p>
          <a:p>
            <a:endParaRPr lang="fr-FR" b="0" dirty="0"/>
          </a:p>
          <a:p>
            <a:r>
              <a:rPr lang="fr-FR" b="0" u="sng" dirty="0"/>
              <a:t>Follower</a:t>
            </a:r>
          </a:p>
          <a:p>
            <a:r>
              <a:rPr lang="fr-FR" b="0" dirty="0">
                <a:effectLst/>
              </a:rPr>
              <a:t>Ce sont les membres de l’équipe. Ils copient ce que le leader envoie et restent synchronisés.</a:t>
            </a:r>
            <a:endParaRPr lang="fr-FR" b="0" dirty="0"/>
          </a:p>
          <a:p>
            <a:r>
              <a:rPr lang="fr-FR" b="0" dirty="0"/>
              <a:t>Pourquoi c’est important</a:t>
            </a:r>
          </a:p>
          <a:p>
            <a:r>
              <a:rPr lang="fr-FR" b="0" dirty="0">
                <a:effectLst/>
              </a:rPr>
              <a:t>Ils garantissent que les données sont répliquées partout.</a:t>
            </a:r>
            <a:endParaRPr lang="fr-FR" b="0" dirty="0"/>
          </a:p>
          <a:p>
            <a:r>
              <a:rPr lang="fr-FR" b="0" dirty="0"/>
              <a:t>Exemple concret</a:t>
            </a:r>
          </a:p>
          <a:p>
            <a:r>
              <a:rPr lang="fr-FR" b="0" dirty="0">
                <a:effectLst/>
              </a:rPr>
              <a:t>Un follower, c’est comme un collègue qui note les décisions du chef pour que tout le monde ait la même info.</a:t>
            </a:r>
            <a:endParaRPr lang="fr-FR" b="0" dirty="0"/>
          </a:p>
          <a:p>
            <a:endParaRPr lang="fr-FR" b="0" dirty="0"/>
          </a:p>
          <a:p>
            <a:r>
              <a:rPr lang="fr-FR" b="0" u="sng" dirty="0"/>
              <a:t>Candidate</a:t>
            </a:r>
          </a:p>
          <a:p>
            <a:r>
              <a:rPr lang="fr-FR" b="0" dirty="0">
                <a:effectLst/>
              </a:rPr>
              <a:t>C’est un follower qui tente de devenir leader quand le leader disparaît.</a:t>
            </a:r>
            <a:endParaRPr lang="fr-FR" b="0" dirty="0"/>
          </a:p>
          <a:p>
            <a:r>
              <a:rPr lang="fr-FR" b="0" dirty="0"/>
              <a:t>Pourquoi c’est important</a:t>
            </a:r>
          </a:p>
          <a:p>
            <a:r>
              <a:rPr lang="fr-FR" b="0" dirty="0">
                <a:effectLst/>
              </a:rPr>
              <a:t>Le système doit continuer même si le leader tombe en panne.</a:t>
            </a:r>
            <a:endParaRPr lang="fr-FR" b="0" dirty="0"/>
          </a:p>
          <a:p>
            <a:r>
              <a:rPr lang="fr-FR" b="0" dirty="0"/>
              <a:t>Exemple concret</a:t>
            </a:r>
          </a:p>
          <a:p>
            <a:r>
              <a:rPr lang="fr-FR" b="0" dirty="0">
                <a:effectLst/>
              </a:rPr>
              <a:t>Le chef n’est plus là → un membre se présente pour prendre le rôle et demande le vote des autres.</a:t>
            </a:r>
          </a:p>
          <a:p>
            <a:endParaRPr lang="fr-FR" b="0" dirty="0">
              <a:effectLst/>
            </a:endParaRPr>
          </a:p>
          <a:p>
            <a:endParaRPr lang="fr-FR" b="0" dirty="0">
              <a:effectLst/>
            </a:endParaRPr>
          </a:p>
          <a:p>
            <a:pPr>
              <a:buFont typeface="Arial" panose="020B0604020202020204" pitchFamily="34" charset="0"/>
              <a:buNone/>
            </a:pPr>
            <a:r>
              <a:rPr lang="fr-FR" b="1" dirty="0">
                <a:effectLst/>
              </a:rPr>
              <a:t>Leader</a:t>
            </a:r>
            <a:r>
              <a:rPr lang="fr-FR" dirty="0">
                <a:effectLst/>
              </a:rPr>
              <a:t> = décide et coordonne</a:t>
            </a:r>
            <a:endParaRPr lang="fr-FR" dirty="0"/>
          </a:p>
          <a:p>
            <a:pPr>
              <a:buFont typeface="Arial" panose="020B0604020202020204" pitchFamily="34" charset="0"/>
              <a:buNone/>
            </a:pPr>
            <a:r>
              <a:rPr lang="fr-FR" b="1" dirty="0">
                <a:effectLst/>
              </a:rPr>
              <a:t>Followers</a:t>
            </a:r>
            <a:r>
              <a:rPr lang="fr-FR" dirty="0">
                <a:effectLst/>
              </a:rPr>
              <a:t> = copient et confirment</a:t>
            </a:r>
            <a:endParaRPr lang="fr-FR" dirty="0"/>
          </a:p>
          <a:p>
            <a:pPr>
              <a:buFont typeface="Arial" panose="020B0604020202020204" pitchFamily="34" charset="0"/>
              <a:buNone/>
            </a:pPr>
            <a:r>
              <a:rPr lang="fr-FR" b="1" dirty="0">
                <a:effectLst/>
              </a:rPr>
              <a:t>Candidate</a:t>
            </a:r>
            <a:r>
              <a:rPr lang="fr-FR" dirty="0">
                <a:effectLst/>
              </a:rPr>
              <a:t> = tente de devenir leader quand nécessaire</a:t>
            </a:r>
            <a:endParaRPr lang="fr-FR" dirty="0"/>
          </a:p>
          <a:p>
            <a:r>
              <a:rPr lang="fr-FR" dirty="0">
                <a:effectLst/>
              </a:rPr>
              <a:t>Grâce à ces trois rôles, Raft reste </a:t>
            </a:r>
            <a:r>
              <a:rPr lang="fr-FR" b="1" dirty="0">
                <a:effectLst/>
              </a:rPr>
              <a:t>stable, cohérent et tolérant aux pannes</a:t>
            </a:r>
            <a:r>
              <a:rPr lang="fr-FR" dirty="0">
                <a:effectLst/>
              </a:rPr>
              <a:t>.</a:t>
            </a:r>
            <a:endParaRPr lang="fr-FR" dirty="0"/>
          </a:p>
          <a:p>
            <a:endParaRPr lang="fr-FR" b="0" dirty="0"/>
          </a:p>
          <a:p>
            <a:endParaRPr lang="fr-FR" b="0" dirty="0"/>
          </a:p>
        </p:txBody>
      </p:sp>
      <p:sp>
        <p:nvSpPr>
          <p:cNvPr id="4" name="Espace réservé du numéro de diapositive 3"/>
          <p:cNvSpPr>
            <a:spLocks noGrp="1"/>
          </p:cNvSpPr>
          <p:nvPr>
            <p:ph type="sldNum" sz="quarter" idx="5"/>
          </p:nvPr>
        </p:nvSpPr>
        <p:spPr/>
        <p:txBody>
          <a:bodyPr/>
          <a:lstStyle/>
          <a:p>
            <a:fld id="{472FBB7F-D4B5-4926-B1EF-6215FA5EFE5A}" type="slidenum">
              <a:rPr lang="fr-FR" smtClean="0"/>
              <a:t>4</a:t>
            </a:fld>
            <a:endParaRPr lang="fr-FR"/>
          </a:p>
        </p:txBody>
      </p:sp>
    </p:spTree>
    <p:extLst>
      <p:ext uri="{BB962C8B-B14F-4D97-AF65-F5344CB8AC3E}">
        <p14:creationId xmlns:p14="http://schemas.microsoft.com/office/powerpoint/2010/main" val="31992676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b="1" dirty="0"/>
              <a:t>1. Timeout aléatoire</a:t>
            </a:r>
          </a:p>
          <a:p>
            <a:r>
              <a:rPr lang="fr-FR" dirty="0">
                <a:effectLst/>
              </a:rPr>
              <a:t>Chaque serveur attend un délai différent. Si aucun message du leader n’arrive → il pense que le leader est mort → il se déclare </a:t>
            </a:r>
            <a:r>
              <a:rPr lang="fr-FR" b="1" dirty="0">
                <a:effectLst/>
              </a:rPr>
              <a:t>candidate</a:t>
            </a:r>
            <a:r>
              <a:rPr lang="fr-FR" dirty="0">
                <a:effectLst/>
              </a:rPr>
              <a:t>.</a:t>
            </a:r>
            <a:endParaRPr lang="fr-FR" dirty="0"/>
          </a:p>
          <a:p>
            <a:r>
              <a:rPr lang="fr-FR" b="1" dirty="0"/>
              <a:t>Pourquoi c’est important - </a:t>
            </a:r>
            <a:r>
              <a:rPr lang="fr-FR" dirty="0">
                <a:effectLst/>
              </a:rPr>
              <a:t>Évite que tous les serveurs se présentent en même temps.</a:t>
            </a:r>
            <a:endParaRPr lang="fr-FR" dirty="0"/>
          </a:p>
          <a:p>
            <a:r>
              <a:rPr lang="fr-FR" b="1" dirty="0"/>
              <a:t>Exemple concret - </a:t>
            </a:r>
            <a:r>
              <a:rPr lang="fr-FR" dirty="0">
                <a:effectLst/>
              </a:rPr>
              <a:t>Comme dans une équipe : si le chef ne donne plus de nouvelles, un membre se dit “bon, je prends l’initiative”.</a:t>
            </a:r>
            <a:endParaRPr lang="fr-FR" dirty="0"/>
          </a:p>
          <a:p>
            <a:endParaRPr lang="fr-FR" dirty="0"/>
          </a:p>
          <a:p>
            <a:r>
              <a:rPr lang="fr-FR" b="1" dirty="0"/>
              <a:t>2. Demande de votes (</a:t>
            </a:r>
            <a:r>
              <a:rPr lang="fr-FR" b="1" dirty="0" err="1"/>
              <a:t>RequestVote</a:t>
            </a:r>
            <a:r>
              <a:rPr lang="fr-FR" b="1" dirty="0"/>
              <a:t>)</a:t>
            </a:r>
          </a:p>
          <a:p>
            <a:r>
              <a:rPr lang="fr-FR" dirty="0">
                <a:effectLst/>
              </a:rPr>
              <a:t>Le serveur candidat envoie un message à tous les autres pour demander leur vote.</a:t>
            </a:r>
            <a:endParaRPr lang="fr-FR" dirty="0"/>
          </a:p>
          <a:p>
            <a:r>
              <a:rPr lang="fr-FR" b="1" dirty="0"/>
              <a:t>Pourquoi c’est important - </a:t>
            </a:r>
            <a:r>
              <a:rPr lang="fr-FR" dirty="0">
                <a:effectLst/>
              </a:rPr>
              <a:t>Le cluster doit choisir </a:t>
            </a:r>
            <a:r>
              <a:rPr lang="fr-FR" b="1" dirty="0">
                <a:effectLst/>
              </a:rPr>
              <a:t>un seul</a:t>
            </a:r>
            <a:r>
              <a:rPr lang="fr-FR" dirty="0">
                <a:effectLst/>
              </a:rPr>
              <a:t> leader, pas plusieurs.</a:t>
            </a:r>
            <a:endParaRPr lang="fr-FR" dirty="0"/>
          </a:p>
          <a:p>
            <a:r>
              <a:rPr lang="fr-FR" b="1" dirty="0"/>
              <a:t>Exemple concret - </a:t>
            </a:r>
            <a:r>
              <a:rPr lang="fr-FR" dirty="0">
                <a:effectLst/>
              </a:rPr>
              <a:t>C’est comme une élection : un candidat dit “votez pour moi, je peux diriger”.</a:t>
            </a:r>
            <a:endParaRPr lang="fr-FR" dirty="0"/>
          </a:p>
          <a:p>
            <a:endParaRPr lang="fr-FR" dirty="0"/>
          </a:p>
          <a:p>
            <a:r>
              <a:rPr lang="fr-FR" b="1" dirty="0"/>
              <a:t>3. Majorité requise</a:t>
            </a:r>
          </a:p>
          <a:p>
            <a:r>
              <a:rPr lang="fr-FR" dirty="0">
                <a:effectLst/>
              </a:rPr>
              <a:t>Le candidat devient leader </a:t>
            </a:r>
            <a:r>
              <a:rPr lang="fr-FR" b="1" dirty="0">
                <a:effectLst/>
              </a:rPr>
              <a:t>seulement</a:t>
            </a:r>
            <a:r>
              <a:rPr lang="fr-FR" dirty="0">
                <a:effectLst/>
              </a:rPr>
              <a:t> s’il obtient plus de la moitié des votes.</a:t>
            </a:r>
            <a:endParaRPr lang="fr-FR" dirty="0"/>
          </a:p>
          <a:p>
            <a:r>
              <a:rPr lang="fr-FR" b="1" dirty="0"/>
              <a:t>Pourquoi c’est important – </a:t>
            </a:r>
            <a:r>
              <a:rPr lang="fr-FR" dirty="0">
                <a:effectLst/>
              </a:rPr>
              <a:t>La majorité garantit que le leader choisi représente “la volonté du cluster”.</a:t>
            </a:r>
            <a:endParaRPr lang="fr-FR" dirty="0"/>
          </a:p>
          <a:p>
            <a:r>
              <a:rPr lang="fr-FR" b="1" dirty="0"/>
              <a:t>Exemple concret - </a:t>
            </a:r>
            <a:r>
              <a:rPr lang="fr-FR" dirty="0">
                <a:effectLst/>
              </a:rPr>
              <a:t>Dans un groupe de 5 personnes, il faut au moins 3 votes pour être élu chef.</a:t>
            </a:r>
          </a:p>
          <a:p>
            <a:endParaRPr lang="fr-FR" dirty="0">
              <a:effectLst/>
            </a:endParaRPr>
          </a:p>
          <a:p>
            <a:endParaRPr lang="fr-FR" dirty="0"/>
          </a:p>
          <a:p>
            <a:pPr>
              <a:buFont typeface="Arial" panose="020B0604020202020204" pitchFamily="34" charset="0"/>
              <a:buChar char="•"/>
            </a:pPr>
            <a:r>
              <a:rPr lang="fr-FR" dirty="0">
                <a:effectLst/>
              </a:rPr>
              <a:t>Le leader disparaît → un serveur se propose</a:t>
            </a:r>
            <a:endParaRPr lang="fr-FR" dirty="0"/>
          </a:p>
          <a:p>
            <a:pPr>
              <a:buFont typeface="Arial" panose="020B0604020202020204" pitchFamily="34" charset="0"/>
              <a:buChar char="•"/>
            </a:pPr>
            <a:r>
              <a:rPr lang="fr-FR" dirty="0">
                <a:effectLst/>
              </a:rPr>
              <a:t>Il demande des votes</a:t>
            </a:r>
            <a:endParaRPr lang="fr-FR" dirty="0"/>
          </a:p>
          <a:p>
            <a:pPr>
              <a:buFont typeface="Arial" panose="020B0604020202020204" pitchFamily="34" charset="0"/>
              <a:buChar char="•"/>
            </a:pPr>
            <a:r>
              <a:rPr lang="fr-FR" dirty="0">
                <a:effectLst/>
              </a:rPr>
              <a:t>S’il obtient la majorité → il devient le nouveau leader</a:t>
            </a:r>
            <a:endParaRPr lang="fr-FR" dirty="0"/>
          </a:p>
          <a:p>
            <a:r>
              <a:rPr lang="fr-FR" dirty="0">
                <a:effectLst/>
              </a:rPr>
              <a:t>Résultat : le système reste </a:t>
            </a:r>
            <a:r>
              <a:rPr lang="fr-FR" b="1" dirty="0">
                <a:effectLst/>
              </a:rPr>
              <a:t>stable</a:t>
            </a:r>
            <a:r>
              <a:rPr lang="fr-FR" dirty="0">
                <a:effectLst/>
              </a:rPr>
              <a:t>, même si un serveur tombe.</a:t>
            </a:r>
            <a:endParaRPr lang="fr-FR" dirty="0"/>
          </a:p>
          <a:p>
            <a:endParaRPr lang="fr-FR" dirty="0"/>
          </a:p>
        </p:txBody>
      </p:sp>
      <p:sp>
        <p:nvSpPr>
          <p:cNvPr id="4" name="Espace réservé du numéro de diapositive 3"/>
          <p:cNvSpPr>
            <a:spLocks noGrp="1"/>
          </p:cNvSpPr>
          <p:nvPr>
            <p:ph type="sldNum" sz="quarter" idx="5"/>
          </p:nvPr>
        </p:nvSpPr>
        <p:spPr/>
        <p:txBody>
          <a:bodyPr/>
          <a:lstStyle/>
          <a:p>
            <a:fld id="{472FBB7F-D4B5-4926-B1EF-6215FA5EFE5A}" type="slidenum">
              <a:rPr lang="fr-FR" smtClean="0"/>
              <a:t>6</a:t>
            </a:fld>
            <a:endParaRPr lang="fr-FR"/>
          </a:p>
        </p:txBody>
      </p:sp>
    </p:spTree>
    <p:extLst>
      <p:ext uri="{BB962C8B-B14F-4D97-AF65-F5344CB8AC3E}">
        <p14:creationId xmlns:p14="http://schemas.microsoft.com/office/powerpoint/2010/main" val="31458374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b="1" dirty="0"/>
              <a:t>1. Réception de la commande</a:t>
            </a:r>
          </a:p>
          <a:p>
            <a:r>
              <a:rPr lang="fr-FR" dirty="0">
                <a:effectLst/>
              </a:rPr>
              <a:t>Le leader reçoit une requête d’un client et l’ajoute dans son journal (log).</a:t>
            </a:r>
            <a:endParaRPr lang="fr-FR" dirty="0"/>
          </a:p>
          <a:p>
            <a:r>
              <a:rPr lang="fr-FR" b="1" dirty="0"/>
              <a:t>Pourquoi c’est important -  </a:t>
            </a:r>
            <a:r>
              <a:rPr lang="fr-FR" dirty="0">
                <a:effectLst/>
              </a:rPr>
              <a:t>Le leader est le point d’entrée unique → cela évite les conflits.</a:t>
            </a:r>
            <a:endParaRPr lang="fr-FR" dirty="0"/>
          </a:p>
          <a:p>
            <a:r>
              <a:rPr lang="fr-FR" b="1" dirty="0"/>
              <a:t>Exemple concret - </a:t>
            </a:r>
            <a:r>
              <a:rPr lang="fr-FR" dirty="0">
                <a:effectLst/>
              </a:rPr>
              <a:t>Un client envoie “ajoute un utilisateur”. Le leader note cette action dans sa liste.</a:t>
            </a:r>
            <a:endParaRPr lang="fr-FR" dirty="0"/>
          </a:p>
          <a:p>
            <a:endParaRPr lang="fr-FR" dirty="0"/>
          </a:p>
          <a:p>
            <a:r>
              <a:rPr lang="fr-FR" b="1" dirty="0"/>
              <a:t>2. </a:t>
            </a:r>
            <a:r>
              <a:rPr lang="fr-FR" b="1" dirty="0" err="1"/>
              <a:t>AppendEntries</a:t>
            </a:r>
            <a:r>
              <a:rPr lang="fr-FR" b="1" dirty="0"/>
              <a:t> (envoi aux followers)</a:t>
            </a:r>
          </a:p>
          <a:p>
            <a:r>
              <a:rPr lang="fr-FR" dirty="0">
                <a:effectLst/>
              </a:rPr>
              <a:t>Le leader envoie la nouvelle entrée à tous les followers.</a:t>
            </a:r>
            <a:endParaRPr lang="fr-FR" dirty="0"/>
          </a:p>
          <a:p>
            <a:r>
              <a:rPr lang="fr-FR" b="1" dirty="0"/>
              <a:t>Pourquoi c’est important - </a:t>
            </a:r>
            <a:r>
              <a:rPr lang="fr-FR" dirty="0">
                <a:effectLst/>
              </a:rPr>
              <a:t>Tous les serveurs doivent avoir </a:t>
            </a:r>
            <a:r>
              <a:rPr lang="fr-FR" b="1" dirty="0">
                <a:effectLst/>
              </a:rPr>
              <a:t>exactement la même liste d’actions</a:t>
            </a:r>
            <a:r>
              <a:rPr lang="fr-FR" dirty="0">
                <a:effectLst/>
              </a:rPr>
              <a:t>, dans le même ordre.</a:t>
            </a:r>
            <a:endParaRPr lang="fr-FR" dirty="0"/>
          </a:p>
          <a:p>
            <a:r>
              <a:rPr lang="fr-FR" b="1" dirty="0"/>
              <a:t>Exemple concret - </a:t>
            </a:r>
            <a:r>
              <a:rPr lang="fr-FR" dirty="0">
                <a:effectLst/>
              </a:rPr>
              <a:t>Le chef d’équipe dit aux membres : “Notez tous cette nouvelle tâche”.</a:t>
            </a:r>
            <a:endParaRPr lang="fr-FR" dirty="0"/>
          </a:p>
          <a:p>
            <a:endParaRPr lang="fr-FR" dirty="0"/>
          </a:p>
          <a:p>
            <a:r>
              <a:rPr lang="fr-FR" b="1" dirty="0"/>
              <a:t>3. Confirmation des followers</a:t>
            </a:r>
          </a:p>
          <a:p>
            <a:r>
              <a:rPr lang="fr-FR" dirty="0">
                <a:effectLst/>
              </a:rPr>
              <a:t>Chaque follower renvoie une confirmation au leader quand il a bien enregistré l’entrée.</a:t>
            </a:r>
            <a:endParaRPr lang="fr-FR" dirty="0"/>
          </a:p>
          <a:p>
            <a:r>
              <a:rPr lang="fr-FR" b="1" dirty="0"/>
              <a:t>Pourquoi c’est important - </a:t>
            </a:r>
            <a:r>
              <a:rPr lang="fr-FR" dirty="0">
                <a:effectLst/>
              </a:rPr>
              <a:t>Le leader doit savoir si tout le monde suit correctement.</a:t>
            </a:r>
            <a:endParaRPr lang="fr-FR" dirty="0"/>
          </a:p>
          <a:p>
            <a:r>
              <a:rPr lang="fr-FR" b="1" dirty="0"/>
              <a:t>Exemple concret - </a:t>
            </a:r>
            <a:r>
              <a:rPr lang="fr-FR" dirty="0">
                <a:effectLst/>
              </a:rPr>
              <a:t>Les membres répondent “c’est noté”.</a:t>
            </a:r>
            <a:endParaRPr lang="fr-FR" dirty="0"/>
          </a:p>
          <a:p>
            <a:endParaRPr lang="fr-FR" dirty="0"/>
          </a:p>
          <a:p>
            <a:r>
              <a:rPr lang="fr-FR" b="1" dirty="0"/>
              <a:t>4. Commit majoritaire</a:t>
            </a:r>
          </a:p>
          <a:p>
            <a:r>
              <a:rPr lang="fr-FR" dirty="0">
                <a:effectLst/>
              </a:rPr>
              <a:t>L’entrée est validée (</a:t>
            </a:r>
            <a:r>
              <a:rPr lang="fr-FR" dirty="0" err="1">
                <a:effectLst/>
              </a:rPr>
              <a:t>committed</a:t>
            </a:r>
            <a:r>
              <a:rPr lang="fr-FR" dirty="0">
                <a:effectLst/>
              </a:rPr>
              <a:t>) </a:t>
            </a:r>
            <a:r>
              <a:rPr lang="fr-FR" b="1" dirty="0">
                <a:effectLst/>
              </a:rPr>
              <a:t>seulement si la majorité des serveurs l’ont enregistrée</a:t>
            </a:r>
            <a:r>
              <a:rPr lang="fr-FR" dirty="0">
                <a:effectLst/>
              </a:rPr>
              <a:t>.</a:t>
            </a:r>
            <a:endParaRPr lang="fr-FR" dirty="0"/>
          </a:p>
          <a:p>
            <a:r>
              <a:rPr lang="fr-FR" b="1" dirty="0"/>
              <a:t>Pourquoi c’est important - </a:t>
            </a:r>
            <a:r>
              <a:rPr lang="fr-FR" dirty="0">
                <a:effectLst/>
              </a:rPr>
              <a:t>Cela garantit la cohérence même si un serveur tombe en panne.</a:t>
            </a:r>
            <a:endParaRPr lang="fr-FR" dirty="0"/>
          </a:p>
          <a:p>
            <a:r>
              <a:rPr lang="fr-FR" b="1" dirty="0"/>
              <a:t>Exemple concret - </a:t>
            </a:r>
            <a:r>
              <a:rPr lang="fr-FR" dirty="0">
                <a:effectLst/>
              </a:rPr>
              <a:t>Dans une équipe de 5, si 3 membres confirment, la décision est officielle.</a:t>
            </a:r>
            <a:endParaRPr lang="fr-FR" dirty="0"/>
          </a:p>
          <a:p>
            <a:endParaRPr lang="fr-FR" dirty="0"/>
          </a:p>
          <a:p>
            <a:r>
              <a:rPr lang="fr-FR" b="1" dirty="0"/>
              <a:t>5. Application à la machine à états</a:t>
            </a:r>
          </a:p>
          <a:p>
            <a:r>
              <a:rPr lang="fr-FR" dirty="0">
                <a:effectLst/>
              </a:rPr>
              <a:t>Une fois commit, l’entrée est appliquée au système réel (la “machine à états”).</a:t>
            </a:r>
            <a:endParaRPr lang="fr-FR" dirty="0"/>
          </a:p>
          <a:p>
            <a:r>
              <a:rPr lang="fr-FR" b="1" dirty="0"/>
              <a:t>Pourquoi c’est important - </a:t>
            </a:r>
            <a:r>
              <a:rPr lang="fr-FR" dirty="0">
                <a:effectLst/>
              </a:rPr>
              <a:t>C’est le moment où l’action devient </a:t>
            </a:r>
            <a:r>
              <a:rPr lang="fr-FR" b="1" dirty="0">
                <a:effectLst/>
              </a:rPr>
              <a:t>effective</a:t>
            </a:r>
            <a:r>
              <a:rPr lang="fr-FR" dirty="0">
                <a:effectLst/>
              </a:rPr>
              <a:t> dans le cluster.</a:t>
            </a:r>
            <a:endParaRPr lang="fr-FR" dirty="0"/>
          </a:p>
          <a:p>
            <a:r>
              <a:rPr lang="fr-FR" b="1" dirty="0"/>
              <a:t>Exemple concret - </a:t>
            </a:r>
            <a:r>
              <a:rPr lang="fr-FR" dirty="0">
                <a:effectLst/>
              </a:rPr>
              <a:t>L’utilisateur est réellement ajouté dans la base</a:t>
            </a:r>
            <a:endParaRPr lang="fr-FR" dirty="0"/>
          </a:p>
          <a:p>
            <a:endParaRPr lang="fr-FR" dirty="0"/>
          </a:p>
          <a:p>
            <a:r>
              <a:rPr lang="fr-FR" dirty="0"/>
              <a:t>EN GROS :</a:t>
            </a:r>
          </a:p>
          <a:p>
            <a:pPr>
              <a:buFont typeface="Arial" panose="020B0604020202020204" pitchFamily="34" charset="0"/>
              <a:buChar char="•"/>
            </a:pPr>
            <a:r>
              <a:rPr lang="fr-FR" dirty="0">
                <a:effectLst/>
              </a:rPr>
              <a:t>Le leader reçoit une commande</a:t>
            </a:r>
            <a:endParaRPr lang="fr-FR" dirty="0"/>
          </a:p>
          <a:p>
            <a:pPr>
              <a:buFont typeface="Arial" panose="020B0604020202020204" pitchFamily="34" charset="0"/>
              <a:buChar char="•"/>
            </a:pPr>
            <a:r>
              <a:rPr lang="fr-FR" dirty="0">
                <a:effectLst/>
              </a:rPr>
              <a:t>Il l’envoie aux followers</a:t>
            </a:r>
            <a:endParaRPr lang="fr-FR" dirty="0"/>
          </a:p>
          <a:p>
            <a:pPr>
              <a:buFont typeface="Arial" panose="020B0604020202020204" pitchFamily="34" charset="0"/>
              <a:buChar char="•"/>
            </a:pPr>
            <a:r>
              <a:rPr lang="fr-FR" dirty="0">
                <a:effectLst/>
              </a:rPr>
              <a:t>La majorité confirme</a:t>
            </a:r>
            <a:endParaRPr lang="fr-FR" dirty="0"/>
          </a:p>
          <a:p>
            <a:pPr>
              <a:buFont typeface="Arial" panose="020B0604020202020204" pitchFamily="34" charset="0"/>
              <a:buChar char="•"/>
            </a:pPr>
            <a:r>
              <a:rPr lang="fr-FR" dirty="0">
                <a:effectLst/>
              </a:rPr>
              <a:t>L’action est validée</a:t>
            </a:r>
            <a:endParaRPr lang="fr-FR" dirty="0"/>
          </a:p>
          <a:p>
            <a:pPr>
              <a:buFont typeface="Arial" panose="020B0604020202020204" pitchFamily="34" charset="0"/>
              <a:buChar char="•"/>
            </a:pPr>
            <a:r>
              <a:rPr lang="fr-FR" dirty="0">
                <a:effectLst/>
              </a:rPr>
              <a:t>Elle est appliquée partout</a:t>
            </a:r>
            <a:endParaRPr lang="fr-FR" dirty="0"/>
          </a:p>
          <a:p>
            <a:r>
              <a:rPr lang="fr-FR" dirty="0">
                <a:effectLst/>
              </a:rPr>
              <a:t>Résultat : </a:t>
            </a:r>
            <a:r>
              <a:rPr lang="fr-FR" b="1" dirty="0">
                <a:effectLst/>
              </a:rPr>
              <a:t>tous les serveurs restent synchronisés</a:t>
            </a:r>
            <a:r>
              <a:rPr lang="fr-FR" dirty="0">
                <a:effectLst/>
              </a:rPr>
              <a:t>, même en cas de panne.</a:t>
            </a:r>
            <a:endParaRPr lang="fr-FR" dirty="0"/>
          </a:p>
          <a:p>
            <a:endParaRPr lang="fr-FR" dirty="0"/>
          </a:p>
        </p:txBody>
      </p:sp>
      <p:sp>
        <p:nvSpPr>
          <p:cNvPr id="4" name="Espace réservé du numéro de diapositive 3"/>
          <p:cNvSpPr>
            <a:spLocks noGrp="1"/>
          </p:cNvSpPr>
          <p:nvPr>
            <p:ph type="sldNum" sz="quarter" idx="5"/>
          </p:nvPr>
        </p:nvSpPr>
        <p:spPr/>
        <p:txBody>
          <a:bodyPr/>
          <a:lstStyle/>
          <a:p>
            <a:fld id="{472FBB7F-D4B5-4926-B1EF-6215FA5EFE5A}" type="slidenum">
              <a:rPr lang="fr-FR" smtClean="0"/>
              <a:t>8</a:t>
            </a:fld>
            <a:endParaRPr lang="fr-FR"/>
          </a:p>
        </p:txBody>
      </p:sp>
    </p:spTree>
    <p:extLst>
      <p:ext uri="{BB962C8B-B14F-4D97-AF65-F5344CB8AC3E}">
        <p14:creationId xmlns:p14="http://schemas.microsoft.com/office/powerpoint/2010/main" val="35183491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b="1" dirty="0"/>
              <a:t>Entrées </a:t>
            </a:r>
            <a:r>
              <a:rPr lang="fr-FR" b="1" dirty="0" err="1"/>
              <a:t>committées</a:t>
            </a:r>
            <a:endParaRPr lang="fr-FR" b="1" dirty="0"/>
          </a:p>
          <a:p>
            <a:r>
              <a:rPr lang="fr-FR" dirty="0">
                <a:effectLst/>
              </a:rPr>
              <a:t>Une fois qu’une entrée est validée par la majorité, </a:t>
            </a:r>
            <a:r>
              <a:rPr lang="fr-FR" b="1" dirty="0">
                <a:effectLst/>
              </a:rPr>
              <a:t>elle ne peut plus être perdue</a:t>
            </a:r>
            <a:r>
              <a:rPr lang="fr-FR" dirty="0">
                <a:effectLst/>
              </a:rPr>
              <a:t>, même si le leader tombe en panne.</a:t>
            </a:r>
            <a:endParaRPr lang="fr-FR" dirty="0"/>
          </a:p>
          <a:p>
            <a:r>
              <a:rPr lang="fr-FR" b="1" dirty="0"/>
              <a:t>Pourquoi c’est important</a:t>
            </a:r>
          </a:p>
          <a:p>
            <a:r>
              <a:rPr lang="fr-FR" dirty="0">
                <a:effectLst/>
              </a:rPr>
              <a:t>Cela évite qu’un nouveau leader “efface” ou “oublie” des actions déjà validées.</a:t>
            </a:r>
            <a:endParaRPr lang="fr-FR" dirty="0"/>
          </a:p>
          <a:p>
            <a:r>
              <a:rPr lang="fr-FR" b="1" dirty="0"/>
              <a:t>Exemple concret</a:t>
            </a:r>
          </a:p>
          <a:p>
            <a:r>
              <a:rPr lang="fr-FR" dirty="0">
                <a:effectLst/>
              </a:rPr>
              <a:t>Tu envoies “crée un utilisateur”. La majorité des serveurs l’ont enregistré → même si le leader crash, l’utilisateur </a:t>
            </a:r>
            <a:r>
              <a:rPr lang="fr-FR" b="1" dirty="0">
                <a:effectLst/>
              </a:rPr>
              <a:t>existe toujours</a:t>
            </a:r>
            <a:endParaRPr lang="fr-FR" dirty="0"/>
          </a:p>
          <a:p>
            <a:endParaRPr lang="fr-FR" dirty="0"/>
          </a:p>
          <a:p>
            <a:endParaRPr lang="fr-FR" dirty="0"/>
          </a:p>
          <a:p>
            <a:r>
              <a:rPr lang="fr-FR" b="1" dirty="0"/>
              <a:t>Contraintes d’élection</a:t>
            </a:r>
          </a:p>
          <a:p>
            <a:r>
              <a:rPr lang="fr-FR" dirty="0">
                <a:effectLst/>
              </a:rPr>
              <a:t>Pour devenir leader, un candidat doit avoir un journal </a:t>
            </a:r>
            <a:r>
              <a:rPr lang="fr-FR" b="1" dirty="0">
                <a:effectLst/>
              </a:rPr>
              <a:t>au moins aussi à jour</a:t>
            </a:r>
            <a:r>
              <a:rPr lang="fr-FR" dirty="0">
                <a:effectLst/>
              </a:rPr>
              <a:t> que la majorité.</a:t>
            </a:r>
            <a:endParaRPr lang="fr-FR" dirty="0"/>
          </a:p>
          <a:p>
            <a:r>
              <a:rPr lang="fr-FR" b="1" dirty="0"/>
              <a:t>Pourquoi c’est important</a:t>
            </a:r>
          </a:p>
          <a:p>
            <a:r>
              <a:rPr lang="fr-FR" dirty="0">
                <a:effectLst/>
              </a:rPr>
              <a:t>Cela garantit que le nouveau leader possède </a:t>
            </a:r>
            <a:r>
              <a:rPr lang="fr-FR" b="1" dirty="0">
                <a:effectLst/>
              </a:rPr>
              <a:t>toutes les décisions déjà validées</a:t>
            </a:r>
            <a:r>
              <a:rPr lang="fr-FR" dirty="0">
                <a:effectLst/>
              </a:rPr>
              <a:t>.</a:t>
            </a:r>
            <a:endParaRPr lang="fr-FR" dirty="0"/>
          </a:p>
          <a:p>
            <a:r>
              <a:rPr lang="fr-FR" b="1" dirty="0"/>
              <a:t>Exemple concret</a:t>
            </a:r>
          </a:p>
          <a:p>
            <a:r>
              <a:rPr lang="fr-FR" dirty="0">
                <a:effectLst/>
              </a:rPr>
              <a:t>Si un serveur en retard tente de devenir chef, il est refusé. On ne veut pas d’un leader qui n’a pas les dernières infos.</a:t>
            </a:r>
            <a:endParaRPr lang="fr-FR" dirty="0"/>
          </a:p>
          <a:p>
            <a:endParaRPr lang="fr-FR" dirty="0"/>
          </a:p>
          <a:p>
            <a:r>
              <a:rPr lang="fr-FR" dirty="0"/>
              <a:t>EN GROS :</a:t>
            </a:r>
          </a:p>
          <a:p>
            <a:pPr>
              <a:buFont typeface="Arial" panose="020B0604020202020204" pitchFamily="34" charset="0"/>
              <a:buChar char="•"/>
            </a:pPr>
            <a:r>
              <a:rPr lang="fr-FR" dirty="0">
                <a:effectLst/>
              </a:rPr>
              <a:t>Une entrée validée = </a:t>
            </a:r>
            <a:r>
              <a:rPr lang="fr-FR" b="1" dirty="0">
                <a:effectLst/>
              </a:rPr>
              <a:t>jamais perdue</a:t>
            </a:r>
            <a:endParaRPr lang="fr-FR" dirty="0"/>
          </a:p>
          <a:p>
            <a:pPr>
              <a:buFont typeface="Arial" panose="020B0604020202020204" pitchFamily="34" charset="0"/>
              <a:buChar char="•"/>
            </a:pPr>
            <a:r>
              <a:rPr lang="fr-FR" dirty="0">
                <a:effectLst/>
              </a:rPr>
              <a:t>Un leader élu = </a:t>
            </a:r>
            <a:r>
              <a:rPr lang="fr-FR" b="1" dirty="0">
                <a:effectLst/>
              </a:rPr>
              <a:t>obligé d’être à jour</a:t>
            </a:r>
            <a:endParaRPr lang="fr-FR" dirty="0"/>
          </a:p>
          <a:p>
            <a:pPr>
              <a:buFont typeface="Arial" panose="020B0604020202020204" pitchFamily="34" charset="0"/>
              <a:buChar char="•"/>
            </a:pPr>
            <a:r>
              <a:rPr lang="fr-FR" dirty="0">
                <a:effectLst/>
              </a:rPr>
              <a:t>Résultat : le cluster reste </a:t>
            </a:r>
            <a:r>
              <a:rPr lang="fr-FR" b="1" dirty="0">
                <a:effectLst/>
              </a:rPr>
              <a:t>cohérent</a:t>
            </a:r>
            <a:r>
              <a:rPr lang="fr-FR" dirty="0">
                <a:effectLst/>
              </a:rPr>
              <a:t>, même avec des pannes</a:t>
            </a:r>
            <a:endParaRPr lang="fr-FR" dirty="0"/>
          </a:p>
          <a:p>
            <a:r>
              <a:rPr lang="fr-FR" dirty="0">
                <a:effectLst/>
              </a:rPr>
              <a:t>Raft garantit que </a:t>
            </a:r>
            <a:r>
              <a:rPr lang="fr-FR" b="1" dirty="0">
                <a:effectLst/>
              </a:rPr>
              <a:t>rien d’important ne disparaît</a:t>
            </a:r>
            <a:r>
              <a:rPr lang="fr-FR" dirty="0">
                <a:effectLst/>
              </a:rPr>
              <a:t>, et que </a:t>
            </a:r>
            <a:r>
              <a:rPr lang="fr-FR" b="1" dirty="0">
                <a:effectLst/>
              </a:rPr>
              <a:t>le bon serveur devient leader</a:t>
            </a:r>
            <a:r>
              <a:rPr lang="fr-FR" dirty="0">
                <a:effectLst/>
              </a:rPr>
              <a:t>.</a:t>
            </a:r>
            <a:endParaRPr lang="fr-FR" dirty="0"/>
          </a:p>
          <a:p>
            <a:endParaRPr lang="fr-FR" dirty="0"/>
          </a:p>
        </p:txBody>
      </p:sp>
      <p:sp>
        <p:nvSpPr>
          <p:cNvPr id="4" name="Espace réservé du numéro de diapositive 3"/>
          <p:cNvSpPr>
            <a:spLocks noGrp="1"/>
          </p:cNvSpPr>
          <p:nvPr>
            <p:ph type="sldNum" sz="quarter" idx="5"/>
          </p:nvPr>
        </p:nvSpPr>
        <p:spPr/>
        <p:txBody>
          <a:bodyPr/>
          <a:lstStyle/>
          <a:p>
            <a:fld id="{472FBB7F-D4B5-4926-B1EF-6215FA5EFE5A}" type="slidenum">
              <a:rPr lang="fr-FR" smtClean="0"/>
              <a:t>9</a:t>
            </a:fld>
            <a:endParaRPr lang="fr-FR"/>
          </a:p>
        </p:txBody>
      </p:sp>
    </p:spTree>
    <p:extLst>
      <p:ext uri="{BB962C8B-B14F-4D97-AF65-F5344CB8AC3E}">
        <p14:creationId xmlns:p14="http://schemas.microsoft.com/office/powerpoint/2010/main" val="10975983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b="1" dirty="0"/>
              <a:t>Joint Consensus</a:t>
            </a:r>
          </a:p>
          <a:p>
            <a:r>
              <a:rPr lang="fr-FR" dirty="0">
                <a:effectLst/>
              </a:rPr>
              <a:t>Quand on ajoute ou retire des serveurs dans un cluster Raft, on ne change pas tout d’un coup. On passe par une étape où </a:t>
            </a:r>
            <a:r>
              <a:rPr lang="fr-FR" b="1" dirty="0">
                <a:effectLst/>
              </a:rPr>
              <a:t>l’ancienne et la nouvelle configuration coexistent</a:t>
            </a:r>
            <a:r>
              <a:rPr lang="fr-FR" dirty="0">
                <a:effectLst/>
              </a:rPr>
              <a:t>.</a:t>
            </a:r>
            <a:endParaRPr lang="fr-FR" dirty="0"/>
          </a:p>
          <a:p>
            <a:r>
              <a:rPr lang="fr-FR" b="1" dirty="0"/>
              <a:t>Pourquoi c’est important</a:t>
            </a:r>
          </a:p>
          <a:p>
            <a:r>
              <a:rPr lang="fr-FR" dirty="0">
                <a:effectLst/>
              </a:rPr>
              <a:t>Cela évite les incohérences pendant la transition. Le cluster continue de fonctionner normalement.</a:t>
            </a:r>
            <a:endParaRPr lang="fr-FR" dirty="0"/>
          </a:p>
          <a:p>
            <a:r>
              <a:rPr lang="fr-FR" b="1" dirty="0"/>
              <a:t>Exemple concret</a:t>
            </a:r>
          </a:p>
          <a:p>
            <a:r>
              <a:rPr lang="fr-FR" dirty="0">
                <a:effectLst/>
              </a:rPr>
              <a:t>Tu veux ajouter un nouveau serveur. Pendant un moment, </a:t>
            </a:r>
            <a:r>
              <a:rPr lang="fr-FR" b="1" dirty="0">
                <a:effectLst/>
              </a:rPr>
              <a:t>les anciens + le nouveau</a:t>
            </a:r>
            <a:r>
              <a:rPr lang="fr-FR" dirty="0">
                <a:effectLst/>
              </a:rPr>
              <a:t> doivent tous être d’accord avant de valider une action. C’est comme intégrer un nouveau membre dans une équipe : pendant quelques jours, tout le monde vérifie que tout est bien compris.</a:t>
            </a:r>
            <a:endParaRPr lang="fr-FR" dirty="0"/>
          </a:p>
          <a:p>
            <a:endParaRPr lang="fr-FR" dirty="0"/>
          </a:p>
          <a:p>
            <a:endParaRPr lang="fr-FR" dirty="0"/>
          </a:p>
          <a:p>
            <a:r>
              <a:rPr lang="fr-FR" b="1" dirty="0"/>
              <a:t>Maintien de la disponibilité</a:t>
            </a:r>
          </a:p>
          <a:p>
            <a:r>
              <a:rPr lang="fr-FR" dirty="0">
                <a:effectLst/>
              </a:rPr>
              <a:t>Pendant la transition, le cluster reste </a:t>
            </a:r>
            <a:r>
              <a:rPr lang="fr-FR" b="1" dirty="0">
                <a:effectLst/>
              </a:rPr>
              <a:t>disponible</a:t>
            </a:r>
            <a:r>
              <a:rPr lang="fr-FR" dirty="0">
                <a:effectLst/>
              </a:rPr>
              <a:t>. Il ne s’arrête jamais, même si la configuration change.</a:t>
            </a:r>
            <a:endParaRPr lang="fr-FR" dirty="0"/>
          </a:p>
          <a:p>
            <a:r>
              <a:rPr lang="fr-FR" b="1" dirty="0"/>
              <a:t>Pourquoi c’est important</a:t>
            </a:r>
          </a:p>
          <a:p>
            <a:r>
              <a:rPr lang="fr-FR" dirty="0">
                <a:effectLst/>
              </a:rPr>
              <a:t>Un service distribué ne peut pas se permettre d’être indisponible juste parce qu’on ajoute un serveur.</a:t>
            </a:r>
            <a:endParaRPr lang="fr-FR" dirty="0"/>
          </a:p>
          <a:p>
            <a:r>
              <a:rPr lang="fr-FR" b="1" dirty="0"/>
              <a:t>Exemple concret</a:t>
            </a:r>
          </a:p>
          <a:p>
            <a:r>
              <a:rPr lang="fr-FR" dirty="0">
                <a:effectLst/>
              </a:rPr>
              <a:t>Tu ajoutes un serveur à un système en production. Les utilisateurs continuent d’utiliser le service </a:t>
            </a:r>
            <a:r>
              <a:rPr lang="fr-FR" b="1" dirty="0">
                <a:effectLst/>
              </a:rPr>
              <a:t>sans interruption</a:t>
            </a:r>
            <a:r>
              <a:rPr lang="fr-FR" dirty="0">
                <a:effectLst/>
              </a:rPr>
              <a:t>.</a:t>
            </a:r>
            <a:endParaRPr lang="fr-FR" dirty="0"/>
          </a:p>
          <a:p>
            <a:endParaRPr lang="fr-FR" dirty="0"/>
          </a:p>
          <a:p>
            <a:endParaRPr lang="fr-FR" dirty="0"/>
          </a:p>
          <a:p>
            <a:r>
              <a:rPr lang="fr-FR" dirty="0"/>
              <a:t>EN GROS :</a:t>
            </a:r>
          </a:p>
          <a:p>
            <a:pPr>
              <a:buFont typeface="Arial" panose="020B0604020202020204" pitchFamily="34" charset="0"/>
              <a:buChar char="•"/>
            </a:pPr>
            <a:r>
              <a:rPr lang="fr-FR" dirty="0">
                <a:effectLst/>
              </a:rPr>
              <a:t>On change la configuration </a:t>
            </a:r>
            <a:r>
              <a:rPr lang="fr-FR" b="1" dirty="0">
                <a:effectLst/>
              </a:rPr>
              <a:t>en douceur</a:t>
            </a:r>
            <a:r>
              <a:rPr lang="fr-FR" dirty="0">
                <a:effectLst/>
              </a:rPr>
              <a:t>, pas d’un coup</a:t>
            </a:r>
            <a:endParaRPr lang="fr-FR" dirty="0"/>
          </a:p>
          <a:p>
            <a:pPr>
              <a:buFont typeface="Arial" panose="020B0604020202020204" pitchFamily="34" charset="0"/>
              <a:buChar char="•"/>
            </a:pPr>
            <a:r>
              <a:rPr lang="fr-FR" dirty="0">
                <a:effectLst/>
              </a:rPr>
              <a:t>Les deux configurations (ancienne + nouvelle) doivent être d’accord</a:t>
            </a:r>
            <a:endParaRPr lang="fr-FR" dirty="0"/>
          </a:p>
          <a:p>
            <a:pPr>
              <a:buFont typeface="Arial" panose="020B0604020202020204" pitchFamily="34" charset="0"/>
              <a:buChar char="•"/>
            </a:pPr>
            <a:r>
              <a:rPr lang="fr-FR" dirty="0">
                <a:effectLst/>
              </a:rPr>
              <a:t>Le service reste </a:t>
            </a:r>
            <a:r>
              <a:rPr lang="fr-FR" b="1" dirty="0">
                <a:effectLst/>
              </a:rPr>
              <a:t>disponible</a:t>
            </a:r>
            <a:r>
              <a:rPr lang="fr-FR" dirty="0">
                <a:effectLst/>
              </a:rPr>
              <a:t> pendant toute la transition</a:t>
            </a:r>
            <a:endParaRPr lang="fr-FR" dirty="0"/>
          </a:p>
          <a:p>
            <a:r>
              <a:rPr lang="fr-FR" dirty="0">
                <a:effectLst/>
              </a:rPr>
              <a:t> Résultat : un cluster qui évolue </a:t>
            </a:r>
            <a:r>
              <a:rPr lang="fr-FR" b="1" dirty="0">
                <a:effectLst/>
              </a:rPr>
              <a:t>sans risque et sans interruption</a:t>
            </a:r>
            <a:r>
              <a:rPr lang="fr-FR" dirty="0">
                <a:effectLst/>
              </a:rPr>
              <a:t>.</a:t>
            </a:r>
            <a:endParaRPr lang="fr-FR" dirty="0"/>
          </a:p>
          <a:p>
            <a:endParaRPr lang="fr-FR" dirty="0"/>
          </a:p>
        </p:txBody>
      </p:sp>
      <p:sp>
        <p:nvSpPr>
          <p:cNvPr id="4" name="Espace réservé du numéro de diapositive 3"/>
          <p:cNvSpPr>
            <a:spLocks noGrp="1"/>
          </p:cNvSpPr>
          <p:nvPr>
            <p:ph type="sldNum" sz="quarter" idx="5"/>
          </p:nvPr>
        </p:nvSpPr>
        <p:spPr/>
        <p:txBody>
          <a:bodyPr/>
          <a:lstStyle/>
          <a:p>
            <a:fld id="{472FBB7F-D4B5-4926-B1EF-6215FA5EFE5A}" type="slidenum">
              <a:rPr lang="fr-FR" smtClean="0"/>
              <a:t>10</a:t>
            </a:fld>
            <a:endParaRPr lang="fr-FR"/>
          </a:p>
        </p:txBody>
      </p:sp>
    </p:spTree>
    <p:extLst>
      <p:ext uri="{BB962C8B-B14F-4D97-AF65-F5344CB8AC3E}">
        <p14:creationId xmlns:p14="http://schemas.microsoft.com/office/powerpoint/2010/main" val="36681309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b="1" dirty="0"/>
              <a:t>Étape 01 — Timeout détecté</a:t>
            </a:r>
          </a:p>
          <a:p>
            <a:r>
              <a:rPr lang="fr-FR" dirty="0">
                <a:effectLst/>
              </a:rPr>
              <a:t>Un follower ne reçoit plus les signaux du leader → il pense que le leader est tombé.</a:t>
            </a:r>
            <a:endParaRPr lang="fr-FR" dirty="0"/>
          </a:p>
          <a:p>
            <a:r>
              <a:rPr lang="fr-FR" b="1" dirty="0"/>
              <a:t>Pourquoi c’est important - </a:t>
            </a:r>
            <a:r>
              <a:rPr lang="fr-FR" dirty="0">
                <a:effectLst/>
              </a:rPr>
              <a:t>C’est ce qui déclenche automatiquement une nouvelle élection.</a:t>
            </a:r>
            <a:endParaRPr lang="fr-FR" dirty="0"/>
          </a:p>
          <a:p>
            <a:r>
              <a:rPr lang="fr-FR" b="1" dirty="0"/>
              <a:t>Exemple concret</a:t>
            </a:r>
          </a:p>
          <a:p>
            <a:r>
              <a:rPr lang="fr-FR" dirty="0">
                <a:effectLst/>
              </a:rPr>
              <a:t>Comme dans une équipe : si le chef ne parle plus, quelqu’un finit par dire “on doit élire un nouveau chef”.</a:t>
            </a:r>
          </a:p>
          <a:p>
            <a:endParaRPr lang="fr-FR" dirty="0"/>
          </a:p>
          <a:p>
            <a:r>
              <a:rPr lang="fr-FR" b="1" dirty="0"/>
              <a:t>Étape 02 — Élection du leader</a:t>
            </a:r>
          </a:p>
          <a:p>
            <a:r>
              <a:rPr lang="fr-FR" dirty="0">
                <a:effectLst/>
              </a:rPr>
              <a:t>Le nœud devient </a:t>
            </a:r>
            <a:r>
              <a:rPr lang="fr-FR" b="1" dirty="0">
                <a:effectLst/>
              </a:rPr>
              <a:t>candidate</a:t>
            </a:r>
            <a:r>
              <a:rPr lang="fr-FR" dirty="0">
                <a:effectLst/>
              </a:rPr>
              <a:t>, augmente son numéro de “</a:t>
            </a:r>
            <a:r>
              <a:rPr lang="fr-FR" dirty="0" err="1">
                <a:effectLst/>
              </a:rPr>
              <a:t>term</a:t>
            </a:r>
            <a:r>
              <a:rPr lang="fr-FR" dirty="0">
                <a:effectLst/>
              </a:rPr>
              <a:t>”, et envoie des messages </a:t>
            </a:r>
            <a:r>
              <a:rPr lang="fr-FR" dirty="0" err="1">
                <a:effectLst/>
              </a:rPr>
              <a:t>RequestVote</a:t>
            </a:r>
            <a:r>
              <a:rPr lang="fr-FR" dirty="0">
                <a:effectLst/>
              </a:rPr>
              <a:t> aux autres.</a:t>
            </a:r>
            <a:endParaRPr lang="fr-FR" dirty="0"/>
          </a:p>
          <a:p>
            <a:r>
              <a:rPr lang="fr-FR" b="1" dirty="0"/>
              <a:t>Pourquoi c’est important - </a:t>
            </a:r>
            <a:r>
              <a:rPr lang="fr-FR" dirty="0">
                <a:effectLst/>
              </a:rPr>
              <a:t>Le cluster doit choisir un seul leader pour rester cohérent.</a:t>
            </a:r>
            <a:endParaRPr lang="fr-FR" dirty="0"/>
          </a:p>
          <a:p>
            <a:r>
              <a:rPr lang="fr-FR" b="1" dirty="0"/>
              <a:t>Exemple concret</a:t>
            </a:r>
          </a:p>
          <a:p>
            <a:r>
              <a:rPr lang="fr-FR" dirty="0">
                <a:effectLst/>
              </a:rPr>
              <a:t>Un membre se présente et dit : “Votez pour moi, je prends la direction”.</a:t>
            </a:r>
          </a:p>
          <a:p>
            <a:endParaRPr lang="fr-FR" dirty="0"/>
          </a:p>
          <a:p>
            <a:r>
              <a:rPr lang="fr-FR" b="1" dirty="0"/>
              <a:t>Étape 03 — Réception commande</a:t>
            </a:r>
          </a:p>
          <a:p>
            <a:r>
              <a:rPr lang="fr-FR" dirty="0">
                <a:effectLst/>
              </a:rPr>
              <a:t>Le nouveau leader reçoit une requête d’un client et l’ajoute dans son log.</a:t>
            </a:r>
            <a:endParaRPr lang="fr-FR" dirty="0"/>
          </a:p>
          <a:p>
            <a:r>
              <a:rPr lang="fr-FR" b="1" dirty="0"/>
              <a:t>Pourquoi c’est important - </a:t>
            </a:r>
            <a:r>
              <a:rPr lang="fr-FR" dirty="0">
                <a:effectLst/>
              </a:rPr>
              <a:t>Toutes les actions commencent par le leader → cela évite les conflits.</a:t>
            </a:r>
            <a:endParaRPr lang="fr-FR" dirty="0"/>
          </a:p>
          <a:p>
            <a:r>
              <a:rPr lang="fr-FR" b="1" dirty="0"/>
              <a:t>Exemple concret</a:t>
            </a:r>
          </a:p>
          <a:p>
            <a:r>
              <a:rPr lang="fr-FR" dirty="0">
                <a:effectLst/>
              </a:rPr>
              <a:t>Le chef note une nouvelle tâche dans sa liste.</a:t>
            </a:r>
          </a:p>
          <a:p>
            <a:endParaRPr lang="fr-FR" dirty="0"/>
          </a:p>
          <a:p>
            <a:r>
              <a:rPr lang="fr-FR" b="1" dirty="0"/>
              <a:t>Étape 04 — Réplication aux followers</a:t>
            </a:r>
          </a:p>
          <a:p>
            <a:r>
              <a:rPr lang="fr-FR" dirty="0">
                <a:effectLst/>
              </a:rPr>
              <a:t>Le leader envoie la nouvelle entrée à tous les followers via </a:t>
            </a:r>
            <a:r>
              <a:rPr lang="fr-FR" dirty="0" err="1">
                <a:effectLst/>
              </a:rPr>
              <a:t>AppendEntries</a:t>
            </a:r>
            <a:r>
              <a:rPr lang="fr-FR" dirty="0">
                <a:effectLst/>
              </a:rPr>
              <a:t>.</a:t>
            </a:r>
            <a:endParaRPr lang="fr-FR" dirty="0"/>
          </a:p>
          <a:p>
            <a:r>
              <a:rPr lang="fr-FR" b="1" dirty="0"/>
              <a:t>Pourquoi c’est important - </a:t>
            </a:r>
            <a:r>
              <a:rPr lang="fr-FR" dirty="0">
                <a:effectLst/>
              </a:rPr>
              <a:t>Tous les serveurs doivent avoir la même liste d’actions.</a:t>
            </a:r>
            <a:endParaRPr lang="fr-FR" dirty="0"/>
          </a:p>
          <a:p>
            <a:r>
              <a:rPr lang="fr-FR" b="1" dirty="0"/>
              <a:t>Exemple concret</a:t>
            </a:r>
          </a:p>
          <a:p>
            <a:r>
              <a:rPr lang="fr-FR" dirty="0">
                <a:effectLst/>
              </a:rPr>
              <a:t>Le chef dit à l’équipe : “Notez tous cette nouvelle tâche”.</a:t>
            </a:r>
          </a:p>
          <a:p>
            <a:endParaRPr lang="fr-FR" dirty="0"/>
          </a:p>
          <a:p>
            <a:r>
              <a:rPr lang="fr-FR" b="1" dirty="0"/>
              <a:t>Étape 05 — Engagement (commit)</a:t>
            </a:r>
          </a:p>
          <a:p>
            <a:r>
              <a:rPr lang="fr-FR" dirty="0">
                <a:effectLst/>
              </a:rPr>
              <a:t>Quand la majorité confirme avoir enregistré l’entrée, elle devient </a:t>
            </a:r>
            <a:r>
              <a:rPr lang="fr-FR" b="1" dirty="0" err="1">
                <a:effectLst/>
              </a:rPr>
              <a:t>committée</a:t>
            </a:r>
            <a:r>
              <a:rPr lang="fr-FR" dirty="0">
                <a:effectLst/>
              </a:rPr>
              <a:t>.</a:t>
            </a:r>
            <a:endParaRPr lang="fr-FR" dirty="0"/>
          </a:p>
          <a:p>
            <a:r>
              <a:rPr lang="fr-FR" b="1" dirty="0"/>
              <a:t>Pourquoi c’est important - </a:t>
            </a:r>
            <a:r>
              <a:rPr lang="fr-FR" dirty="0">
                <a:effectLst/>
              </a:rPr>
              <a:t>Une entrée </a:t>
            </a:r>
            <a:r>
              <a:rPr lang="fr-FR" dirty="0" err="1">
                <a:effectLst/>
              </a:rPr>
              <a:t>committée</a:t>
            </a:r>
            <a:r>
              <a:rPr lang="fr-FR" dirty="0">
                <a:effectLst/>
              </a:rPr>
              <a:t> ne peut plus être perdue.</a:t>
            </a:r>
            <a:endParaRPr lang="fr-FR" dirty="0"/>
          </a:p>
          <a:p>
            <a:r>
              <a:rPr lang="fr-FR" b="1" dirty="0"/>
              <a:t>Exemple concret</a:t>
            </a:r>
          </a:p>
          <a:p>
            <a:r>
              <a:rPr lang="fr-FR" dirty="0">
                <a:effectLst/>
              </a:rPr>
              <a:t>Si 3 membres sur 5 valident la tâche, elle devient officielle.</a:t>
            </a:r>
          </a:p>
          <a:p>
            <a:endParaRPr lang="fr-FR" dirty="0"/>
          </a:p>
          <a:p>
            <a:r>
              <a:rPr lang="fr-FR" b="1" dirty="0"/>
              <a:t>Étape 06 — Application à l’état</a:t>
            </a:r>
          </a:p>
          <a:p>
            <a:r>
              <a:rPr lang="fr-FR" dirty="0">
                <a:effectLst/>
              </a:rPr>
              <a:t>L’entrée est appliquée à la machine à états → l’action devient réelle.</a:t>
            </a:r>
            <a:endParaRPr lang="fr-FR" dirty="0"/>
          </a:p>
          <a:p>
            <a:r>
              <a:rPr lang="fr-FR" b="1" dirty="0"/>
              <a:t>Pourquoi c’est important - </a:t>
            </a:r>
            <a:r>
              <a:rPr lang="fr-FR" dirty="0">
                <a:effectLst/>
              </a:rPr>
              <a:t>C’est le moment où le système change réellement.</a:t>
            </a:r>
            <a:endParaRPr lang="fr-FR" dirty="0"/>
          </a:p>
          <a:p>
            <a:r>
              <a:rPr lang="fr-FR" b="1" dirty="0"/>
              <a:t>Exemple concret</a:t>
            </a:r>
          </a:p>
          <a:p>
            <a:r>
              <a:rPr lang="fr-FR" dirty="0">
                <a:effectLst/>
              </a:rPr>
              <a:t>L’utilisateur est ajouté, le fichier est modifié, la configuration est mise à jour.</a:t>
            </a:r>
          </a:p>
          <a:p>
            <a:endParaRPr lang="fr-FR" dirty="0">
              <a:effectLst/>
            </a:endParaRPr>
          </a:p>
          <a:p>
            <a:r>
              <a:rPr lang="fr-FR" dirty="0">
                <a:effectLst/>
              </a:rPr>
              <a:t>EN GROS :</a:t>
            </a:r>
          </a:p>
          <a:p>
            <a:pPr>
              <a:buFont typeface="Arial" panose="020B0604020202020204" pitchFamily="34" charset="0"/>
              <a:buChar char="•"/>
            </a:pPr>
            <a:r>
              <a:rPr lang="fr-FR" dirty="0">
                <a:effectLst/>
              </a:rPr>
              <a:t>Le leader disparaît → nouvelle élection</a:t>
            </a:r>
            <a:endParaRPr lang="fr-FR" dirty="0"/>
          </a:p>
          <a:p>
            <a:pPr>
              <a:buFont typeface="Arial" panose="020B0604020202020204" pitchFamily="34" charset="0"/>
              <a:buChar char="•"/>
            </a:pPr>
            <a:r>
              <a:rPr lang="fr-FR" dirty="0">
                <a:effectLst/>
              </a:rPr>
              <a:t>Le leader reçoit une commande</a:t>
            </a:r>
            <a:endParaRPr lang="fr-FR" dirty="0"/>
          </a:p>
          <a:p>
            <a:pPr>
              <a:buFont typeface="Arial" panose="020B0604020202020204" pitchFamily="34" charset="0"/>
              <a:buChar char="•"/>
            </a:pPr>
            <a:r>
              <a:rPr lang="fr-FR" dirty="0">
                <a:effectLst/>
              </a:rPr>
              <a:t>Il la réplique aux followers</a:t>
            </a:r>
            <a:endParaRPr lang="fr-FR" dirty="0"/>
          </a:p>
          <a:p>
            <a:pPr>
              <a:buFont typeface="Arial" panose="020B0604020202020204" pitchFamily="34" charset="0"/>
              <a:buChar char="•"/>
            </a:pPr>
            <a:r>
              <a:rPr lang="fr-FR" dirty="0">
                <a:effectLst/>
              </a:rPr>
              <a:t>La majorité confirme</a:t>
            </a:r>
            <a:endParaRPr lang="fr-FR" dirty="0"/>
          </a:p>
          <a:p>
            <a:pPr>
              <a:buFont typeface="Arial" panose="020B0604020202020204" pitchFamily="34" charset="0"/>
              <a:buChar char="•"/>
            </a:pPr>
            <a:r>
              <a:rPr lang="fr-FR" dirty="0">
                <a:effectLst/>
              </a:rPr>
              <a:t>L’action est appliquée partout</a:t>
            </a:r>
            <a:endParaRPr lang="fr-FR" dirty="0"/>
          </a:p>
          <a:p>
            <a:r>
              <a:rPr lang="fr-FR" dirty="0">
                <a:effectLst/>
              </a:rPr>
              <a:t>Résultat : un système </a:t>
            </a:r>
            <a:r>
              <a:rPr lang="fr-FR" b="1" dirty="0">
                <a:effectLst/>
              </a:rPr>
              <a:t>cohérent, fiable et tolérant aux pannes</a:t>
            </a:r>
            <a:r>
              <a:rPr lang="fr-FR" dirty="0">
                <a:effectLst/>
              </a:rPr>
              <a:t>.</a:t>
            </a:r>
            <a:endParaRPr lang="fr-FR" dirty="0"/>
          </a:p>
          <a:p>
            <a:endParaRPr lang="fr-FR" dirty="0"/>
          </a:p>
        </p:txBody>
      </p:sp>
      <p:sp>
        <p:nvSpPr>
          <p:cNvPr id="4" name="Espace réservé du numéro de diapositive 3"/>
          <p:cNvSpPr>
            <a:spLocks noGrp="1"/>
          </p:cNvSpPr>
          <p:nvPr>
            <p:ph type="sldNum" sz="quarter" idx="5"/>
          </p:nvPr>
        </p:nvSpPr>
        <p:spPr/>
        <p:txBody>
          <a:bodyPr/>
          <a:lstStyle/>
          <a:p>
            <a:fld id="{472FBB7F-D4B5-4926-B1EF-6215FA5EFE5A}" type="slidenum">
              <a:rPr lang="fr-FR" smtClean="0"/>
              <a:t>11</a:t>
            </a:fld>
            <a:endParaRPr lang="fr-FR"/>
          </a:p>
        </p:txBody>
      </p:sp>
    </p:spTree>
    <p:extLst>
      <p:ext uri="{BB962C8B-B14F-4D97-AF65-F5344CB8AC3E}">
        <p14:creationId xmlns:p14="http://schemas.microsoft.com/office/powerpoint/2010/main" val="30951283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b="1" dirty="0">
                <a:effectLst/>
              </a:rPr>
              <a:t>Objectif</a:t>
            </a:r>
            <a:r>
              <a:rPr lang="fr-FR" dirty="0">
                <a:effectLst/>
              </a:rPr>
              <a:t> : cohérence malgré les pannes</a:t>
            </a:r>
            <a:endParaRPr lang="fr-FR" dirty="0"/>
          </a:p>
          <a:p>
            <a:r>
              <a:rPr lang="fr-FR" b="1" dirty="0">
                <a:effectLst/>
              </a:rPr>
              <a:t>Rôles</a:t>
            </a:r>
            <a:r>
              <a:rPr lang="fr-FR" dirty="0">
                <a:effectLst/>
              </a:rPr>
              <a:t> : leader / followers / candidates</a:t>
            </a:r>
            <a:endParaRPr lang="fr-FR" dirty="0"/>
          </a:p>
          <a:p>
            <a:r>
              <a:rPr lang="fr-FR" b="1" dirty="0">
                <a:effectLst/>
              </a:rPr>
              <a:t>Élection</a:t>
            </a:r>
            <a:r>
              <a:rPr lang="fr-FR" dirty="0">
                <a:effectLst/>
              </a:rPr>
              <a:t> : timeout → votes → majorité</a:t>
            </a:r>
            <a:endParaRPr lang="fr-FR" dirty="0"/>
          </a:p>
          <a:p>
            <a:r>
              <a:rPr lang="fr-FR" b="1" dirty="0">
                <a:effectLst/>
              </a:rPr>
              <a:t>Réplication</a:t>
            </a:r>
            <a:r>
              <a:rPr lang="fr-FR" dirty="0">
                <a:effectLst/>
              </a:rPr>
              <a:t> : leader → followers → majorité → commit</a:t>
            </a:r>
            <a:endParaRPr lang="fr-FR" dirty="0"/>
          </a:p>
          <a:p>
            <a:r>
              <a:rPr lang="fr-FR" b="1" dirty="0">
                <a:effectLst/>
              </a:rPr>
              <a:t>Sécurité</a:t>
            </a:r>
            <a:r>
              <a:rPr lang="fr-FR" dirty="0">
                <a:effectLst/>
              </a:rPr>
              <a:t> : entrées </a:t>
            </a:r>
            <a:r>
              <a:rPr lang="fr-FR" dirty="0" err="1">
                <a:effectLst/>
              </a:rPr>
              <a:t>committées</a:t>
            </a:r>
            <a:r>
              <a:rPr lang="fr-FR" dirty="0">
                <a:effectLst/>
              </a:rPr>
              <a:t> = jamais perdues</a:t>
            </a:r>
            <a:endParaRPr lang="fr-FR" dirty="0"/>
          </a:p>
          <a:p>
            <a:r>
              <a:rPr lang="fr-FR" b="1" dirty="0">
                <a:effectLst/>
              </a:rPr>
              <a:t>Config</a:t>
            </a:r>
            <a:r>
              <a:rPr lang="fr-FR" dirty="0">
                <a:effectLst/>
              </a:rPr>
              <a:t> : joint consensus</a:t>
            </a:r>
            <a:endParaRPr lang="fr-FR" dirty="0"/>
          </a:p>
          <a:p>
            <a:r>
              <a:rPr lang="fr-FR" b="1">
                <a:effectLst/>
              </a:rPr>
              <a:t>Cycle</a:t>
            </a:r>
            <a:r>
              <a:rPr lang="fr-FR">
                <a:effectLst/>
              </a:rPr>
              <a:t> : élection → commande → réplication → commit → application</a:t>
            </a:r>
            <a:endParaRPr lang="fr-FR"/>
          </a:p>
          <a:p>
            <a:endParaRPr lang="fr-FR"/>
          </a:p>
        </p:txBody>
      </p:sp>
      <p:sp>
        <p:nvSpPr>
          <p:cNvPr id="4" name="Espace réservé du numéro de diapositive 3"/>
          <p:cNvSpPr>
            <a:spLocks noGrp="1"/>
          </p:cNvSpPr>
          <p:nvPr>
            <p:ph type="sldNum" sz="quarter" idx="5"/>
          </p:nvPr>
        </p:nvSpPr>
        <p:spPr/>
        <p:txBody>
          <a:bodyPr/>
          <a:lstStyle/>
          <a:p>
            <a:fld id="{472FBB7F-D4B5-4926-B1EF-6215FA5EFE5A}" type="slidenum">
              <a:rPr lang="fr-FR" smtClean="0"/>
              <a:t>12</a:t>
            </a:fld>
            <a:endParaRPr lang="fr-FR"/>
          </a:p>
        </p:txBody>
      </p:sp>
    </p:spTree>
    <p:extLst>
      <p:ext uri="{BB962C8B-B14F-4D97-AF65-F5344CB8AC3E}">
        <p14:creationId xmlns:p14="http://schemas.microsoft.com/office/powerpoint/2010/main" val="958206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34736A-CC04-8F46-D454-55D46C340F40}"/>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8654A77A-17C9-F80D-0A2B-F479E358A7F8}"/>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A2080F7D-307D-9EC8-F166-316C22D38302}"/>
              </a:ext>
            </a:extLst>
          </p:cNvPr>
          <p:cNvSpPr>
            <a:spLocks noGrp="1"/>
          </p:cNvSpPr>
          <p:nvPr>
            <p:ph type="body" idx="1"/>
          </p:nvPr>
        </p:nvSpPr>
        <p:spPr/>
        <p:txBody>
          <a:bodyPr/>
          <a:lstStyle/>
          <a:p>
            <a:r>
              <a:rPr lang="fr-FR" b="1" dirty="0">
                <a:effectLst/>
              </a:rPr>
              <a:t>Objectif</a:t>
            </a:r>
            <a:r>
              <a:rPr lang="fr-FR" dirty="0">
                <a:effectLst/>
              </a:rPr>
              <a:t> : cohérence malgré les pannes</a:t>
            </a:r>
            <a:endParaRPr lang="fr-FR" dirty="0"/>
          </a:p>
          <a:p>
            <a:r>
              <a:rPr lang="fr-FR" b="1" dirty="0">
                <a:effectLst/>
              </a:rPr>
              <a:t>Rôles</a:t>
            </a:r>
            <a:r>
              <a:rPr lang="fr-FR" dirty="0">
                <a:effectLst/>
              </a:rPr>
              <a:t> : leader / followers / candidates</a:t>
            </a:r>
            <a:endParaRPr lang="fr-FR" dirty="0"/>
          </a:p>
          <a:p>
            <a:r>
              <a:rPr lang="fr-FR" b="1" dirty="0">
                <a:effectLst/>
              </a:rPr>
              <a:t>Élection</a:t>
            </a:r>
            <a:r>
              <a:rPr lang="fr-FR" dirty="0">
                <a:effectLst/>
              </a:rPr>
              <a:t> : timeout → votes → majorité</a:t>
            </a:r>
            <a:endParaRPr lang="fr-FR" dirty="0"/>
          </a:p>
          <a:p>
            <a:r>
              <a:rPr lang="fr-FR" b="1" dirty="0">
                <a:effectLst/>
              </a:rPr>
              <a:t>Réplication</a:t>
            </a:r>
            <a:r>
              <a:rPr lang="fr-FR" dirty="0">
                <a:effectLst/>
              </a:rPr>
              <a:t> : leader → followers → majorité → commit</a:t>
            </a:r>
            <a:endParaRPr lang="fr-FR" dirty="0"/>
          </a:p>
          <a:p>
            <a:r>
              <a:rPr lang="fr-FR" b="1" dirty="0">
                <a:effectLst/>
              </a:rPr>
              <a:t>Sécurité</a:t>
            </a:r>
            <a:r>
              <a:rPr lang="fr-FR" dirty="0">
                <a:effectLst/>
              </a:rPr>
              <a:t> : entrées </a:t>
            </a:r>
            <a:r>
              <a:rPr lang="fr-FR" dirty="0" err="1">
                <a:effectLst/>
              </a:rPr>
              <a:t>committées</a:t>
            </a:r>
            <a:r>
              <a:rPr lang="fr-FR" dirty="0">
                <a:effectLst/>
              </a:rPr>
              <a:t> = jamais perdues</a:t>
            </a:r>
            <a:endParaRPr lang="fr-FR" dirty="0"/>
          </a:p>
          <a:p>
            <a:r>
              <a:rPr lang="fr-FR" b="1" dirty="0">
                <a:effectLst/>
              </a:rPr>
              <a:t>Config</a:t>
            </a:r>
            <a:r>
              <a:rPr lang="fr-FR" dirty="0">
                <a:effectLst/>
              </a:rPr>
              <a:t> : joint consensus</a:t>
            </a:r>
            <a:endParaRPr lang="fr-FR" dirty="0"/>
          </a:p>
          <a:p>
            <a:r>
              <a:rPr lang="fr-FR" b="1">
                <a:effectLst/>
              </a:rPr>
              <a:t>Cycle</a:t>
            </a:r>
            <a:r>
              <a:rPr lang="fr-FR">
                <a:effectLst/>
              </a:rPr>
              <a:t> : élection → commande → réplication → commit → application</a:t>
            </a:r>
            <a:endParaRPr lang="fr-FR"/>
          </a:p>
          <a:p>
            <a:endParaRPr lang="fr-FR"/>
          </a:p>
        </p:txBody>
      </p:sp>
      <p:sp>
        <p:nvSpPr>
          <p:cNvPr id="4" name="Espace réservé du numéro de diapositive 3">
            <a:extLst>
              <a:ext uri="{FF2B5EF4-FFF2-40B4-BE49-F238E27FC236}">
                <a16:creationId xmlns:a16="http://schemas.microsoft.com/office/drawing/2014/main" id="{8C595277-CC58-6512-20D6-540FE502FDFE}"/>
              </a:ext>
            </a:extLst>
          </p:cNvPr>
          <p:cNvSpPr>
            <a:spLocks noGrp="1"/>
          </p:cNvSpPr>
          <p:nvPr>
            <p:ph type="sldNum" sz="quarter" idx="5"/>
          </p:nvPr>
        </p:nvSpPr>
        <p:spPr/>
        <p:txBody>
          <a:bodyPr/>
          <a:lstStyle/>
          <a:p>
            <a:fld id="{472FBB7F-D4B5-4926-B1EF-6215FA5EFE5A}" type="slidenum">
              <a:rPr lang="fr-FR" smtClean="0"/>
              <a:t>13</a:t>
            </a:fld>
            <a:endParaRPr lang="fr-FR"/>
          </a:p>
        </p:txBody>
      </p:sp>
    </p:spTree>
    <p:extLst>
      <p:ext uri="{BB962C8B-B14F-4D97-AF65-F5344CB8AC3E}">
        <p14:creationId xmlns:p14="http://schemas.microsoft.com/office/powerpoint/2010/main" val="27852466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4/16/2026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2.sv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2.sv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2.sv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6.sv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2.svg"/></Relationships>
</file>

<file path=ppt/slides/_rels/slide6.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1.png"/><Relationship Id="rId3" Type="http://schemas.openxmlformats.org/officeDocument/2006/relationships/image" Target="../media/image6.svg"/><Relationship Id="rId7" Type="http://schemas.openxmlformats.org/officeDocument/2006/relationships/image" Target="../media/image15.png"/><Relationship Id="rId12" Type="http://schemas.openxmlformats.org/officeDocument/2006/relationships/image" Target="../media/image20.sv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14.svg"/><Relationship Id="rId11" Type="http://schemas.openxmlformats.org/officeDocument/2006/relationships/image" Target="../media/image19.png"/><Relationship Id="rId5" Type="http://schemas.openxmlformats.org/officeDocument/2006/relationships/image" Target="../media/image13.svg"/><Relationship Id="rId10" Type="http://schemas.openxmlformats.org/officeDocument/2006/relationships/image" Target="../media/image18.png"/><Relationship Id="rId4" Type="http://schemas.openxmlformats.org/officeDocument/2006/relationships/image" Target="../media/image2.svg"/><Relationship Id="rId9" Type="http://schemas.openxmlformats.org/officeDocument/2006/relationships/image" Target="../media/image17.png"/><Relationship Id="rId14" Type="http://schemas.openxmlformats.org/officeDocument/2006/relationships/image" Target="../media/image22.svg"/></Relationships>
</file>

<file path=ppt/slides/_rels/slide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6.svg"/><Relationship Id="rId1" Type="http://schemas.openxmlformats.org/officeDocument/2006/relationships/slideLayout" Target="../slideLayouts/slideLayout7.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svg"/></Relationships>
</file>

<file path=ppt/slides/_rels/slide8.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6.svg"/><Relationship Id="rId7" Type="http://schemas.openxmlformats.org/officeDocument/2006/relationships/image" Target="../media/image28.png"/><Relationship Id="rId12" Type="http://schemas.openxmlformats.org/officeDocument/2006/relationships/image" Target="../media/image33.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27.png"/><Relationship Id="rId11" Type="http://schemas.openxmlformats.org/officeDocument/2006/relationships/image" Target="../media/image32.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svg"/><Relationship Id="rId9" Type="http://schemas.openxmlformats.org/officeDocument/2006/relationships/image" Target="../media/image30.png"/></Relationships>
</file>

<file path=ppt/slides/_rels/slide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2.svg"/><Relationship Id="rId5" Type="http://schemas.openxmlformats.org/officeDocument/2006/relationships/image" Target="../media/image35.png"/><Relationship Id="rId4" Type="http://schemas.openxmlformats.org/officeDocument/2006/relationships/image" Target="../media/image34.png"/></Relationships>
</file>

<file path=ppt/slides/_rels/slide1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2.svg"/><Relationship Id="rId5" Type="http://schemas.openxmlformats.org/officeDocument/2006/relationships/image" Target="../media/image38.png"/><Relationship Id="rId4" Type="http://schemas.openxmlformats.org/officeDocument/2006/relationships/image" Target="../media/image37.png"/></Relationships>
</file>

<file path=ppt/slides/_rels/slide11.xml.rels><?xml version="1.0" encoding="UTF-8" standalone="yes"?>
<Relationships xmlns="http://schemas.openxmlformats.org/package/2006/relationships"><Relationship Id="rId8" Type="http://schemas.openxmlformats.org/officeDocument/2006/relationships/image" Target="../media/image43.svg"/><Relationship Id="rId13" Type="http://schemas.openxmlformats.org/officeDocument/2006/relationships/image" Target="../media/image48.png"/><Relationship Id="rId3" Type="http://schemas.openxmlformats.org/officeDocument/2006/relationships/image" Target="../media/image6.svg"/><Relationship Id="rId7" Type="http://schemas.openxmlformats.org/officeDocument/2006/relationships/image" Target="../media/image42.svg"/><Relationship Id="rId12" Type="http://schemas.openxmlformats.org/officeDocument/2006/relationships/image" Target="../media/image47.svg"/><Relationship Id="rId2" Type="http://schemas.openxmlformats.org/officeDocument/2006/relationships/notesSlide" Target="../notesSlides/notesSlide9.xml"/><Relationship Id="rId16" Type="http://schemas.openxmlformats.org/officeDocument/2006/relationships/image" Target="../media/image2.svg"/><Relationship Id="rId1" Type="http://schemas.openxmlformats.org/officeDocument/2006/relationships/slideLayout" Target="../slideLayouts/slideLayout7.xml"/><Relationship Id="rId6" Type="http://schemas.openxmlformats.org/officeDocument/2006/relationships/image" Target="../media/image41.svg"/><Relationship Id="rId11" Type="http://schemas.openxmlformats.org/officeDocument/2006/relationships/image" Target="../media/image46.png"/><Relationship Id="rId5" Type="http://schemas.openxmlformats.org/officeDocument/2006/relationships/image" Target="../media/image40.svg"/><Relationship Id="rId15" Type="http://schemas.openxmlformats.org/officeDocument/2006/relationships/image" Target="../media/image50.png"/><Relationship Id="rId10" Type="http://schemas.openxmlformats.org/officeDocument/2006/relationships/image" Target="../media/image45.png"/><Relationship Id="rId4" Type="http://schemas.openxmlformats.org/officeDocument/2006/relationships/image" Target="../media/image39.svg"/><Relationship Id="rId9" Type="http://schemas.openxmlformats.org/officeDocument/2006/relationships/image" Target="../media/image44.svg"/><Relationship Id="rId14" Type="http://schemas.openxmlformats.org/officeDocument/2006/relationships/image" Target="../media/image49.png"/></Relationships>
</file>

<file path=ppt/slides/_rels/slide1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image" Target="../media/image51.png"/><Relationship Id="rId4" Type="http://schemas.openxmlformats.org/officeDocument/2006/relationships/image" Target="../media/image2.svg"/></Relationships>
</file>

<file path=ppt/slides/_rels/slide1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2.svg"/></Relationships>
</file>

<file path=ppt/slides/_rels/slide14.xml.rels><?xml version="1.0" encoding="UTF-8" standalone="yes"?>
<Relationships xmlns="http://schemas.openxmlformats.org/package/2006/relationships"><Relationship Id="rId8" Type="http://schemas.openxmlformats.org/officeDocument/2006/relationships/hyperlink" Target="https://raft.github.io/" TargetMode="External"/><Relationship Id="rId3" Type="http://schemas.openxmlformats.org/officeDocument/2006/relationships/image" Target="../media/image52.png"/><Relationship Id="rId7" Type="http://schemas.openxmlformats.org/officeDocument/2006/relationships/hyperlink" Target="https://en-wikipedia-org.translate.goog/wiki/Raft_(algorithm)?_x_tr_sl=en&amp;_x_tr_tl=fr&amp;_x_tr_hl=fr&amp;_x_tr_pto=rq" TargetMode="External"/><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hyperlink" Target="https://fr.wikipedia.org/wiki/Probl%C3%A8me_du_consensus" TargetMode="External"/><Relationship Id="rId5" Type="http://schemas.openxmlformats.org/officeDocument/2006/relationships/hyperlink" Target="https://www.canva.com" TargetMode="External"/><Relationship Id="rId10" Type="http://schemas.openxmlformats.org/officeDocument/2006/relationships/hyperlink" Target="https://aws.plainenglish.io/raft-consensus-algorithm-explained-making-distributed-systems-understandable-de032f13b372" TargetMode="External"/><Relationship Id="rId4" Type="http://schemas.openxmlformats.org/officeDocument/2006/relationships/hyperlink" Target="https://www.linkedin.com/advice/0/what-raft-consensus-algorithm-how-does-work-skills-blockchain-p4rmf?lang=fr" TargetMode="External"/><Relationship Id="rId9" Type="http://schemas.openxmlformats.org/officeDocument/2006/relationships/hyperlink" Target="https://www.ibm.com/fr-fr/think/topics/etcd"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DE5FF"/>
        </a:solidFill>
        <a:effectLst/>
      </p:bgPr>
    </p:bg>
    <p:spTree>
      <p:nvGrpSpPr>
        <p:cNvPr id="1" name=""/>
        <p:cNvGrpSpPr/>
        <p:nvPr/>
      </p:nvGrpSpPr>
      <p:grpSpPr>
        <a:xfrm>
          <a:off x="0" y="0"/>
          <a:ext cx="0" cy="0"/>
          <a:chOff x="0" y="0"/>
          <a:chExt cx="0" cy="0"/>
        </a:xfrm>
      </p:grpSpPr>
      <p:grpSp>
        <p:nvGrpSpPr>
          <p:cNvPr id="2" name="Group 2"/>
          <p:cNvGrpSpPr/>
          <p:nvPr/>
        </p:nvGrpSpPr>
        <p:grpSpPr>
          <a:xfrm>
            <a:off x="2172135" y="2337613"/>
            <a:ext cx="6031608" cy="6031608"/>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C67BF">
                    <a:alpha val="58000"/>
                  </a:srgbClr>
                </a:gs>
                <a:gs pos="100000">
                  <a:srgbClr val="F7ACFF">
                    <a:alpha val="58000"/>
                  </a:srgbClr>
                </a:gs>
              </a:gsLst>
              <a:lin ang="0"/>
            </a:gradFill>
          </p:spPr>
        </p:sp>
        <p:sp>
          <p:nvSpPr>
            <p:cNvPr id="4" name="TextBox 4"/>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pPr>
              <a:endParaRPr/>
            </a:p>
          </p:txBody>
        </p:sp>
      </p:grpSp>
      <p:grpSp>
        <p:nvGrpSpPr>
          <p:cNvPr id="5" name="Group 5"/>
          <p:cNvGrpSpPr/>
          <p:nvPr/>
        </p:nvGrpSpPr>
        <p:grpSpPr>
          <a:xfrm>
            <a:off x="3414845" y="1188931"/>
            <a:ext cx="1991544" cy="1991544"/>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C67BF">
                    <a:alpha val="96000"/>
                  </a:srgbClr>
                </a:gs>
                <a:gs pos="100000">
                  <a:srgbClr val="F7ACFF">
                    <a:alpha val="0"/>
                  </a:srgbClr>
                </a:gs>
              </a:gsLst>
              <a:lin ang="0"/>
            </a:gradFill>
          </p:spPr>
        </p:sp>
        <p:sp>
          <p:nvSpPr>
            <p:cNvPr id="7" name="TextBox 7"/>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pPr>
              <a:endParaRPr/>
            </a:p>
          </p:txBody>
        </p:sp>
      </p:grpSp>
      <p:grpSp>
        <p:nvGrpSpPr>
          <p:cNvPr id="8" name="Group 8"/>
          <p:cNvGrpSpPr/>
          <p:nvPr/>
        </p:nvGrpSpPr>
        <p:grpSpPr>
          <a:xfrm>
            <a:off x="13043659" y="4214522"/>
            <a:ext cx="3185721" cy="3185721"/>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C67BF">
                    <a:alpha val="58000"/>
                  </a:srgbClr>
                </a:gs>
                <a:gs pos="100000">
                  <a:srgbClr val="F7ACFF">
                    <a:alpha val="0"/>
                  </a:srgbClr>
                </a:gs>
              </a:gsLst>
              <a:lin ang="0"/>
            </a:gradFill>
          </p:spPr>
        </p:sp>
        <p:sp>
          <p:nvSpPr>
            <p:cNvPr id="10" name="TextBox 10"/>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pPr>
              <a:endParaRPr/>
            </a:p>
          </p:txBody>
        </p:sp>
      </p:grpSp>
      <p:sp>
        <p:nvSpPr>
          <p:cNvPr id="11" name="TextBox 11"/>
          <p:cNvSpPr txBox="1"/>
          <p:nvPr/>
        </p:nvSpPr>
        <p:spPr>
          <a:xfrm>
            <a:off x="3055315" y="3926478"/>
            <a:ext cx="12177370" cy="1236391"/>
          </a:xfrm>
          <a:prstGeom prst="rect">
            <a:avLst/>
          </a:prstGeom>
        </p:spPr>
        <p:txBody>
          <a:bodyPr lIns="0" tIns="0" rIns="0" bIns="0" rtlCol="0" anchor="t">
            <a:spAutoFit/>
          </a:bodyPr>
          <a:lstStyle/>
          <a:p>
            <a:pPr marL="0" lvl="0" indent="0" algn="ctr">
              <a:lnSpc>
                <a:spcPts val="8670"/>
              </a:lnSpc>
            </a:pPr>
            <a:r>
              <a:rPr lang="en-US" sz="10838" b="1">
                <a:solidFill>
                  <a:srgbClr val="240960"/>
                </a:solidFill>
                <a:latin typeface="Montserrat Bold"/>
                <a:ea typeface="Montserrat Bold"/>
                <a:cs typeface="Montserrat Bold"/>
                <a:sym typeface="Montserrat Bold"/>
              </a:rPr>
              <a:t>Raft : algorithme</a:t>
            </a:r>
          </a:p>
        </p:txBody>
      </p:sp>
      <p:grpSp>
        <p:nvGrpSpPr>
          <p:cNvPr id="12" name="Group 12"/>
          <p:cNvGrpSpPr/>
          <p:nvPr/>
        </p:nvGrpSpPr>
        <p:grpSpPr>
          <a:xfrm>
            <a:off x="4163679" y="7797695"/>
            <a:ext cx="884434" cy="884434"/>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C67BF">
                    <a:alpha val="96000"/>
                  </a:srgbClr>
                </a:gs>
                <a:gs pos="100000">
                  <a:srgbClr val="F7ACFF">
                    <a:alpha val="96000"/>
                  </a:srgbClr>
                </a:gs>
              </a:gsLst>
              <a:lin ang="0"/>
            </a:gradFill>
          </p:spPr>
        </p:sp>
        <p:sp>
          <p:nvSpPr>
            <p:cNvPr id="14" name="TextBox 14"/>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pPr>
              <a:endParaRPr/>
            </a:p>
          </p:txBody>
        </p:sp>
      </p:grpSp>
      <p:grpSp>
        <p:nvGrpSpPr>
          <p:cNvPr id="15" name="Group 15"/>
          <p:cNvGrpSpPr/>
          <p:nvPr/>
        </p:nvGrpSpPr>
        <p:grpSpPr>
          <a:xfrm>
            <a:off x="12744482" y="1504605"/>
            <a:ext cx="1892038" cy="1892038"/>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C67BF">
                    <a:alpha val="96000"/>
                  </a:srgbClr>
                </a:gs>
                <a:gs pos="100000">
                  <a:srgbClr val="F7ACFF">
                    <a:alpha val="96000"/>
                  </a:srgbClr>
                </a:gs>
              </a:gsLst>
              <a:lin ang="0"/>
            </a:gradFill>
          </p:spPr>
        </p:sp>
        <p:sp>
          <p:nvSpPr>
            <p:cNvPr id="17" name="TextBox 17"/>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pPr>
              <a:endParaRPr/>
            </a:p>
          </p:txBody>
        </p:sp>
      </p:grpSp>
      <p:grpSp>
        <p:nvGrpSpPr>
          <p:cNvPr id="18" name="Group 18"/>
          <p:cNvGrpSpPr/>
          <p:nvPr/>
        </p:nvGrpSpPr>
        <p:grpSpPr>
          <a:xfrm>
            <a:off x="15344946" y="6400189"/>
            <a:ext cx="884434" cy="884434"/>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C67BF">
                    <a:alpha val="96000"/>
                  </a:srgbClr>
                </a:gs>
                <a:gs pos="100000">
                  <a:srgbClr val="F7ACFF">
                    <a:alpha val="96000"/>
                  </a:srgbClr>
                </a:gs>
              </a:gsLst>
              <a:lin ang="0"/>
            </a:gradFill>
          </p:spPr>
        </p:sp>
        <p:sp>
          <p:nvSpPr>
            <p:cNvPr id="20" name="TextBox 20"/>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pPr>
              <a:endParaRPr/>
            </a:p>
          </p:txBody>
        </p:sp>
      </p:grpSp>
      <p:grpSp>
        <p:nvGrpSpPr>
          <p:cNvPr id="21" name="Group 21"/>
          <p:cNvGrpSpPr/>
          <p:nvPr/>
        </p:nvGrpSpPr>
        <p:grpSpPr>
          <a:xfrm>
            <a:off x="637067" y="3608432"/>
            <a:ext cx="3070135" cy="3070135"/>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C67BF">
                    <a:alpha val="96000"/>
                  </a:srgbClr>
                </a:gs>
                <a:gs pos="100000">
                  <a:srgbClr val="F7ACFF">
                    <a:alpha val="0"/>
                  </a:srgbClr>
                </a:gs>
              </a:gsLst>
              <a:lin ang="0"/>
            </a:gradFill>
          </p:spPr>
        </p:sp>
        <p:sp>
          <p:nvSpPr>
            <p:cNvPr id="23" name="TextBox 23"/>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pPr>
              <a:endParaRPr/>
            </a:p>
          </p:txBody>
        </p:sp>
      </p:grpSp>
      <p:sp>
        <p:nvSpPr>
          <p:cNvPr id="24" name="TextBox 24"/>
          <p:cNvSpPr txBox="1"/>
          <p:nvPr/>
        </p:nvSpPr>
        <p:spPr>
          <a:xfrm>
            <a:off x="3055315" y="5169938"/>
            <a:ext cx="12177370" cy="1292203"/>
          </a:xfrm>
          <a:prstGeom prst="rect">
            <a:avLst/>
          </a:prstGeom>
        </p:spPr>
        <p:txBody>
          <a:bodyPr lIns="0" tIns="0" rIns="0" bIns="0" rtlCol="0" anchor="t">
            <a:spAutoFit/>
          </a:bodyPr>
          <a:lstStyle/>
          <a:p>
            <a:pPr marL="0" lvl="0" indent="0" algn="ctr">
              <a:lnSpc>
                <a:spcPts val="9099"/>
              </a:lnSpc>
            </a:pPr>
            <a:r>
              <a:rPr lang="en-US" sz="11374">
                <a:solidFill>
                  <a:srgbClr val="240960"/>
                </a:solidFill>
                <a:latin typeface="Montserrat"/>
                <a:ea typeface="Montserrat"/>
                <a:cs typeface="Montserrat"/>
                <a:sym typeface="Montserrat"/>
              </a:rPr>
              <a:t>de consensus</a:t>
            </a:r>
          </a:p>
        </p:txBody>
      </p:sp>
      <p:sp>
        <p:nvSpPr>
          <p:cNvPr id="25" name="Freeform 25"/>
          <p:cNvSpPr/>
          <p:nvPr/>
        </p:nvSpPr>
        <p:spPr>
          <a:xfrm>
            <a:off x="1112455" y="723538"/>
            <a:ext cx="663005" cy="610325"/>
          </a:xfrm>
          <a:custGeom>
            <a:avLst/>
            <a:gdLst/>
            <a:ahLst/>
            <a:cxnLst/>
            <a:rect l="l" t="t" r="r" b="b"/>
            <a:pathLst>
              <a:path w="663005" h="610325">
                <a:moveTo>
                  <a:pt x="0" y="0"/>
                </a:moveTo>
                <a:lnTo>
                  <a:pt x="663006" y="0"/>
                </a:lnTo>
                <a:lnTo>
                  <a:pt x="663006" y="610324"/>
                </a:lnTo>
                <a:lnTo>
                  <a:pt x="0" y="610324"/>
                </a:lnTo>
                <a:lnTo>
                  <a:pt x="0" y="0"/>
                </a:lnTo>
                <a:close/>
              </a:path>
            </a:pathLst>
          </a:custGeom>
          <a:blipFill>
            <a:blip r:embed="rId3"/>
            <a:stretch>
              <a:fillRect/>
            </a:stretch>
          </a:blipFill>
        </p:spPr>
      </p:sp>
      <p:sp>
        <p:nvSpPr>
          <p:cNvPr id="26" name="TextBox 26"/>
          <p:cNvSpPr txBox="1"/>
          <p:nvPr/>
        </p:nvSpPr>
        <p:spPr>
          <a:xfrm>
            <a:off x="1886433" y="760068"/>
            <a:ext cx="1710494" cy="556315"/>
          </a:xfrm>
          <a:prstGeom prst="rect">
            <a:avLst/>
          </a:prstGeom>
        </p:spPr>
        <p:txBody>
          <a:bodyPr lIns="0" tIns="0" rIns="0" bIns="0" rtlCol="0" anchor="t">
            <a:spAutoFit/>
          </a:bodyPr>
          <a:lstStyle/>
          <a:p>
            <a:pPr marL="0" lvl="0" indent="0" algn="l">
              <a:lnSpc>
                <a:spcPts val="1453"/>
              </a:lnSpc>
            </a:pPr>
            <a:r>
              <a:rPr lang="en-US" sz="1424" b="1">
                <a:solidFill>
                  <a:srgbClr val="240960"/>
                </a:solidFill>
                <a:latin typeface="Montserrat Bold"/>
                <a:ea typeface="Montserrat Bold"/>
                <a:cs typeface="Montserrat Bold"/>
                <a:sym typeface="Montserrat Bold"/>
              </a:rPr>
              <a:t>Comprendre la réplication de machine à états</a:t>
            </a:r>
          </a:p>
        </p:txBody>
      </p:sp>
      <p:sp>
        <p:nvSpPr>
          <p:cNvPr id="27" name="Freeform 27"/>
          <p:cNvSpPr/>
          <p:nvPr/>
        </p:nvSpPr>
        <p:spPr>
          <a:xfrm>
            <a:off x="1028700" y="9444450"/>
            <a:ext cx="415258" cy="415258"/>
          </a:xfrm>
          <a:custGeom>
            <a:avLst/>
            <a:gdLst/>
            <a:ahLst/>
            <a:cxnLst/>
            <a:rect l="l" t="t" r="r" b="b"/>
            <a:pathLst>
              <a:path w="415258" h="415258">
                <a:moveTo>
                  <a:pt x="0" y="0"/>
                </a:moveTo>
                <a:lnTo>
                  <a:pt x="415258" y="0"/>
                </a:lnTo>
                <a:lnTo>
                  <a:pt x="415258" y="415258"/>
                </a:lnTo>
                <a:lnTo>
                  <a:pt x="0" y="415258"/>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28" name="TextBox 28"/>
          <p:cNvSpPr txBox="1"/>
          <p:nvPr/>
        </p:nvSpPr>
        <p:spPr>
          <a:xfrm>
            <a:off x="14758171" y="844114"/>
            <a:ext cx="2501129" cy="276254"/>
          </a:xfrm>
          <a:prstGeom prst="rect">
            <a:avLst/>
          </a:prstGeom>
        </p:spPr>
        <p:txBody>
          <a:bodyPr lIns="0" tIns="0" rIns="0" bIns="0" rtlCol="0" anchor="t">
            <a:spAutoFit/>
          </a:bodyPr>
          <a:lstStyle/>
          <a:p>
            <a:pPr marL="0" lvl="0" indent="0" algn="l">
              <a:lnSpc>
                <a:spcPts val="2121"/>
              </a:lnSpc>
            </a:pPr>
            <a:r>
              <a:rPr lang="en-US" sz="2079" b="1">
                <a:solidFill>
                  <a:srgbClr val="240960"/>
                </a:solidFill>
                <a:latin typeface="Montserrat Bold"/>
                <a:ea typeface="Montserrat Bold"/>
                <a:cs typeface="Montserrat Bold"/>
                <a:sym typeface="Montserrat Bold"/>
              </a:rPr>
              <a:t>Guillemette_2026</a:t>
            </a:r>
          </a:p>
        </p:txBody>
      </p:sp>
      <p:sp>
        <p:nvSpPr>
          <p:cNvPr id="29" name="TextBox 29"/>
          <p:cNvSpPr txBox="1"/>
          <p:nvPr/>
        </p:nvSpPr>
        <p:spPr>
          <a:xfrm>
            <a:off x="16050268" y="9473025"/>
            <a:ext cx="724046" cy="242707"/>
          </a:xfrm>
          <a:prstGeom prst="rect">
            <a:avLst/>
          </a:prstGeom>
        </p:spPr>
        <p:txBody>
          <a:bodyPr lIns="0" tIns="0" rIns="0" bIns="0" rtlCol="0" anchor="t">
            <a:spAutoFit/>
          </a:bodyPr>
          <a:lstStyle/>
          <a:p>
            <a:pPr marL="0" lvl="0" indent="0" algn="l">
              <a:lnSpc>
                <a:spcPts val="1857"/>
              </a:lnSpc>
            </a:pPr>
            <a:r>
              <a:rPr lang="en-US" sz="1821" b="1">
                <a:solidFill>
                  <a:srgbClr val="240960"/>
                </a:solidFill>
                <a:latin typeface="Montserrat Bold"/>
                <a:ea typeface="Montserrat Bold"/>
                <a:cs typeface="Montserrat Bold"/>
                <a:sym typeface="Montserrat Bold"/>
              </a:rPr>
              <a:t>Page</a:t>
            </a:r>
          </a:p>
        </p:txBody>
      </p:sp>
      <p:sp>
        <p:nvSpPr>
          <p:cNvPr id="30" name="TextBox 30"/>
          <p:cNvSpPr txBox="1"/>
          <p:nvPr/>
        </p:nvSpPr>
        <p:spPr>
          <a:xfrm>
            <a:off x="16774314" y="9507706"/>
            <a:ext cx="484986" cy="208026"/>
          </a:xfrm>
          <a:prstGeom prst="rect">
            <a:avLst/>
          </a:prstGeom>
        </p:spPr>
        <p:txBody>
          <a:bodyPr lIns="0" tIns="0" rIns="0" bIns="0" rtlCol="0" anchor="t">
            <a:spAutoFit/>
          </a:bodyPr>
          <a:lstStyle/>
          <a:p>
            <a:pPr marL="0" lvl="0" indent="0" algn="l">
              <a:lnSpc>
                <a:spcPts val="1631"/>
              </a:lnSpc>
            </a:pPr>
            <a:r>
              <a:rPr lang="en-US" sz="1599">
                <a:solidFill>
                  <a:srgbClr val="240960"/>
                </a:solidFill>
                <a:latin typeface="Montserrat"/>
                <a:ea typeface="Montserrat"/>
                <a:cs typeface="Montserrat"/>
                <a:sym typeface="Montserrat"/>
              </a:rPr>
              <a:t>01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DE5FF"/>
        </a:solidFill>
        <a:effectLst/>
      </p:bgPr>
    </p:bg>
    <p:spTree>
      <p:nvGrpSpPr>
        <p:cNvPr id="1" name=""/>
        <p:cNvGrpSpPr/>
        <p:nvPr/>
      </p:nvGrpSpPr>
      <p:grpSpPr>
        <a:xfrm>
          <a:off x="0" y="0"/>
          <a:ext cx="0" cy="0"/>
          <a:chOff x="0" y="0"/>
          <a:chExt cx="0" cy="0"/>
        </a:xfrm>
      </p:grpSpPr>
      <p:sp>
        <p:nvSpPr>
          <p:cNvPr id="2" name="Freeform 2"/>
          <p:cNvSpPr/>
          <p:nvPr/>
        </p:nvSpPr>
        <p:spPr>
          <a:xfrm>
            <a:off x="1378792" y="809103"/>
            <a:ext cx="434253" cy="473819"/>
          </a:xfrm>
          <a:custGeom>
            <a:avLst/>
            <a:gdLst/>
            <a:ahLst/>
            <a:cxnLst/>
            <a:rect l="l" t="t" r="r" b="b"/>
            <a:pathLst>
              <a:path w="434253" h="473819">
                <a:moveTo>
                  <a:pt x="0" y="0"/>
                </a:moveTo>
                <a:lnTo>
                  <a:pt x="434253" y="0"/>
                </a:lnTo>
                <a:lnTo>
                  <a:pt x="434253" y="473819"/>
                </a:lnTo>
                <a:lnTo>
                  <a:pt x="0" y="473819"/>
                </a:lnTo>
                <a:lnTo>
                  <a:pt x="0" y="0"/>
                </a:lnTo>
                <a:close/>
              </a:path>
            </a:pathLst>
          </a:custGeom>
          <a:blipFill>
            <a:blip r:embed="rId3"/>
            <a:stretch>
              <a:fillRect/>
            </a:stretch>
          </a:blipFill>
        </p:spPr>
      </p:sp>
      <p:sp>
        <p:nvSpPr>
          <p:cNvPr id="3" name="TextBox 3"/>
          <p:cNvSpPr txBox="1"/>
          <p:nvPr/>
        </p:nvSpPr>
        <p:spPr>
          <a:xfrm>
            <a:off x="1996708" y="844897"/>
            <a:ext cx="1194260" cy="426539"/>
          </a:xfrm>
          <a:prstGeom prst="rect">
            <a:avLst/>
          </a:prstGeom>
        </p:spPr>
        <p:txBody>
          <a:bodyPr lIns="0" tIns="0" rIns="0" bIns="0" rtlCol="0" anchor="t">
            <a:spAutoFit/>
          </a:bodyPr>
          <a:lstStyle/>
          <a:p>
            <a:pPr marL="0" lvl="0" indent="0" algn="l">
              <a:lnSpc>
                <a:spcPts val="1676"/>
              </a:lnSpc>
            </a:pPr>
            <a:r>
              <a:rPr lang="en-US" sz="1643" b="1">
                <a:solidFill>
                  <a:srgbClr val="240960"/>
                </a:solidFill>
                <a:latin typeface="Montserrat Bold"/>
                <a:ea typeface="Montserrat Bold"/>
                <a:cs typeface="Montserrat Bold"/>
                <a:sym typeface="Montserrat Bold"/>
              </a:rPr>
              <a:t>Raft</a:t>
            </a:r>
          </a:p>
          <a:p>
            <a:pPr marL="0" lvl="0" indent="0" algn="l">
              <a:lnSpc>
                <a:spcPts val="1676"/>
              </a:lnSpc>
            </a:pPr>
            <a:r>
              <a:rPr lang="en-US" sz="1643" b="1">
                <a:solidFill>
                  <a:srgbClr val="240960"/>
                </a:solidFill>
                <a:latin typeface="Montserrat Bold"/>
                <a:ea typeface="Montserrat Bold"/>
                <a:cs typeface="Montserrat Bold"/>
                <a:sym typeface="Montserrat Bold"/>
              </a:rPr>
              <a:t>Consensus</a:t>
            </a:r>
          </a:p>
        </p:txBody>
      </p:sp>
      <p:sp>
        <p:nvSpPr>
          <p:cNvPr id="4" name="TextBox 4"/>
          <p:cNvSpPr txBox="1"/>
          <p:nvPr/>
        </p:nvSpPr>
        <p:spPr>
          <a:xfrm>
            <a:off x="16050268" y="9473025"/>
            <a:ext cx="724046" cy="242707"/>
          </a:xfrm>
          <a:prstGeom prst="rect">
            <a:avLst/>
          </a:prstGeom>
        </p:spPr>
        <p:txBody>
          <a:bodyPr lIns="0" tIns="0" rIns="0" bIns="0" rtlCol="0" anchor="t">
            <a:spAutoFit/>
          </a:bodyPr>
          <a:lstStyle/>
          <a:p>
            <a:pPr marL="0" lvl="0" indent="0" algn="l">
              <a:lnSpc>
                <a:spcPts val="1857"/>
              </a:lnSpc>
            </a:pPr>
            <a:r>
              <a:rPr lang="en-US" sz="1821" b="1">
                <a:solidFill>
                  <a:srgbClr val="240960"/>
                </a:solidFill>
                <a:latin typeface="Montserrat Bold"/>
                <a:ea typeface="Montserrat Bold"/>
                <a:cs typeface="Montserrat Bold"/>
                <a:sym typeface="Montserrat Bold"/>
              </a:rPr>
              <a:t>Page</a:t>
            </a:r>
          </a:p>
        </p:txBody>
      </p:sp>
      <p:sp>
        <p:nvSpPr>
          <p:cNvPr id="5" name="TextBox 5"/>
          <p:cNvSpPr txBox="1"/>
          <p:nvPr/>
        </p:nvSpPr>
        <p:spPr>
          <a:xfrm>
            <a:off x="16774314" y="9507706"/>
            <a:ext cx="484986" cy="208026"/>
          </a:xfrm>
          <a:prstGeom prst="rect">
            <a:avLst/>
          </a:prstGeom>
        </p:spPr>
        <p:txBody>
          <a:bodyPr lIns="0" tIns="0" rIns="0" bIns="0" rtlCol="0" anchor="t">
            <a:spAutoFit/>
          </a:bodyPr>
          <a:lstStyle/>
          <a:p>
            <a:pPr marL="0" lvl="0" indent="0" algn="l">
              <a:lnSpc>
                <a:spcPts val="1631"/>
              </a:lnSpc>
            </a:pPr>
            <a:r>
              <a:rPr lang="en-US" sz="1599">
                <a:solidFill>
                  <a:srgbClr val="240960"/>
                </a:solidFill>
                <a:latin typeface="Montserrat"/>
                <a:ea typeface="Montserrat"/>
                <a:cs typeface="Montserrat"/>
                <a:sym typeface="Montserrat"/>
              </a:rPr>
              <a:t>02</a:t>
            </a:r>
          </a:p>
        </p:txBody>
      </p:sp>
      <p:grpSp>
        <p:nvGrpSpPr>
          <p:cNvPr id="7" name="Group 7"/>
          <p:cNvGrpSpPr/>
          <p:nvPr/>
        </p:nvGrpSpPr>
        <p:grpSpPr>
          <a:xfrm>
            <a:off x="236831" y="2303914"/>
            <a:ext cx="2414254" cy="2414254"/>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C67BF">
                    <a:alpha val="58000"/>
                  </a:srgbClr>
                </a:gs>
                <a:gs pos="100000">
                  <a:srgbClr val="F7ACFF">
                    <a:alpha val="58000"/>
                  </a:srgbClr>
                </a:gs>
              </a:gsLst>
              <a:lin ang="0"/>
            </a:gradFill>
          </p:spPr>
        </p:sp>
        <p:sp>
          <p:nvSpPr>
            <p:cNvPr id="9" name="TextBox 9"/>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pPr>
              <a:endParaRPr/>
            </a:p>
          </p:txBody>
        </p:sp>
      </p:grpSp>
      <p:sp>
        <p:nvSpPr>
          <p:cNvPr id="10" name="TextBox 10"/>
          <p:cNvSpPr txBox="1"/>
          <p:nvPr/>
        </p:nvSpPr>
        <p:spPr>
          <a:xfrm>
            <a:off x="1595013" y="3130670"/>
            <a:ext cx="4609291" cy="499342"/>
          </a:xfrm>
          <a:prstGeom prst="rect">
            <a:avLst/>
          </a:prstGeom>
        </p:spPr>
        <p:txBody>
          <a:bodyPr lIns="0" tIns="0" rIns="0" bIns="0" rtlCol="0" anchor="t">
            <a:spAutoFit/>
          </a:bodyPr>
          <a:lstStyle/>
          <a:p>
            <a:pPr marL="0" lvl="0" indent="0" algn="l">
              <a:lnSpc>
                <a:spcPts val="3599"/>
              </a:lnSpc>
            </a:pPr>
            <a:r>
              <a:rPr lang="en-US" sz="4499" b="1">
                <a:solidFill>
                  <a:srgbClr val="240960"/>
                </a:solidFill>
                <a:latin typeface="Montserrat Bold"/>
                <a:ea typeface="Montserrat Bold"/>
                <a:cs typeface="Montserrat Bold"/>
                <a:sym typeface="Montserrat Bold"/>
              </a:rPr>
              <a:t>Qu'est-ce que</a:t>
            </a:r>
          </a:p>
        </p:txBody>
      </p:sp>
      <p:sp>
        <p:nvSpPr>
          <p:cNvPr id="11" name="TextBox 11"/>
          <p:cNvSpPr txBox="1"/>
          <p:nvPr/>
        </p:nvSpPr>
        <p:spPr>
          <a:xfrm>
            <a:off x="1595918" y="3777741"/>
            <a:ext cx="7310908" cy="772149"/>
          </a:xfrm>
          <a:prstGeom prst="rect">
            <a:avLst/>
          </a:prstGeom>
        </p:spPr>
        <p:txBody>
          <a:bodyPr lIns="0" tIns="0" rIns="0" bIns="0" rtlCol="0" anchor="t">
            <a:spAutoFit/>
          </a:bodyPr>
          <a:lstStyle/>
          <a:p>
            <a:pPr marL="0" lvl="0" indent="0" algn="l">
              <a:lnSpc>
                <a:spcPts val="5463"/>
              </a:lnSpc>
            </a:pPr>
            <a:r>
              <a:rPr lang="en-US" sz="6828">
                <a:solidFill>
                  <a:srgbClr val="240960"/>
                </a:solidFill>
                <a:latin typeface="Montserrat"/>
                <a:ea typeface="Montserrat"/>
                <a:cs typeface="Montserrat"/>
                <a:sym typeface="Montserrat"/>
              </a:rPr>
              <a:t>Raft ?</a:t>
            </a:r>
          </a:p>
        </p:txBody>
      </p:sp>
      <p:sp>
        <p:nvSpPr>
          <p:cNvPr id="12" name="TextBox 12"/>
          <p:cNvSpPr txBox="1"/>
          <p:nvPr/>
        </p:nvSpPr>
        <p:spPr>
          <a:xfrm>
            <a:off x="1656860" y="4968592"/>
            <a:ext cx="7063690" cy="2776972"/>
          </a:xfrm>
          <a:prstGeom prst="rect">
            <a:avLst/>
          </a:prstGeom>
        </p:spPr>
        <p:txBody>
          <a:bodyPr lIns="0" tIns="0" rIns="0" bIns="0" rtlCol="0" anchor="t">
            <a:spAutoFit/>
          </a:bodyPr>
          <a:lstStyle/>
          <a:p>
            <a:pPr marL="0" lvl="0" indent="0" algn="l">
              <a:lnSpc>
                <a:spcPts val="2202"/>
              </a:lnSpc>
            </a:pPr>
            <a:r>
              <a:rPr lang="en-US" sz="1932">
                <a:solidFill>
                  <a:srgbClr val="240960"/>
                </a:solidFill>
                <a:latin typeface="Montserrat"/>
                <a:ea typeface="Montserrat"/>
                <a:cs typeface="Montserrat"/>
                <a:sym typeface="Montserrat"/>
              </a:rPr>
              <a:t>Raft est un algorithme de consensus conçu pour permettre à un cluster de serveurs de se mettre d'accord sur une même suite d'opérations (un log répliqué).</a:t>
            </a:r>
          </a:p>
          <a:p>
            <a:pPr marL="0" lvl="0" indent="0" algn="l">
              <a:lnSpc>
                <a:spcPts val="2202"/>
              </a:lnSpc>
            </a:pPr>
            <a:endParaRPr lang="en-US" sz="1932">
              <a:solidFill>
                <a:srgbClr val="240960"/>
              </a:solidFill>
              <a:latin typeface="Montserrat"/>
              <a:ea typeface="Montserrat"/>
              <a:cs typeface="Montserrat"/>
              <a:sym typeface="Montserrat"/>
            </a:endParaRPr>
          </a:p>
          <a:p>
            <a:pPr marL="0" lvl="0" indent="0" algn="l">
              <a:lnSpc>
                <a:spcPts val="2202"/>
              </a:lnSpc>
            </a:pPr>
            <a:r>
              <a:rPr lang="en-US" sz="1932" b="1" u="sng">
                <a:solidFill>
                  <a:srgbClr val="240960"/>
                </a:solidFill>
                <a:latin typeface="Montserrat Bold"/>
                <a:ea typeface="Montserrat Bold"/>
                <a:cs typeface="Montserrat Bold"/>
                <a:sym typeface="Montserrat Bold"/>
              </a:rPr>
              <a:t>Objectif principal :</a:t>
            </a:r>
            <a:r>
              <a:rPr lang="en-US" sz="1932">
                <a:solidFill>
                  <a:srgbClr val="240960"/>
                </a:solidFill>
                <a:latin typeface="Montserrat"/>
                <a:ea typeface="Montserrat"/>
                <a:cs typeface="Montserrat"/>
                <a:sym typeface="Montserrat"/>
              </a:rPr>
              <a:t> garantir un état cohérent et fiable malgré les pannes de certains nœuds du système.</a:t>
            </a:r>
          </a:p>
          <a:p>
            <a:pPr marL="0" lvl="0" indent="0" algn="l">
              <a:lnSpc>
                <a:spcPts val="2202"/>
              </a:lnSpc>
            </a:pPr>
            <a:endParaRPr lang="en-US" sz="1932">
              <a:solidFill>
                <a:srgbClr val="240960"/>
              </a:solidFill>
              <a:latin typeface="Montserrat"/>
              <a:ea typeface="Montserrat"/>
              <a:cs typeface="Montserrat"/>
              <a:sym typeface="Montserrat"/>
            </a:endParaRPr>
          </a:p>
          <a:p>
            <a:pPr marL="0" lvl="0" indent="0" algn="l">
              <a:lnSpc>
                <a:spcPts val="2202"/>
              </a:lnSpc>
            </a:pPr>
            <a:r>
              <a:rPr lang="en-US" sz="1932">
                <a:solidFill>
                  <a:srgbClr val="240960"/>
                </a:solidFill>
                <a:latin typeface="Montserrat"/>
                <a:ea typeface="Montserrat"/>
                <a:cs typeface="Montserrat"/>
                <a:sym typeface="Montserrat"/>
              </a:rPr>
              <a:t>Raft simplifie la compréhension du consensus distribué en séparant clairement les responsabilités : élection du leader, réplication du log et sécurité des données.</a:t>
            </a:r>
          </a:p>
        </p:txBody>
      </p:sp>
      <p:grpSp>
        <p:nvGrpSpPr>
          <p:cNvPr id="13" name="Group 13"/>
          <p:cNvGrpSpPr>
            <a:grpSpLocks noChangeAspect="1"/>
          </p:cNvGrpSpPr>
          <p:nvPr/>
        </p:nvGrpSpPr>
        <p:grpSpPr>
          <a:xfrm>
            <a:off x="9802852" y="2628663"/>
            <a:ext cx="6136420" cy="6136420"/>
            <a:chOff x="0" y="0"/>
            <a:chExt cx="14840029" cy="14840029"/>
          </a:xfrm>
        </p:grpSpPr>
        <p:sp>
          <p:nvSpPr>
            <p:cNvPr id="14" name="Freeform 14"/>
            <p:cNvSpPr/>
            <p:nvPr/>
          </p:nvSpPr>
          <p:spPr>
            <a:xfrm>
              <a:off x="-33258" y="-75"/>
              <a:ext cx="14906544" cy="14840178"/>
            </a:xfrm>
            <a:custGeom>
              <a:avLst/>
              <a:gdLst/>
              <a:ahLst/>
              <a:cxnLst/>
              <a:rect l="l" t="t" r="r" b="b"/>
              <a:pathLst>
                <a:path w="14906544" h="14840178">
                  <a:moveTo>
                    <a:pt x="7453273" y="75"/>
                  </a:moveTo>
                  <a:cubicBezTo>
                    <a:pt x="4794451" y="-11816"/>
                    <a:pt x="2332496" y="1399825"/>
                    <a:pt x="999642" y="3700470"/>
                  </a:cubicBezTo>
                  <a:cubicBezTo>
                    <a:pt x="-333213" y="6001115"/>
                    <a:pt x="-333213" y="8839064"/>
                    <a:pt x="999642" y="11139709"/>
                  </a:cubicBezTo>
                  <a:cubicBezTo>
                    <a:pt x="2332496" y="13440354"/>
                    <a:pt x="4794451" y="14851995"/>
                    <a:pt x="7453273" y="14840104"/>
                  </a:cubicBezTo>
                  <a:cubicBezTo>
                    <a:pt x="10112093" y="14851995"/>
                    <a:pt x="12574049" y="13440354"/>
                    <a:pt x="13906904" y="11139709"/>
                  </a:cubicBezTo>
                  <a:cubicBezTo>
                    <a:pt x="15239758" y="8839064"/>
                    <a:pt x="15239758" y="6001115"/>
                    <a:pt x="13906904" y="3700470"/>
                  </a:cubicBezTo>
                  <a:cubicBezTo>
                    <a:pt x="12574049" y="1399825"/>
                    <a:pt x="10112093" y="-11816"/>
                    <a:pt x="7453273" y="75"/>
                  </a:cubicBezTo>
                  <a:close/>
                </a:path>
              </a:pathLst>
            </a:custGeom>
            <a:gradFill rotWithShape="1">
              <a:gsLst>
                <a:gs pos="0">
                  <a:srgbClr val="5B45B5">
                    <a:alpha val="100000"/>
                  </a:srgbClr>
                </a:gs>
                <a:gs pos="100000">
                  <a:srgbClr val="8875D7">
                    <a:alpha val="100000"/>
                  </a:srgbClr>
                </a:gs>
              </a:gsLst>
              <a:lin ang="0"/>
            </a:gradFill>
          </p:spPr>
        </p:sp>
        <p:sp>
          <p:nvSpPr>
            <p:cNvPr id="15" name="Freeform 15"/>
            <p:cNvSpPr/>
            <p:nvPr/>
          </p:nvSpPr>
          <p:spPr>
            <a:xfrm>
              <a:off x="168022" y="200309"/>
              <a:ext cx="14503985" cy="14439411"/>
            </a:xfrm>
            <a:custGeom>
              <a:avLst/>
              <a:gdLst/>
              <a:ahLst/>
              <a:cxnLst/>
              <a:rect l="l" t="t" r="r" b="b"/>
              <a:pathLst>
                <a:path w="14503985" h="14439411">
                  <a:moveTo>
                    <a:pt x="7251993" y="73"/>
                  </a:moveTo>
                  <a:cubicBezTo>
                    <a:pt x="4664974" y="-11497"/>
                    <a:pt x="2269506" y="1362022"/>
                    <a:pt x="972645" y="3600537"/>
                  </a:cubicBezTo>
                  <a:cubicBezTo>
                    <a:pt x="-324215" y="5839051"/>
                    <a:pt x="-324215" y="8600360"/>
                    <a:pt x="972645" y="10838875"/>
                  </a:cubicBezTo>
                  <a:cubicBezTo>
                    <a:pt x="2269506" y="13077389"/>
                    <a:pt x="4664974" y="14450908"/>
                    <a:pt x="7251993" y="14439338"/>
                  </a:cubicBezTo>
                  <a:cubicBezTo>
                    <a:pt x="9839011" y="14450908"/>
                    <a:pt x="12234479" y="13077389"/>
                    <a:pt x="13531340" y="10838875"/>
                  </a:cubicBezTo>
                  <a:cubicBezTo>
                    <a:pt x="14828201" y="8600360"/>
                    <a:pt x="14828201" y="5839051"/>
                    <a:pt x="13531340" y="3600537"/>
                  </a:cubicBezTo>
                  <a:cubicBezTo>
                    <a:pt x="12234479" y="1362022"/>
                    <a:pt x="9839011" y="-11497"/>
                    <a:pt x="7251993" y="73"/>
                  </a:cubicBezTo>
                  <a:close/>
                </a:path>
              </a:pathLst>
            </a:custGeom>
            <a:solidFill>
              <a:srgbClr val="FFFFFF"/>
            </a:solidFill>
          </p:spPr>
        </p:sp>
        <p:sp>
          <p:nvSpPr>
            <p:cNvPr id="16" name="Freeform 16"/>
            <p:cNvSpPr/>
            <p:nvPr/>
          </p:nvSpPr>
          <p:spPr>
            <a:xfrm>
              <a:off x="531276" y="561946"/>
              <a:ext cx="13777477" cy="13716137"/>
            </a:xfrm>
            <a:custGeom>
              <a:avLst/>
              <a:gdLst/>
              <a:ahLst/>
              <a:cxnLst/>
              <a:rect l="l" t="t" r="r" b="b"/>
              <a:pathLst>
                <a:path w="13777477" h="13716137">
                  <a:moveTo>
                    <a:pt x="6888739" y="68"/>
                  </a:moveTo>
                  <a:cubicBezTo>
                    <a:pt x="4431305" y="-10922"/>
                    <a:pt x="2155826" y="1293797"/>
                    <a:pt x="923925" y="3420184"/>
                  </a:cubicBezTo>
                  <a:cubicBezTo>
                    <a:pt x="-307975" y="5546571"/>
                    <a:pt x="-307975" y="8169565"/>
                    <a:pt x="923925" y="10295952"/>
                  </a:cubicBezTo>
                  <a:cubicBezTo>
                    <a:pt x="2155826" y="12422339"/>
                    <a:pt x="4431305" y="13727058"/>
                    <a:pt x="6888739" y="13716068"/>
                  </a:cubicBezTo>
                  <a:cubicBezTo>
                    <a:pt x="9346172" y="13727058"/>
                    <a:pt x="11621651" y="12422339"/>
                    <a:pt x="12853552" y="10295952"/>
                  </a:cubicBezTo>
                  <a:cubicBezTo>
                    <a:pt x="14085452" y="8169565"/>
                    <a:pt x="14085452" y="5546571"/>
                    <a:pt x="12853552" y="3420184"/>
                  </a:cubicBezTo>
                  <a:cubicBezTo>
                    <a:pt x="11621651" y="1293797"/>
                    <a:pt x="9346172" y="-10922"/>
                    <a:pt x="6888739" y="68"/>
                  </a:cubicBezTo>
                  <a:close/>
                </a:path>
              </a:pathLst>
            </a:custGeom>
            <a:blipFill>
              <a:blip r:embed="rId4"/>
              <a:stretch>
                <a:fillRect l="223" r="223"/>
              </a:stretch>
            </a:blipFill>
          </p:spPr>
        </p:sp>
      </p:grpSp>
      <p:grpSp>
        <p:nvGrpSpPr>
          <p:cNvPr id="17" name="Group 17"/>
          <p:cNvGrpSpPr/>
          <p:nvPr/>
        </p:nvGrpSpPr>
        <p:grpSpPr>
          <a:xfrm>
            <a:off x="9963054" y="6873045"/>
            <a:ext cx="1892038" cy="1892038"/>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C67BF">
                    <a:alpha val="96000"/>
                  </a:srgbClr>
                </a:gs>
                <a:gs pos="100000">
                  <a:srgbClr val="F7ACFF">
                    <a:alpha val="96000"/>
                  </a:srgbClr>
                </a:gs>
              </a:gsLst>
              <a:lin ang="0"/>
            </a:gradFill>
          </p:spPr>
        </p:sp>
        <p:sp>
          <p:nvSpPr>
            <p:cNvPr id="19" name="TextBox 19"/>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pPr>
              <a:endParaRPr/>
            </a:p>
          </p:txBody>
        </p:sp>
      </p:grpSp>
      <p:grpSp>
        <p:nvGrpSpPr>
          <p:cNvPr id="20" name="Group 20"/>
          <p:cNvGrpSpPr/>
          <p:nvPr/>
        </p:nvGrpSpPr>
        <p:grpSpPr>
          <a:xfrm>
            <a:off x="14861737" y="3674458"/>
            <a:ext cx="2155070" cy="2155070"/>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C67BF">
                    <a:alpha val="96000"/>
                  </a:srgbClr>
                </a:gs>
                <a:gs pos="100000">
                  <a:srgbClr val="F7ACFF">
                    <a:alpha val="96000"/>
                  </a:srgbClr>
                </a:gs>
              </a:gsLst>
              <a:lin ang="0"/>
            </a:gradFill>
          </p:spPr>
        </p:sp>
        <p:sp>
          <p:nvSpPr>
            <p:cNvPr id="22" name="TextBox 22"/>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pPr>
              <a:endParaRPr/>
            </a:p>
          </p:txBody>
        </p:sp>
      </p:grpSp>
      <p:sp>
        <p:nvSpPr>
          <p:cNvPr id="23" name="Freeform 23"/>
          <p:cNvSpPr/>
          <p:nvPr/>
        </p:nvSpPr>
        <p:spPr>
          <a:xfrm>
            <a:off x="15244648" y="4135438"/>
            <a:ext cx="1395330" cy="1045050"/>
          </a:xfrm>
          <a:custGeom>
            <a:avLst/>
            <a:gdLst/>
            <a:ahLst/>
            <a:cxnLst/>
            <a:rect l="l" t="t" r="r" b="b"/>
            <a:pathLst>
              <a:path w="1395330" h="1045050">
                <a:moveTo>
                  <a:pt x="0" y="0"/>
                </a:moveTo>
                <a:lnTo>
                  <a:pt x="1395330" y="0"/>
                </a:lnTo>
                <a:lnTo>
                  <a:pt x="1395330" y="1045050"/>
                </a:lnTo>
                <a:lnTo>
                  <a:pt x="0" y="1045050"/>
                </a:lnTo>
                <a:lnTo>
                  <a:pt x="0" y="0"/>
                </a:lnTo>
                <a:close/>
              </a:path>
            </a:pathLst>
          </a:custGeom>
          <a:blipFill>
            <a:blip r:embed="rId5"/>
            <a:stretch>
              <a:fillRect/>
            </a:stretch>
          </a:blipFill>
        </p:spPr>
      </p:sp>
      <p:grpSp>
        <p:nvGrpSpPr>
          <p:cNvPr id="24" name="Group 24"/>
          <p:cNvGrpSpPr/>
          <p:nvPr/>
        </p:nvGrpSpPr>
        <p:grpSpPr>
          <a:xfrm>
            <a:off x="9476446" y="1521918"/>
            <a:ext cx="3185721" cy="3185721"/>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C67BF">
                    <a:alpha val="58000"/>
                  </a:srgbClr>
                </a:gs>
                <a:gs pos="100000">
                  <a:srgbClr val="F7ACFF">
                    <a:alpha val="0"/>
                  </a:srgbClr>
                </a:gs>
              </a:gsLst>
              <a:lin ang="0"/>
            </a:gradFill>
          </p:spPr>
        </p:sp>
        <p:sp>
          <p:nvSpPr>
            <p:cNvPr id="26" name="TextBox 26"/>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pPr>
              <a:endParaRPr/>
            </a:p>
          </p:txBody>
        </p:sp>
      </p:grpSp>
      <p:sp>
        <p:nvSpPr>
          <p:cNvPr id="27" name="Freeform 30">
            <a:extLst>
              <a:ext uri="{FF2B5EF4-FFF2-40B4-BE49-F238E27FC236}">
                <a16:creationId xmlns:a16="http://schemas.microsoft.com/office/drawing/2014/main" id="{F04FA00B-5875-DFA7-F307-87D9F38F8CDB}"/>
              </a:ext>
            </a:extLst>
          </p:cNvPr>
          <p:cNvSpPr/>
          <p:nvPr/>
        </p:nvSpPr>
        <p:spPr>
          <a:xfrm>
            <a:off x="1028700" y="9444450"/>
            <a:ext cx="415258" cy="415258"/>
          </a:xfrm>
          <a:custGeom>
            <a:avLst/>
            <a:gdLst/>
            <a:ahLst/>
            <a:cxnLst/>
            <a:rect l="l" t="t" r="r" b="b"/>
            <a:pathLst>
              <a:path w="415258" h="415258">
                <a:moveTo>
                  <a:pt x="0" y="0"/>
                </a:moveTo>
                <a:lnTo>
                  <a:pt x="415258" y="0"/>
                </a:lnTo>
                <a:lnTo>
                  <a:pt x="415258" y="415258"/>
                </a:lnTo>
                <a:lnTo>
                  <a:pt x="0" y="415258"/>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fr-F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DE5FF"/>
        </a:solidFill>
        <a:effectLst/>
      </p:bgPr>
    </p:bg>
    <p:spTree>
      <p:nvGrpSpPr>
        <p:cNvPr id="1" name=""/>
        <p:cNvGrpSpPr/>
        <p:nvPr/>
      </p:nvGrpSpPr>
      <p:grpSpPr>
        <a:xfrm>
          <a:off x="0" y="0"/>
          <a:ext cx="0" cy="0"/>
          <a:chOff x="0" y="0"/>
          <a:chExt cx="0" cy="0"/>
        </a:xfrm>
      </p:grpSpPr>
      <p:grpSp>
        <p:nvGrpSpPr>
          <p:cNvPr id="2" name="Group 2"/>
          <p:cNvGrpSpPr/>
          <p:nvPr/>
        </p:nvGrpSpPr>
        <p:grpSpPr>
          <a:xfrm>
            <a:off x="7275947" y="-496215"/>
            <a:ext cx="11264060" cy="11375654"/>
            <a:chOff x="0" y="0"/>
            <a:chExt cx="2966666" cy="2996057"/>
          </a:xfrm>
        </p:grpSpPr>
        <p:sp>
          <p:nvSpPr>
            <p:cNvPr id="3" name="Freeform 3"/>
            <p:cNvSpPr/>
            <p:nvPr/>
          </p:nvSpPr>
          <p:spPr>
            <a:xfrm>
              <a:off x="0" y="0"/>
              <a:ext cx="2966666" cy="2996057"/>
            </a:xfrm>
            <a:custGeom>
              <a:avLst/>
              <a:gdLst/>
              <a:ahLst/>
              <a:cxnLst/>
              <a:rect l="l" t="t" r="r" b="b"/>
              <a:pathLst>
                <a:path w="2966666" h="2996057">
                  <a:moveTo>
                    <a:pt x="0" y="0"/>
                  </a:moveTo>
                  <a:lnTo>
                    <a:pt x="2966666" y="0"/>
                  </a:lnTo>
                  <a:lnTo>
                    <a:pt x="2966666" y="2996057"/>
                  </a:lnTo>
                  <a:lnTo>
                    <a:pt x="0" y="2996057"/>
                  </a:lnTo>
                  <a:close/>
                </a:path>
              </a:pathLst>
            </a:custGeom>
            <a:gradFill rotWithShape="1">
              <a:gsLst>
                <a:gs pos="0">
                  <a:srgbClr val="F7ACFF">
                    <a:alpha val="0"/>
                  </a:srgbClr>
                </a:gs>
                <a:gs pos="50000">
                  <a:srgbClr val="6B4CAF">
                    <a:alpha val="13225"/>
                  </a:srgbClr>
                </a:gs>
                <a:gs pos="100000">
                  <a:srgbClr val="3C67BF">
                    <a:alpha val="23000"/>
                  </a:srgbClr>
                </a:gs>
              </a:gsLst>
              <a:lin ang="0"/>
            </a:gradFill>
          </p:spPr>
        </p:sp>
        <p:sp>
          <p:nvSpPr>
            <p:cNvPr id="4" name="TextBox 4"/>
            <p:cNvSpPr txBox="1"/>
            <p:nvPr/>
          </p:nvSpPr>
          <p:spPr>
            <a:xfrm>
              <a:off x="0" y="-38100"/>
              <a:ext cx="2966666" cy="3034157"/>
            </a:xfrm>
            <a:prstGeom prst="rect">
              <a:avLst/>
            </a:prstGeom>
          </p:spPr>
          <p:txBody>
            <a:bodyPr lIns="50800" tIns="50800" rIns="50800" bIns="50800" rtlCol="0" anchor="ctr"/>
            <a:lstStyle/>
            <a:p>
              <a:pPr marL="0" lvl="0" indent="0" algn="ctr">
                <a:lnSpc>
                  <a:spcPts val="2659"/>
                </a:lnSpc>
              </a:pPr>
              <a:endParaRPr/>
            </a:p>
          </p:txBody>
        </p:sp>
      </p:grpSp>
      <p:grpSp>
        <p:nvGrpSpPr>
          <p:cNvPr id="5" name="Group 5"/>
          <p:cNvGrpSpPr/>
          <p:nvPr/>
        </p:nvGrpSpPr>
        <p:grpSpPr>
          <a:xfrm>
            <a:off x="-1154546" y="-1328013"/>
            <a:ext cx="5214383" cy="521438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C67BF">
                    <a:alpha val="58000"/>
                  </a:srgbClr>
                </a:gs>
                <a:gs pos="100000">
                  <a:srgbClr val="F7ACFF">
                    <a:alpha val="58000"/>
                  </a:srgbClr>
                </a:gs>
              </a:gsLst>
              <a:lin ang="0"/>
            </a:gradFill>
          </p:spPr>
        </p:sp>
        <p:sp>
          <p:nvSpPr>
            <p:cNvPr id="7" name="TextBox 7"/>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pPr>
              <a:endParaRPr/>
            </a:p>
          </p:txBody>
        </p:sp>
      </p:grpSp>
      <p:sp>
        <p:nvSpPr>
          <p:cNvPr id="8" name="Freeform 8"/>
          <p:cNvSpPr/>
          <p:nvPr/>
        </p:nvSpPr>
        <p:spPr>
          <a:xfrm>
            <a:off x="1349938" y="875473"/>
            <a:ext cx="490149" cy="403705"/>
          </a:xfrm>
          <a:custGeom>
            <a:avLst/>
            <a:gdLst/>
            <a:ahLst/>
            <a:cxnLst/>
            <a:rect l="l" t="t" r="r" b="b"/>
            <a:pathLst>
              <a:path w="490149" h="403705">
                <a:moveTo>
                  <a:pt x="0" y="0"/>
                </a:moveTo>
                <a:lnTo>
                  <a:pt x="490149" y="0"/>
                </a:lnTo>
                <a:lnTo>
                  <a:pt x="490149" y="403705"/>
                </a:lnTo>
                <a:lnTo>
                  <a:pt x="0" y="403705"/>
                </a:lnTo>
                <a:lnTo>
                  <a:pt x="0" y="0"/>
                </a:lnTo>
                <a:close/>
              </a:path>
            </a:pathLst>
          </a:custGeom>
          <a:blipFill>
            <a:blip>
              <a:extLst>
                <a:ext uri="{96DAC541-7B7A-43D3-8B79-37D633B846F1}">
                  <asvg:svgBlip xmlns:asvg="http://schemas.microsoft.com/office/drawing/2016/SVG/main" r:embed="rId3"/>
                </a:ext>
              </a:extLst>
            </a:blip>
            <a:stretch>
              <a:fillRect/>
            </a:stretch>
          </a:blipFill>
        </p:spPr>
      </p:sp>
      <p:grpSp>
        <p:nvGrpSpPr>
          <p:cNvPr id="9" name="Group 9"/>
          <p:cNvGrpSpPr>
            <a:grpSpLocks noChangeAspect="1"/>
          </p:cNvGrpSpPr>
          <p:nvPr/>
        </p:nvGrpSpPr>
        <p:grpSpPr>
          <a:xfrm>
            <a:off x="2300919" y="2671455"/>
            <a:ext cx="6136420" cy="6136420"/>
            <a:chOff x="0" y="0"/>
            <a:chExt cx="14840029" cy="14840029"/>
          </a:xfrm>
        </p:grpSpPr>
        <p:sp>
          <p:nvSpPr>
            <p:cNvPr id="10" name="Freeform 10"/>
            <p:cNvSpPr/>
            <p:nvPr/>
          </p:nvSpPr>
          <p:spPr>
            <a:xfrm>
              <a:off x="-33258" y="-75"/>
              <a:ext cx="14906544" cy="14840178"/>
            </a:xfrm>
            <a:custGeom>
              <a:avLst/>
              <a:gdLst/>
              <a:ahLst/>
              <a:cxnLst/>
              <a:rect l="l" t="t" r="r" b="b"/>
              <a:pathLst>
                <a:path w="14906544" h="14840178">
                  <a:moveTo>
                    <a:pt x="7453273" y="75"/>
                  </a:moveTo>
                  <a:cubicBezTo>
                    <a:pt x="4794451" y="-11816"/>
                    <a:pt x="2332496" y="1399825"/>
                    <a:pt x="999642" y="3700470"/>
                  </a:cubicBezTo>
                  <a:cubicBezTo>
                    <a:pt x="-333213" y="6001115"/>
                    <a:pt x="-333213" y="8839064"/>
                    <a:pt x="999642" y="11139709"/>
                  </a:cubicBezTo>
                  <a:cubicBezTo>
                    <a:pt x="2332496" y="13440354"/>
                    <a:pt x="4794451" y="14851995"/>
                    <a:pt x="7453273" y="14840104"/>
                  </a:cubicBezTo>
                  <a:cubicBezTo>
                    <a:pt x="10112093" y="14851995"/>
                    <a:pt x="12574049" y="13440354"/>
                    <a:pt x="13906904" y="11139709"/>
                  </a:cubicBezTo>
                  <a:cubicBezTo>
                    <a:pt x="15239758" y="8839064"/>
                    <a:pt x="15239758" y="6001115"/>
                    <a:pt x="13906904" y="3700470"/>
                  </a:cubicBezTo>
                  <a:cubicBezTo>
                    <a:pt x="12574049" y="1399825"/>
                    <a:pt x="10112093" y="-11816"/>
                    <a:pt x="7453273" y="75"/>
                  </a:cubicBezTo>
                  <a:close/>
                </a:path>
              </a:pathLst>
            </a:custGeom>
            <a:gradFill rotWithShape="1">
              <a:gsLst>
                <a:gs pos="0">
                  <a:srgbClr val="5B45B5">
                    <a:alpha val="100000"/>
                  </a:srgbClr>
                </a:gs>
                <a:gs pos="100000">
                  <a:srgbClr val="8875D7">
                    <a:alpha val="100000"/>
                  </a:srgbClr>
                </a:gs>
              </a:gsLst>
              <a:lin ang="0"/>
            </a:gradFill>
          </p:spPr>
        </p:sp>
        <p:sp>
          <p:nvSpPr>
            <p:cNvPr id="11" name="Freeform 11"/>
            <p:cNvSpPr/>
            <p:nvPr/>
          </p:nvSpPr>
          <p:spPr>
            <a:xfrm>
              <a:off x="168022" y="200309"/>
              <a:ext cx="14503985" cy="14439411"/>
            </a:xfrm>
            <a:custGeom>
              <a:avLst/>
              <a:gdLst/>
              <a:ahLst/>
              <a:cxnLst/>
              <a:rect l="l" t="t" r="r" b="b"/>
              <a:pathLst>
                <a:path w="14503985" h="14439411">
                  <a:moveTo>
                    <a:pt x="7251993" y="73"/>
                  </a:moveTo>
                  <a:cubicBezTo>
                    <a:pt x="4664974" y="-11497"/>
                    <a:pt x="2269506" y="1362022"/>
                    <a:pt x="972645" y="3600537"/>
                  </a:cubicBezTo>
                  <a:cubicBezTo>
                    <a:pt x="-324215" y="5839051"/>
                    <a:pt x="-324215" y="8600360"/>
                    <a:pt x="972645" y="10838875"/>
                  </a:cubicBezTo>
                  <a:cubicBezTo>
                    <a:pt x="2269506" y="13077389"/>
                    <a:pt x="4664974" y="14450908"/>
                    <a:pt x="7251993" y="14439338"/>
                  </a:cubicBezTo>
                  <a:cubicBezTo>
                    <a:pt x="9839011" y="14450908"/>
                    <a:pt x="12234479" y="13077389"/>
                    <a:pt x="13531340" y="10838875"/>
                  </a:cubicBezTo>
                  <a:cubicBezTo>
                    <a:pt x="14828201" y="8600360"/>
                    <a:pt x="14828201" y="5839051"/>
                    <a:pt x="13531340" y="3600537"/>
                  </a:cubicBezTo>
                  <a:cubicBezTo>
                    <a:pt x="12234479" y="1362022"/>
                    <a:pt x="9839011" y="-11497"/>
                    <a:pt x="7251993" y="73"/>
                  </a:cubicBezTo>
                  <a:close/>
                </a:path>
              </a:pathLst>
            </a:custGeom>
            <a:solidFill>
              <a:srgbClr val="FFFFFF"/>
            </a:solidFill>
          </p:spPr>
        </p:sp>
        <p:sp>
          <p:nvSpPr>
            <p:cNvPr id="12" name="Freeform 12"/>
            <p:cNvSpPr/>
            <p:nvPr/>
          </p:nvSpPr>
          <p:spPr>
            <a:xfrm>
              <a:off x="531276" y="561946"/>
              <a:ext cx="13777477" cy="13716137"/>
            </a:xfrm>
            <a:custGeom>
              <a:avLst/>
              <a:gdLst/>
              <a:ahLst/>
              <a:cxnLst/>
              <a:rect l="l" t="t" r="r" b="b"/>
              <a:pathLst>
                <a:path w="13777477" h="13716137">
                  <a:moveTo>
                    <a:pt x="6888739" y="68"/>
                  </a:moveTo>
                  <a:cubicBezTo>
                    <a:pt x="4431305" y="-10922"/>
                    <a:pt x="2155826" y="1293797"/>
                    <a:pt x="923925" y="3420184"/>
                  </a:cubicBezTo>
                  <a:cubicBezTo>
                    <a:pt x="-307975" y="5546571"/>
                    <a:pt x="-307975" y="8169565"/>
                    <a:pt x="923925" y="10295952"/>
                  </a:cubicBezTo>
                  <a:cubicBezTo>
                    <a:pt x="2155826" y="12422339"/>
                    <a:pt x="4431305" y="13727058"/>
                    <a:pt x="6888739" y="13716068"/>
                  </a:cubicBezTo>
                  <a:cubicBezTo>
                    <a:pt x="9346172" y="13727058"/>
                    <a:pt x="11621651" y="12422339"/>
                    <a:pt x="12853552" y="10295952"/>
                  </a:cubicBezTo>
                  <a:cubicBezTo>
                    <a:pt x="14085452" y="8169565"/>
                    <a:pt x="14085452" y="5546571"/>
                    <a:pt x="12853552" y="3420184"/>
                  </a:cubicBezTo>
                  <a:cubicBezTo>
                    <a:pt x="11621651" y="1293797"/>
                    <a:pt x="9346172" y="-10922"/>
                    <a:pt x="6888739" y="68"/>
                  </a:cubicBezTo>
                  <a:close/>
                </a:path>
              </a:pathLst>
            </a:custGeom>
            <a:blipFill>
              <a:blip r:embed="rId4"/>
              <a:stretch>
                <a:fillRect l="223" r="223"/>
              </a:stretch>
            </a:blipFill>
          </p:spPr>
        </p:sp>
      </p:grpSp>
      <p:sp>
        <p:nvSpPr>
          <p:cNvPr id="13" name="TextBox 13"/>
          <p:cNvSpPr txBox="1"/>
          <p:nvPr/>
        </p:nvSpPr>
        <p:spPr>
          <a:xfrm>
            <a:off x="1949447" y="952168"/>
            <a:ext cx="1194260" cy="288416"/>
          </a:xfrm>
          <a:prstGeom prst="rect">
            <a:avLst/>
          </a:prstGeom>
        </p:spPr>
        <p:txBody>
          <a:bodyPr lIns="0" tIns="0" rIns="0" bIns="0" rtlCol="0" anchor="t">
            <a:spAutoFit/>
          </a:bodyPr>
          <a:lstStyle/>
          <a:p>
            <a:pPr marL="0" lvl="0" indent="0" algn="l">
              <a:lnSpc>
                <a:spcPts val="2243"/>
              </a:lnSpc>
            </a:pPr>
            <a:r>
              <a:rPr lang="en-US" sz="2199" b="1">
                <a:solidFill>
                  <a:srgbClr val="240960"/>
                </a:solidFill>
                <a:latin typeface="Montserrat Bold"/>
                <a:ea typeface="Montserrat Bold"/>
                <a:cs typeface="Montserrat Bold"/>
                <a:sym typeface="Montserrat Bold"/>
              </a:rPr>
              <a:t>Raft</a:t>
            </a:r>
          </a:p>
        </p:txBody>
      </p:sp>
      <p:sp>
        <p:nvSpPr>
          <p:cNvPr id="14" name="TextBox 14"/>
          <p:cNvSpPr txBox="1"/>
          <p:nvPr/>
        </p:nvSpPr>
        <p:spPr>
          <a:xfrm>
            <a:off x="9101383" y="2173447"/>
            <a:ext cx="3806594" cy="499342"/>
          </a:xfrm>
          <a:prstGeom prst="rect">
            <a:avLst/>
          </a:prstGeom>
        </p:spPr>
        <p:txBody>
          <a:bodyPr lIns="0" tIns="0" rIns="0" bIns="0" rtlCol="0" anchor="t">
            <a:spAutoFit/>
          </a:bodyPr>
          <a:lstStyle/>
          <a:p>
            <a:pPr marL="0" lvl="0" indent="0" algn="l">
              <a:lnSpc>
                <a:spcPts val="3599"/>
              </a:lnSpc>
            </a:pPr>
            <a:r>
              <a:rPr lang="en-US" sz="4499" b="1" dirty="0" err="1">
                <a:solidFill>
                  <a:srgbClr val="240960"/>
                </a:solidFill>
                <a:latin typeface="Montserrat Bold"/>
                <a:ea typeface="Montserrat Bold"/>
                <a:cs typeface="Montserrat Bold"/>
                <a:sym typeface="Montserrat Bold"/>
              </a:rPr>
              <a:t>Pourquoi</a:t>
            </a:r>
            <a:r>
              <a:rPr lang="en-US" sz="4499" b="1" dirty="0">
                <a:solidFill>
                  <a:srgbClr val="240960"/>
                </a:solidFill>
                <a:latin typeface="Montserrat Bold"/>
                <a:ea typeface="Montserrat Bold"/>
                <a:cs typeface="Montserrat Bold"/>
                <a:sym typeface="Montserrat Bold"/>
              </a:rPr>
              <a:t> un</a:t>
            </a:r>
          </a:p>
        </p:txBody>
      </p:sp>
      <p:sp>
        <p:nvSpPr>
          <p:cNvPr id="15" name="TextBox 15"/>
          <p:cNvSpPr txBox="1"/>
          <p:nvPr/>
        </p:nvSpPr>
        <p:spPr>
          <a:xfrm>
            <a:off x="9063283" y="2902825"/>
            <a:ext cx="8067077" cy="499342"/>
          </a:xfrm>
          <a:prstGeom prst="rect">
            <a:avLst/>
          </a:prstGeom>
        </p:spPr>
        <p:txBody>
          <a:bodyPr lIns="0" tIns="0" rIns="0" bIns="0" rtlCol="0" anchor="t">
            <a:spAutoFit/>
          </a:bodyPr>
          <a:lstStyle/>
          <a:p>
            <a:pPr marL="0" lvl="0" indent="0" algn="l">
              <a:lnSpc>
                <a:spcPts val="3599"/>
              </a:lnSpc>
            </a:pPr>
            <a:r>
              <a:rPr lang="en-US" sz="4499">
                <a:solidFill>
                  <a:srgbClr val="240960"/>
                </a:solidFill>
                <a:latin typeface="Montserrat"/>
                <a:ea typeface="Montserrat"/>
                <a:cs typeface="Montserrat"/>
                <a:sym typeface="Montserrat"/>
              </a:rPr>
              <a:t>algorithme de consensus ?</a:t>
            </a:r>
          </a:p>
        </p:txBody>
      </p:sp>
      <p:grpSp>
        <p:nvGrpSpPr>
          <p:cNvPr id="16" name="Group 16"/>
          <p:cNvGrpSpPr>
            <a:grpSpLocks noChangeAspect="1"/>
          </p:cNvGrpSpPr>
          <p:nvPr/>
        </p:nvGrpSpPr>
        <p:grpSpPr>
          <a:xfrm>
            <a:off x="1349938" y="5907599"/>
            <a:ext cx="3038039" cy="3038039"/>
            <a:chOff x="0" y="0"/>
            <a:chExt cx="14840029" cy="14840029"/>
          </a:xfrm>
        </p:grpSpPr>
        <p:sp>
          <p:nvSpPr>
            <p:cNvPr id="17" name="Freeform 17"/>
            <p:cNvSpPr/>
            <p:nvPr/>
          </p:nvSpPr>
          <p:spPr>
            <a:xfrm>
              <a:off x="-33258" y="-75"/>
              <a:ext cx="14906544" cy="14840178"/>
            </a:xfrm>
            <a:custGeom>
              <a:avLst/>
              <a:gdLst/>
              <a:ahLst/>
              <a:cxnLst/>
              <a:rect l="l" t="t" r="r" b="b"/>
              <a:pathLst>
                <a:path w="14906544" h="14840178">
                  <a:moveTo>
                    <a:pt x="7453273" y="75"/>
                  </a:moveTo>
                  <a:cubicBezTo>
                    <a:pt x="4794451" y="-11816"/>
                    <a:pt x="2332496" y="1399825"/>
                    <a:pt x="999642" y="3700470"/>
                  </a:cubicBezTo>
                  <a:cubicBezTo>
                    <a:pt x="-333213" y="6001115"/>
                    <a:pt x="-333213" y="8839064"/>
                    <a:pt x="999642" y="11139709"/>
                  </a:cubicBezTo>
                  <a:cubicBezTo>
                    <a:pt x="2332496" y="13440354"/>
                    <a:pt x="4794451" y="14851995"/>
                    <a:pt x="7453273" y="14840104"/>
                  </a:cubicBezTo>
                  <a:cubicBezTo>
                    <a:pt x="10112093" y="14851995"/>
                    <a:pt x="12574049" y="13440354"/>
                    <a:pt x="13906904" y="11139709"/>
                  </a:cubicBezTo>
                  <a:cubicBezTo>
                    <a:pt x="15239758" y="8839064"/>
                    <a:pt x="15239758" y="6001115"/>
                    <a:pt x="13906904" y="3700470"/>
                  </a:cubicBezTo>
                  <a:cubicBezTo>
                    <a:pt x="12574049" y="1399825"/>
                    <a:pt x="10112093" y="-11816"/>
                    <a:pt x="7453273" y="75"/>
                  </a:cubicBezTo>
                  <a:close/>
                </a:path>
              </a:pathLst>
            </a:custGeom>
            <a:gradFill rotWithShape="1">
              <a:gsLst>
                <a:gs pos="0">
                  <a:srgbClr val="3C67BF">
                    <a:alpha val="100000"/>
                  </a:srgbClr>
                </a:gs>
                <a:gs pos="100000">
                  <a:srgbClr val="F7ACFF">
                    <a:alpha val="100000"/>
                  </a:srgbClr>
                </a:gs>
              </a:gsLst>
              <a:lin ang="0"/>
            </a:gradFill>
          </p:spPr>
        </p:sp>
        <p:sp>
          <p:nvSpPr>
            <p:cNvPr id="18" name="Freeform 18"/>
            <p:cNvSpPr/>
            <p:nvPr/>
          </p:nvSpPr>
          <p:spPr>
            <a:xfrm>
              <a:off x="168022" y="200309"/>
              <a:ext cx="14503985" cy="14439411"/>
            </a:xfrm>
            <a:custGeom>
              <a:avLst/>
              <a:gdLst/>
              <a:ahLst/>
              <a:cxnLst/>
              <a:rect l="l" t="t" r="r" b="b"/>
              <a:pathLst>
                <a:path w="14503985" h="14439411">
                  <a:moveTo>
                    <a:pt x="7251993" y="73"/>
                  </a:moveTo>
                  <a:cubicBezTo>
                    <a:pt x="4664974" y="-11497"/>
                    <a:pt x="2269506" y="1362022"/>
                    <a:pt x="972645" y="3600537"/>
                  </a:cubicBezTo>
                  <a:cubicBezTo>
                    <a:pt x="-324215" y="5839051"/>
                    <a:pt x="-324215" y="8600360"/>
                    <a:pt x="972645" y="10838875"/>
                  </a:cubicBezTo>
                  <a:cubicBezTo>
                    <a:pt x="2269506" y="13077389"/>
                    <a:pt x="4664974" y="14450908"/>
                    <a:pt x="7251993" y="14439338"/>
                  </a:cubicBezTo>
                  <a:cubicBezTo>
                    <a:pt x="9839011" y="14450908"/>
                    <a:pt x="12234479" y="13077389"/>
                    <a:pt x="13531340" y="10838875"/>
                  </a:cubicBezTo>
                  <a:cubicBezTo>
                    <a:pt x="14828201" y="8600360"/>
                    <a:pt x="14828201" y="5839051"/>
                    <a:pt x="13531340" y="3600537"/>
                  </a:cubicBezTo>
                  <a:cubicBezTo>
                    <a:pt x="12234479" y="1362022"/>
                    <a:pt x="9839011" y="-11497"/>
                    <a:pt x="7251993" y="73"/>
                  </a:cubicBezTo>
                  <a:close/>
                </a:path>
              </a:pathLst>
            </a:custGeom>
            <a:solidFill>
              <a:srgbClr val="FFFFFF"/>
            </a:solidFill>
          </p:spPr>
        </p:sp>
        <p:sp>
          <p:nvSpPr>
            <p:cNvPr id="19" name="Freeform 19"/>
            <p:cNvSpPr/>
            <p:nvPr/>
          </p:nvSpPr>
          <p:spPr>
            <a:xfrm>
              <a:off x="531276" y="561946"/>
              <a:ext cx="13777477" cy="13716137"/>
            </a:xfrm>
            <a:custGeom>
              <a:avLst/>
              <a:gdLst/>
              <a:ahLst/>
              <a:cxnLst/>
              <a:rect l="l" t="t" r="r" b="b"/>
              <a:pathLst>
                <a:path w="13777477" h="13716137">
                  <a:moveTo>
                    <a:pt x="6888739" y="68"/>
                  </a:moveTo>
                  <a:cubicBezTo>
                    <a:pt x="4431305" y="-10922"/>
                    <a:pt x="2155826" y="1293797"/>
                    <a:pt x="923925" y="3420184"/>
                  </a:cubicBezTo>
                  <a:cubicBezTo>
                    <a:pt x="-307975" y="5546571"/>
                    <a:pt x="-307975" y="8169565"/>
                    <a:pt x="923925" y="10295952"/>
                  </a:cubicBezTo>
                  <a:cubicBezTo>
                    <a:pt x="2155826" y="12422339"/>
                    <a:pt x="4431305" y="13727058"/>
                    <a:pt x="6888739" y="13716068"/>
                  </a:cubicBezTo>
                  <a:cubicBezTo>
                    <a:pt x="9346172" y="13727058"/>
                    <a:pt x="11621651" y="12422339"/>
                    <a:pt x="12853552" y="10295952"/>
                  </a:cubicBezTo>
                  <a:cubicBezTo>
                    <a:pt x="14085452" y="8169565"/>
                    <a:pt x="14085452" y="5546571"/>
                    <a:pt x="12853552" y="3420184"/>
                  </a:cubicBezTo>
                  <a:cubicBezTo>
                    <a:pt x="11621651" y="1293797"/>
                    <a:pt x="9346172" y="-10922"/>
                    <a:pt x="6888739" y="68"/>
                  </a:cubicBezTo>
                  <a:close/>
                </a:path>
              </a:pathLst>
            </a:custGeom>
            <a:blipFill>
              <a:blip r:embed="rId5"/>
              <a:stretch>
                <a:fillRect l="223" r="223"/>
              </a:stretch>
            </a:blipFill>
          </p:spPr>
        </p:sp>
      </p:grpSp>
      <p:grpSp>
        <p:nvGrpSpPr>
          <p:cNvPr id="20" name="Group 20"/>
          <p:cNvGrpSpPr/>
          <p:nvPr/>
        </p:nvGrpSpPr>
        <p:grpSpPr>
          <a:xfrm>
            <a:off x="-908020" y="7636544"/>
            <a:ext cx="4721330" cy="4721330"/>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C67BF">
                    <a:alpha val="96000"/>
                  </a:srgbClr>
                </a:gs>
                <a:gs pos="100000">
                  <a:srgbClr val="F7ACFF">
                    <a:alpha val="0"/>
                  </a:srgbClr>
                </a:gs>
              </a:gsLst>
              <a:lin ang="0"/>
            </a:gradFill>
          </p:spPr>
        </p:sp>
        <p:sp>
          <p:nvSpPr>
            <p:cNvPr id="22" name="TextBox 22"/>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pPr>
              <a:endParaRPr/>
            </a:p>
          </p:txBody>
        </p:sp>
      </p:grpSp>
      <p:sp>
        <p:nvSpPr>
          <p:cNvPr id="23" name="TextBox 23"/>
          <p:cNvSpPr txBox="1"/>
          <p:nvPr/>
        </p:nvSpPr>
        <p:spPr>
          <a:xfrm>
            <a:off x="9640701" y="5020425"/>
            <a:ext cx="7133612" cy="1032970"/>
          </a:xfrm>
          <a:prstGeom prst="rect">
            <a:avLst/>
          </a:prstGeom>
        </p:spPr>
        <p:txBody>
          <a:bodyPr lIns="0" tIns="0" rIns="0" bIns="0" rtlCol="0" anchor="t">
            <a:spAutoFit/>
          </a:bodyPr>
          <a:lstStyle/>
          <a:p>
            <a:pPr marL="0" lvl="0" indent="0" algn="l">
              <a:lnSpc>
                <a:spcPts val="2063"/>
              </a:lnSpc>
            </a:pPr>
            <a:r>
              <a:rPr lang="en-US" sz="1810" dirty="0">
                <a:solidFill>
                  <a:srgbClr val="240960"/>
                </a:solidFill>
                <a:latin typeface="Montserrat"/>
                <a:ea typeface="Montserrat"/>
                <a:cs typeface="Montserrat"/>
                <a:sym typeface="Montserrat"/>
              </a:rPr>
              <a:t>Dans un </a:t>
            </a:r>
            <a:r>
              <a:rPr lang="en-US" sz="1810" dirty="0" err="1">
                <a:solidFill>
                  <a:srgbClr val="240960"/>
                </a:solidFill>
                <a:latin typeface="Montserrat"/>
                <a:ea typeface="Montserrat"/>
                <a:cs typeface="Montserrat"/>
                <a:sym typeface="Montserrat"/>
              </a:rPr>
              <a:t>système</a:t>
            </a:r>
            <a:r>
              <a:rPr lang="en-US" sz="1810" dirty="0">
                <a:solidFill>
                  <a:srgbClr val="240960"/>
                </a:solidFill>
                <a:latin typeface="Montserrat"/>
                <a:ea typeface="Montserrat"/>
                <a:cs typeface="Montserrat"/>
                <a:sym typeface="Montserrat"/>
              </a:rPr>
              <a:t> </a:t>
            </a:r>
            <a:r>
              <a:rPr lang="en-US" sz="1810" dirty="0" err="1">
                <a:solidFill>
                  <a:srgbClr val="240960"/>
                </a:solidFill>
                <a:latin typeface="Montserrat"/>
                <a:ea typeface="Montserrat"/>
                <a:cs typeface="Montserrat"/>
                <a:sym typeface="Montserrat"/>
              </a:rPr>
              <a:t>distribué</a:t>
            </a:r>
            <a:r>
              <a:rPr lang="en-US" sz="1810" dirty="0">
                <a:solidFill>
                  <a:srgbClr val="240960"/>
                </a:solidFill>
                <a:latin typeface="Montserrat"/>
                <a:ea typeface="Montserrat"/>
                <a:cs typeface="Montserrat"/>
                <a:sym typeface="Montserrat"/>
              </a:rPr>
              <a:t>, les </a:t>
            </a:r>
            <a:r>
              <a:rPr lang="en-US" sz="1810" dirty="0" err="1">
                <a:solidFill>
                  <a:srgbClr val="240960"/>
                </a:solidFill>
                <a:latin typeface="Montserrat"/>
                <a:ea typeface="Montserrat"/>
                <a:cs typeface="Montserrat"/>
                <a:sym typeface="Montserrat"/>
              </a:rPr>
              <a:t>nœuds</a:t>
            </a:r>
            <a:r>
              <a:rPr lang="en-US" sz="1810" dirty="0">
                <a:solidFill>
                  <a:srgbClr val="240960"/>
                </a:solidFill>
                <a:latin typeface="Montserrat"/>
                <a:ea typeface="Montserrat"/>
                <a:cs typeface="Montserrat"/>
                <a:sym typeface="Montserrat"/>
              </a:rPr>
              <a:t> </a:t>
            </a:r>
            <a:r>
              <a:rPr lang="en-US" sz="1810" dirty="0" err="1">
                <a:solidFill>
                  <a:srgbClr val="240960"/>
                </a:solidFill>
                <a:latin typeface="Montserrat"/>
                <a:ea typeface="Montserrat"/>
                <a:cs typeface="Montserrat"/>
                <a:sym typeface="Montserrat"/>
              </a:rPr>
              <a:t>doivent</a:t>
            </a:r>
            <a:r>
              <a:rPr lang="en-US" sz="1810" dirty="0">
                <a:solidFill>
                  <a:srgbClr val="240960"/>
                </a:solidFill>
                <a:latin typeface="Montserrat"/>
                <a:ea typeface="Montserrat"/>
                <a:cs typeface="Montserrat"/>
                <a:sym typeface="Montserrat"/>
              </a:rPr>
              <a:t> </a:t>
            </a:r>
            <a:r>
              <a:rPr lang="en-US" sz="1810" dirty="0" err="1">
                <a:solidFill>
                  <a:srgbClr val="240960"/>
                </a:solidFill>
                <a:latin typeface="Montserrat"/>
                <a:ea typeface="Montserrat"/>
                <a:cs typeface="Montserrat"/>
                <a:sym typeface="Montserrat"/>
              </a:rPr>
              <a:t>s'accorder</a:t>
            </a:r>
            <a:r>
              <a:rPr lang="en-US" sz="1810" dirty="0">
                <a:solidFill>
                  <a:srgbClr val="240960"/>
                </a:solidFill>
                <a:latin typeface="Montserrat"/>
                <a:ea typeface="Montserrat"/>
                <a:cs typeface="Montserrat"/>
                <a:sym typeface="Montserrat"/>
              </a:rPr>
              <a:t> malgré les </a:t>
            </a:r>
            <a:r>
              <a:rPr lang="en-US" sz="1810" dirty="0" err="1">
                <a:solidFill>
                  <a:srgbClr val="240960"/>
                </a:solidFill>
                <a:latin typeface="Montserrat"/>
                <a:ea typeface="Montserrat"/>
                <a:cs typeface="Montserrat"/>
                <a:sym typeface="Montserrat"/>
              </a:rPr>
              <a:t>pannes</a:t>
            </a:r>
            <a:r>
              <a:rPr lang="en-US" sz="1810" dirty="0">
                <a:solidFill>
                  <a:srgbClr val="240960"/>
                </a:solidFill>
                <a:latin typeface="Montserrat"/>
                <a:ea typeface="Montserrat"/>
                <a:cs typeface="Montserrat"/>
                <a:sym typeface="Montserrat"/>
              </a:rPr>
              <a:t> et les retards réseau. Sans </a:t>
            </a:r>
            <a:r>
              <a:rPr lang="en-US" sz="1810" dirty="0" err="1">
                <a:solidFill>
                  <a:srgbClr val="240960"/>
                </a:solidFill>
                <a:latin typeface="Montserrat"/>
                <a:ea typeface="Montserrat"/>
                <a:cs typeface="Montserrat"/>
                <a:sym typeface="Montserrat"/>
              </a:rPr>
              <a:t>mécanisme</a:t>
            </a:r>
            <a:r>
              <a:rPr lang="en-US" sz="1810" dirty="0">
                <a:solidFill>
                  <a:srgbClr val="240960"/>
                </a:solidFill>
                <a:latin typeface="Montserrat"/>
                <a:ea typeface="Montserrat"/>
                <a:cs typeface="Montserrat"/>
                <a:sym typeface="Montserrat"/>
              </a:rPr>
              <a:t> de consensus, les données </a:t>
            </a:r>
            <a:r>
              <a:rPr lang="en-US" sz="1810" dirty="0" err="1">
                <a:solidFill>
                  <a:srgbClr val="240960"/>
                </a:solidFill>
                <a:latin typeface="Montserrat"/>
                <a:ea typeface="Montserrat"/>
                <a:cs typeface="Montserrat"/>
                <a:sym typeface="Montserrat"/>
              </a:rPr>
              <a:t>peuvent</a:t>
            </a:r>
            <a:r>
              <a:rPr lang="en-US" sz="1810" dirty="0">
                <a:solidFill>
                  <a:srgbClr val="240960"/>
                </a:solidFill>
                <a:latin typeface="Montserrat"/>
                <a:ea typeface="Montserrat"/>
                <a:cs typeface="Montserrat"/>
                <a:sym typeface="Montserrat"/>
              </a:rPr>
              <a:t> </a:t>
            </a:r>
            <a:r>
              <a:rPr lang="en-US" sz="1810" dirty="0" err="1">
                <a:solidFill>
                  <a:srgbClr val="240960"/>
                </a:solidFill>
                <a:latin typeface="Montserrat"/>
                <a:ea typeface="Montserrat"/>
                <a:cs typeface="Montserrat"/>
                <a:sym typeface="Montserrat"/>
              </a:rPr>
              <a:t>diverger</a:t>
            </a:r>
            <a:r>
              <a:rPr lang="en-US" sz="1810" dirty="0">
                <a:solidFill>
                  <a:srgbClr val="240960"/>
                </a:solidFill>
                <a:latin typeface="Montserrat"/>
                <a:ea typeface="Montserrat"/>
                <a:cs typeface="Montserrat"/>
                <a:sym typeface="Montserrat"/>
              </a:rPr>
              <a:t> et </a:t>
            </a:r>
            <a:r>
              <a:rPr lang="en-US" sz="1810" dirty="0" err="1">
                <a:solidFill>
                  <a:srgbClr val="240960"/>
                </a:solidFill>
                <a:latin typeface="Montserrat"/>
                <a:ea typeface="Montserrat"/>
                <a:cs typeface="Montserrat"/>
                <a:sym typeface="Montserrat"/>
              </a:rPr>
              <a:t>créer</a:t>
            </a:r>
            <a:r>
              <a:rPr lang="en-US" sz="1810" dirty="0">
                <a:solidFill>
                  <a:srgbClr val="240960"/>
                </a:solidFill>
                <a:latin typeface="Montserrat"/>
                <a:ea typeface="Montserrat"/>
                <a:cs typeface="Montserrat"/>
                <a:sym typeface="Montserrat"/>
              </a:rPr>
              <a:t> des </a:t>
            </a:r>
            <a:r>
              <a:rPr lang="en-US" sz="1810" dirty="0" err="1">
                <a:solidFill>
                  <a:srgbClr val="240960"/>
                </a:solidFill>
                <a:latin typeface="Montserrat"/>
                <a:ea typeface="Montserrat"/>
                <a:cs typeface="Montserrat"/>
                <a:sym typeface="Montserrat"/>
              </a:rPr>
              <a:t>incohérences</a:t>
            </a:r>
            <a:r>
              <a:rPr lang="en-US" sz="1810" dirty="0">
                <a:solidFill>
                  <a:srgbClr val="240960"/>
                </a:solidFill>
                <a:latin typeface="Montserrat"/>
                <a:ea typeface="Montserrat"/>
                <a:cs typeface="Montserrat"/>
                <a:sym typeface="Montserrat"/>
              </a:rPr>
              <a:t> critiques.</a:t>
            </a:r>
          </a:p>
        </p:txBody>
      </p:sp>
      <p:grpSp>
        <p:nvGrpSpPr>
          <p:cNvPr id="24" name="Group 24"/>
          <p:cNvGrpSpPr/>
          <p:nvPr/>
        </p:nvGrpSpPr>
        <p:grpSpPr>
          <a:xfrm>
            <a:off x="9275019" y="4524834"/>
            <a:ext cx="262038" cy="262038"/>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5B45B5">
                    <a:alpha val="96000"/>
                  </a:srgbClr>
                </a:gs>
                <a:gs pos="100000">
                  <a:srgbClr val="8875D7">
                    <a:alpha val="96000"/>
                  </a:srgbClr>
                </a:gs>
              </a:gsLst>
              <a:lin ang="0"/>
            </a:gradFill>
          </p:spPr>
        </p:sp>
        <p:sp>
          <p:nvSpPr>
            <p:cNvPr id="26" name="TextBox 26"/>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pPr>
              <a:endParaRPr/>
            </a:p>
          </p:txBody>
        </p:sp>
      </p:grpSp>
      <p:sp>
        <p:nvSpPr>
          <p:cNvPr id="27" name="TextBox 27"/>
          <p:cNvSpPr txBox="1"/>
          <p:nvPr/>
        </p:nvSpPr>
        <p:spPr>
          <a:xfrm>
            <a:off x="9640701" y="4567507"/>
            <a:ext cx="3456120" cy="252893"/>
          </a:xfrm>
          <a:prstGeom prst="rect">
            <a:avLst/>
          </a:prstGeom>
        </p:spPr>
        <p:txBody>
          <a:bodyPr lIns="0" tIns="0" rIns="0" bIns="0" rtlCol="0" anchor="t">
            <a:spAutoFit/>
          </a:bodyPr>
          <a:lstStyle/>
          <a:p>
            <a:pPr marL="0" lvl="0" indent="0" algn="l">
              <a:lnSpc>
                <a:spcPts val="1732"/>
              </a:lnSpc>
            </a:pPr>
            <a:r>
              <a:rPr lang="en-US" sz="2165" b="1">
                <a:solidFill>
                  <a:srgbClr val="240960"/>
                </a:solidFill>
                <a:latin typeface="Montserrat Bold"/>
                <a:ea typeface="Montserrat Bold"/>
                <a:cs typeface="Montserrat Bold"/>
                <a:sym typeface="Montserrat Bold"/>
              </a:rPr>
              <a:t>Systèmes distribués</a:t>
            </a:r>
          </a:p>
        </p:txBody>
      </p:sp>
      <p:sp>
        <p:nvSpPr>
          <p:cNvPr id="28" name="TextBox 28"/>
          <p:cNvSpPr txBox="1"/>
          <p:nvPr/>
        </p:nvSpPr>
        <p:spPr>
          <a:xfrm>
            <a:off x="9632473" y="7173269"/>
            <a:ext cx="7141841" cy="775795"/>
          </a:xfrm>
          <a:prstGeom prst="rect">
            <a:avLst/>
          </a:prstGeom>
        </p:spPr>
        <p:txBody>
          <a:bodyPr lIns="0" tIns="0" rIns="0" bIns="0" rtlCol="0" anchor="t">
            <a:spAutoFit/>
          </a:bodyPr>
          <a:lstStyle/>
          <a:p>
            <a:pPr marL="0" lvl="0" indent="0" algn="l">
              <a:lnSpc>
                <a:spcPts val="2063"/>
              </a:lnSpc>
            </a:pPr>
            <a:r>
              <a:rPr lang="en-US" sz="1810">
                <a:solidFill>
                  <a:srgbClr val="240960"/>
                </a:solidFill>
                <a:latin typeface="Montserrat"/>
                <a:ea typeface="Montserrat"/>
                <a:cs typeface="Montserrat"/>
                <a:sym typeface="Montserrat"/>
              </a:rPr>
              <a:t>Exemple : maintenir des métadonnées, configurations ou verrous cohérents entre plusieurs serveurs. La tolérance aux pannes est essentielle pour garantir la disponibilité du service.</a:t>
            </a:r>
          </a:p>
        </p:txBody>
      </p:sp>
      <p:grpSp>
        <p:nvGrpSpPr>
          <p:cNvPr id="29" name="Group 29"/>
          <p:cNvGrpSpPr/>
          <p:nvPr/>
        </p:nvGrpSpPr>
        <p:grpSpPr>
          <a:xfrm>
            <a:off x="9275019" y="6675209"/>
            <a:ext cx="262038" cy="262038"/>
            <a:chOff x="0" y="0"/>
            <a:chExt cx="812800" cy="812800"/>
          </a:xfrm>
        </p:grpSpPr>
        <p:sp>
          <p:nvSpPr>
            <p:cNvPr id="30" name="Freeform 3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5B45B5">
                    <a:alpha val="96000"/>
                  </a:srgbClr>
                </a:gs>
                <a:gs pos="100000">
                  <a:srgbClr val="8875D7">
                    <a:alpha val="96000"/>
                  </a:srgbClr>
                </a:gs>
              </a:gsLst>
              <a:lin ang="0"/>
            </a:gradFill>
          </p:spPr>
        </p:sp>
        <p:sp>
          <p:nvSpPr>
            <p:cNvPr id="31" name="TextBox 31"/>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pPr>
              <a:endParaRPr/>
            </a:p>
          </p:txBody>
        </p:sp>
      </p:grpSp>
      <p:sp>
        <p:nvSpPr>
          <p:cNvPr id="32" name="TextBox 32"/>
          <p:cNvSpPr txBox="1"/>
          <p:nvPr/>
        </p:nvSpPr>
        <p:spPr>
          <a:xfrm>
            <a:off x="9632473" y="6717882"/>
            <a:ext cx="4967581" cy="252893"/>
          </a:xfrm>
          <a:prstGeom prst="rect">
            <a:avLst/>
          </a:prstGeom>
        </p:spPr>
        <p:txBody>
          <a:bodyPr lIns="0" tIns="0" rIns="0" bIns="0" rtlCol="0" anchor="t">
            <a:spAutoFit/>
          </a:bodyPr>
          <a:lstStyle/>
          <a:p>
            <a:pPr marL="0" lvl="0" indent="0" algn="l">
              <a:lnSpc>
                <a:spcPts val="1732"/>
              </a:lnSpc>
            </a:pPr>
            <a:r>
              <a:rPr lang="en-US" sz="2165" b="1">
                <a:solidFill>
                  <a:srgbClr val="240960"/>
                </a:solidFill>
                <a:latin typeface="Montserrat Bold"/>
                <a:ea typeface="Montserrat Bold"/>
                <a:cs typeface="Montserrat Bold"/>
                <a:sym typeface="Montserrat Bold"/>
              </a:rPr>
              <a:t>Cohérence des données</a:t>
            </a:r>
          </a:p>
        </p:txBody>
      </p:sp>
      <p:sp>
        <p:nvSpPr>
          <p:cNvPr id="33" name="Freeform 33"/>
          <p:cNvSpPr/>
          <p:nvPr/>
        </p:nvSpPr>
        <p:spPr>
          <a:xfrm>
            <a:off x="1028700" y="9444450"/>
            <a:ext cx="415258" cy="415258"/>
          </a:xfrm>
          <a:custGeom>
            <a:avLst/>
            <a:gdLst/>
            <a:ahLst/>
            <a:cxnLst/>
            <a:rect l="l" t="t" r="r" b="b"/>
            <a:pathLst>
              <a:path w="415258" h="415258">
                <a:moveTo>
                  <a:pt x="0" y="0"/>
                </a:moveTo>
                <a:lnTo>
                  <a:pt x="415258" y="0"/>
                </a:lnTo>
                <a:lnTo>
                  <a:pt x="415258" y="415258"/>
                </a:lnTo>
                <a:lnTo>
                  <a:pt x="0" y="415258"/>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34" name="TextBox 34"/>
          <p:cNvSpPr txBox="1"/>
          <p:nvPr/>
        </p:nvSpPr>
        <p:spPr>
          <a:xfrm>
            <a:off x="16050268" y="9473025"/>
            <a:ext cx="724046" cy="242707"/>
          </a:xfrm>
          <a:prstGeom prst="rect">
            <a:avLst/>
          </a:prstGeom>
        </p:spPr>
        <p:txBody>
          <a:bodyPr lIns="0" tIns="0" rIns="0" bIns="0" rtlCol="0" anchor="t">
            <a:spAutoFit/>
          </a:bodyPr>
          <a:lstStyle/>
          <a:p>
            <a:pPr marL="0" lvl="0" indent="0" algn="l">
              <a:lnSpc>
                <a:spcPts val="1857"/>
              </a:lnSpc>
            </a:pPr>
            <a:r>
              <a:rPr lang="en-US" sz="1821" b="1">
                <a:solidFill>
                  <a:srgbClr val="240960"/>
                </a:solidFill>
                <a:latin typeface="Montserrat Bold"/>
                <a:ea typeface="Montserrat Bold"/>
                <a:cs typeface="Montserrat Bold"/>
                <a:sym typeface="Montserrat Bold"/>
              </a:rPr>
              <a:t>Page</a:t>
            </a:r>
          </a:p>
        </p:txBody>
      </p:sp>
      <p:sp>
        <p:nvSpPr>
          <p:cNvPr id="35" name="TextBox 35"/>
          <p:cNvSpPr txBox="1"/>
          <p:nvPr/>
        </p:nvSpPr>
        <p:spPr>
          <a:xfrm>
            <a:off x="16774314" y="9507706"/>
            <a:ext cx="484986" cy="208026"/>
          </a:xfrm>
          <a:prstGeom prst="rect">
            <a:avLst/>
          </a:prstGeom>
        </p:spPr>
        <p:txBody>
          <a:bodyPr lIns="0" tIns="0" rIns="0" bIns="0" rtlCol="0" anchor="t">
            <a:spAutoFit/>
          </a:bodyPr>
          <a:lstStyle/>
          <a:p>
            <a:pPr marL="0" lvl="0" indent="0" algn="l">
              <a:lnSpc>
                <a:spcPts val="1631"/>
              </a:lnSpc>
            </a:pPr>
            <a:r>
              <a:rPr lang="en-US" sz="1599">
                <a:solidFill>
                  <a:srgbClr val="240960"/>
                </a:solidFill>
                <a:latin typeface="Montserrat"/>
                <a:ea typeface="Montserrat"/>
                <a:cs typeface="Montserrat"/>
                <a:sym typeface="Montserrat"/>
              </a:rPr>
              <a:t>03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DE5FF"/>
        </a:solidFill>
        <a:effectLst/>
      </p:bgPr>
    </p:bg>
    <p:spTree>
      <p:nvGrpSpPr>
        <p:cNvPr id="1" name=""/>
        <p:cNvGrpSpPr/>
        <p:nvPr/>
      </p:nvGrpSpPr>
      <p:grpSpPr>
        <a:xfrm>
          <a:off x="0" y="0"/>
          <a:ext cx="0" cy="0"/>
          <a:chOff x="0" y="0"/>
          <a:chExt cx="0" cy="0"/>
        </a:xfrm>
      </p:grpSpPr>
      <p:grpSp>
        <p:nvGrpSpPr>
          <p:cNvPr id="2" name="Group 2"/>
          <p:cNvGrpSpPr/>
          <p:nvPr/>
        </p:nvGrpSpPr>
        <p:grpSpPr>
          <a:xfrm>
            <a:off x="-372917" y="1710815"/>
            <a:ext cx="19526368" cy="2240807"/>
            <a:chOff x="0" y="0"/>
            <a:chExt cx="5142747" cy="590171"/>
          </a:xfrm>
        </p:grpSpPr>
        <p:sp>
          <p:nvSpPr>
            <p:cNvPr id="3" name="Freeform 3"/>
            <p:cNvSpPr/>
            <p:nvPr/>
          </p:nvSpPr>
          <p:spPr>
            <a:xfrm>
              <a:off x="0" y="0"/>
              <a:ext cx="5142747" cy="590171"/>
            </a:xfrm>
            <a:custGeom>
              <a:avLst/>
              <a:gdLst/>
              <a:ahLst/>
              <a:cxnLst/>
              <a:rect l="l" t="t" r="r" b="b"/>
              <a:pathLst>
                <a:path w="5142747" h="590171">
                  <a:moveTo>
                    <a:pt x="0" y="0"/>
                  </a:moveTo>
                  <a:lnTo>
                    <a:pt x="5142747" y="0"/>
                  </a:lnTo>
                  <a:lnTo>
                    <a:pt x="5142747" y="590171"/>
                  </a:lnTo>
                  <a:lnTo>
                    <a:pt x="0" y="590171"/>
                  </a:lnTo>
                  <a:close/>
                </a:path>
              </a:pathLst>
            </a:custGeom>
            <a:gradFill rotWithShape="1">
              <a:gsLst>
                <a:gs pos="0">
                  <a:srgbClr val="3C67BF">
                    <a:alpha val="23000"/>
                  </a:srgbClr>
                </a:gs>
                <a:gs pos="50000">
                  <a:srgbClr val="6B4CAF">
                    <a:alpha val="13225"/>
                  </a:srgbClr>
                </a:gs>
                <a:gs pos="100000">
                  <a:srgbClr val="F7ACFF">
                    <a:alpha val="0"/>
                  </a:srgbClr>
                </a:gs>
              </a:gsLst>
              <a:lin ang="0"/>
            </a:gradFill>
          </p:spPr>
        </p:sp>
        <p:sp>
          <p:nvSpPr>
            <p:cNvPr id="4" name="TextBox 4"/>
            <p:cNvSpPr txBox="1"/>
            <p:nvPr/>
          </p:nvSpPr>
          <p:spPr>
            <a:xfrm>
              <a:off x="0" y="-38100"/>
              <a:ext cx="5142747" cy="628271"/>
            </a:xfrm>
            <a:prstGeom prst="rect">
              <a:avLst/>
            </a:prstGeom>
          </p:spPr>
          <p:txBody>
            <a:bodyPr lIns="50800" tIns="50800" rIns="50800" bIns="50800" rtlCol="0" anchor="ctr"/>
            <a:lstStyle/>
            <a:p>
              <a:pPr marL="0" lvl="0" indent="0" algn="ctr">
                <a:lnSpc>
                  <a:spcPts val="2659"/>
                </a:lnSpc>
              </a:pPr>
              <a:endParaRPr/>
            </a:p>
          </p:txBody>
        </p:sp>
      </p:grpSp>
      <p:sp>
        <p:nvSpPr>
          <p:cNvPr id="5" name="Freeform 5"/>
          <p:cNvSpPr/>
          <p:nvPr/>
        </p:nvSpPr>
        <p:spPr>
          <a:xfrm>
            <a:off x="1247490" y="651441"/>
            <a:ext cx="696088" cy="639901"/>
          </a:xfrm>
          <a:custGeom>
            <a:avLst/>
            <a:gdLst/>
            <a:ahLst/>
            <a:cxnLst/>
            <a:rect l="l" t="t" r="r" b="b"/>
            <a:pathLst>
              <a:path w="696088" h="639901">
                <a:moveTo>
                  <a:pt x="0" y="0"/>
                </a:moveTo>
                <a:lnTo>
                  <a:pt x="696087" y="0"/>
                </a:lnTo>
                <a:lnTo>
                  <a:pt x="696087" y="639901"/>
                </a:lnTo>
                <a:lnTo>
                  <a:pt x="0" y="639901"/>
                </a:lnTo>
                <a:lnTo>
                  <a:pt x="0" y="0"/>
                </a:lnTo>
                <a:close/>
              </a:path>
            </a:pathLst>
          </a:custGeom>
          <a:blipFill>
            <a:blip r:embed="rId3"/>
            <a:stretch>
              <a:fillRect/>
            </a:stretch>
          </a:blipFill>
        </p:spPr>
      </p:sp>
      <p:sp>
        <p:nvSpPr>
          <p:cNvPr id="6" name="TextBox 6"/>
          <p:cNvSpPr txBox="1"/>
          <p:nvPr/>
        </p:nvSpPr>
        <p:spPr>
          <a:xfrm>
            <a:off x="1996708" y="844897"/>
            <a:ext cx="1194260" cy="426539"/>
          </a:xfrm>
          <a:prstGeom prst="rect">
            <a:avLst/>
          </a:prstGeom>
        </p:spPr>
        <p:txBody>
          <a:bodyPr lIns="0" tIns="0" rIns="0" bIns="0" rtlCol="0" anchor="t">
            <a:spAutoFit/>
          </a:bodyPr>
          <a:lstStyle/>
          <a:p>
            <a:pPr marL="0" lvl="0" indent="0" algn="l">
              <a:lnSpc>
                <a:spcPts val="1676"/>
              </a:lnSpc>
            </a:pPr>
            <a:r>
              <a:rPr lang="en-US" sz="1643" b="1">
                <a:solidFill>
                  <a:srgbClr val="240960"/>
                </a:solidFill>
                <a:latin typeface="Montserrat Bold"/>
                <a:ea typeface="Montserrat Bold"/>
                <a:cs typeface="Montserrat Bold"/>
                <a:sym typeface="Montserrat Bold"/>
              </a:rPr>
              <a:t>Raft</a:t>
            </a:r>
          </a:p>
          <a:p>
            <a:pPr marL="0" lvl="0" indent="0" algn="l">
              <a:lnSpc>
                <a:spcPts val="1676"/>
              </a:lnSpc>
            </a:pPr>
            <a:r>
              <a:rPr lang="en-US" sz="1643" b="1">
                <a:solidFill>
                  <a:srgbClr val="240960"/>
                </a:solidFill>
                <a:latin typeface="Montserrat Bold"/>
                <a:ea typeface="Montserrat Bold"/>
                <a:cs typeface="Montserrat Bold"/>
                <a:sym typeface="Montserrat Bold"/>
              </a:rPr>
              <a:t>Consensus</a:t>
            </a:r>
          </a:p>
        </p:txBody>
      </p:sp>
      <p:sp>
        <p:nvSpPr>
          <p:cNvPr id="7" name="TextBox 7"/>
          <p:cNvSpPr txBox="1"/>
          <p:nvPr/>
        </p:nvSpPr>
        <p:spPr>
          <a:xfrm>
            <a:off x="5150546" y="2143184"/>
            <a:ext cx="7310908" cy="766010"/>
          </a:xfrm>
          <a:prstGeom prst="rect">
            <a:avLst/>
          </a:prstGeom>
        </p:spPr>
        <p:txBody>
          <a:bodyPr lIns="0" tIns="0" rIns="0" bIns="0" rtlCol="0" anchor="t">
            <a:spAutoFit/>
          </a:bodyPr>
          <a:lstStyle/>
          <a:p>
            <a:pPr marL="0" lvl="0" indent="0" algn="ctr">
              <a:lnSpc>
                <a:spcPts val="5463"/>
              </a:lnSpc>
            </a:pPr>
            <a:r>
              <a:rPr lang="en-US" sz="6828" b="1">
                <a:solidFill>
                  <a:srgbClr val="240960"/>
                </a:solidFill>
                <a:latin typeface="Montserrat Bold"/>
                <a:ea typeface="Montserrat Bold"/>
                <a:cs typeface="Montserrat Bold"/>
                <a:sym typeface="Montserrat Bold"/>
              </a:rPr>
              <a:t>Les rôles</a:t>
            </a:r>
          </a:p>
        </p:txBody>
      </p:sp>
      <p:sp>
        <p:nvSpPr>
          <p:cNvPr id="8" name="TextBox 8"/>
          <p:cNvSpPr txBox="1"/>
          <p:nvPr/>
        </p:nvSpPr>
        <p:spPr>
          <a:xfrm>
            <a:off x="6489742" y="2872563"/>
            <a:ext cx="4632515" cy="766010"/>
          </a:xfrm>
          <a:prstGeom prst="rect">
            <a:avLst/>
          </a:prstGeom>
        </p:spPr>
        <p:txBody>
          <a:bodyPr lIns="0" tIns="0" rIns="0" bIns="0" rtlCol="0" anchor="t">
            <a:spAutoFit/>
          </a:bodyPr>
          <a:lstStyle/>
          <a:p>
            <a:pPr marL="0" lvl="0" indent="0" algn="ctr">
              <a:lnSpc>
                <a:spcPts val="5463"/>
              </a:lnSpc>
            </a:pPr>
            <a:r>
              <a:rPr lang="en-US" sz="6828">
                <a:solidFill>
                  <a:srgbClr val="240960"/>
                </a:solidFill>
                <a:latin typeface="Montserrat"/>
                <a:ea typeface="Montserrat"/>
                <a:cs typeface="Montserrat"/>
                <a:sym typeface="Montserrat"/>
              </a:rPr>
              <a:t>dans Raft</a:t>
            </a:r>
          </a:p>
        </p:txBody>
      </p:sp>
      <p:grpSp>
        <p:nvGrpSpPr>
          <p:cNvPr id="9" name="Group 9"/>
          <p:cNvGrpSpPr/>
          <p:nvPr/>
        </p:nvGrpSpPr>
        <p:grpSpPr>
          <a:xfrm>
            <a:off x="-135218" y="9166597"/>
            <a:ext cx="19526368" cy="1120403"/>
            <a:chOff x="0" y="0"/>
            <a:chExt cx="5142747" cy="590171"/>
          </a:xfrm>
        </p:grpSpPr>
        <p:sp>
          <p:nvSpPr>
            <p:cNvPr id="10" name="Freeform 10"/>
            <p:cNvSpPr/>
            <p:nvPr/>
          </p:nvSpPr>
          <p:spPr>
            <a:xfrm>
              <a:off x="0" y="0"/>
              <a:ext cx="5142747" cy="590171"/>
            </a:xfrm>
            <a:custGeom>
              <a:avLst/>
              <a:gdLst/>
              <a:ahLst/>
              <a:cxnLst/>
              <a:rect l="l" t="t" r="r" b="b"/>
              <a:pathLst>
                <a:path w="5142747" h="590171">
                  <a:moveTo>
                    <a:pt x="0" y="0"/>
                  </a:moveTo>
                  <a:lnTo>
                    <a:pt x="5142747" y="0"/>
                  </a:lnTo>
                  <a:lnTo>
                    <a:pt x="5142747" y="590171"/>
                  </a:lnTo>
                  <a:lnTo>
                    <a:pt x="0" y="590171"/>
                  </a:lnTo>
                  <a:close/>
                </a:path>
              </a:pathLst>
            </a:custGeom>
            <a:gradFill rotWithShape="1">
              <a:gsLst>
                <a:gs pos="0">
                  <a:srgbClr val="3C67BF">
                    <a:alpha val="23000"/>
                  </a:srgbClr>
                </a:gs>
                <a:gs pos="50000">
                  <a:srgbClr val="6B4CAF">
                    <a:alpha val="13225"/>
                  </a:srgbClr>
                </a:gs>
                <a:gs pos="100000">
                  <a:srgbClr val="F7ACFF">
                    <a:alpha val="0"/>
                  </a:srgbClr>
                </a:gs>
              </a:gsLst>
              <a:lin ang="0"/>
            </a:gradFill>
          </p:spPr>
        </p:sp>
        <p:sp>
          <p:nvSpPr>
            <p:cNvPr id="11" name="TextBox 11"/>
            <p:cNvSpPr txBox="1"/>
            <p:nvPr/>
          </p:nvSpPr>
          <p:spPr>
            <a:xfrm>
              <a:off x="0" y="-38100"/>
              <a:ext cx="5142747" cy="628271"/>
            </a:xfrm>
            <a:prstGeom prst="rect">
              <a:avLst/>
            </a:prstGeom>
          </p:spPr>
          <p:txBody>
            <a:bodyPr lIns="50800" tIns="50800" rIns="50800" bIns="50800" rtlCol="0" anchor="ctr"/>
            <a:lstStyle/>
            <a:p>
              <a:pPr marL="0" lvl="0" indent="0" algn="ctr">
                <a:lnSpc>
                  <a:spcPts val="2659"/>
                </a:lnSpc>
              </a:pPr>
              <a:endParaRPr/>
            </a:p>
          </p:txBody>
        </p:sp>
      </p:grpSp>
      <p:grpSp>
        <p:nvGrpSpPr>
          <p:cNvPr id="12" name="Group 12"/>
          <p:cNvGrpSpPr/>
          <p:nvPr/>
        </p:nvGrpSpPr>
        <p:grpSpPr>
          <a:xfrm>
            <a:off x="15650032" y="0"/>
            <a:ext cx="2790368" cy="1710815"/>
            <a:chOff x="0" y="0"/>
            <a:chExt cx="5142747" cy="590171"/>
          </a:xfrm>
        </p:grpSpPr>
        <p:sp>
          <p:nvSpPr>
            <p:cNvPr id="13" name="Freeform 13"/>
            <p:cNvSpPr/>
            <p:nvPr/>
          </p:nvSpPr>
          <p:spPr>
            <a:xfrm>
              <a:off x="0" y="0"/>
              <a:ext cx="5142747" cy="590171"/>
            </a:xfrm>
            <a:custGeom>
              <a:avLst/>
              <a:gdLst/>
              <a:ahLst/>
              <a:cxnLst/>
              <a:rect l="l" t="t" r="r" b="b"/>
              <a:pathLst>
                <a:path w="5142747" h="590171">
                  <a:moveTo>
                    <a:pt x="0" y="0"/>
                  </a:moveTo>
                  <a:lnTo>
                    <a:pt x="5142747" y="0"/>
                  </a:lnTo>
                  <a:lnTo>
                    <a:pt x="5142747" y="590171"/>
                  </a:lnTo>
                  <a:lnTo>
                    <a:pt x="0" y="590171"/>
                  </a:lnTo>
                  <a:close/>
                </a:path>
              </a:pathLst>
            </a:custGeom>
            <a:gradFill rotWithShape="1">
              <a:gsLst>
                <a:gs pos="0">
                  <a:srgbClr val="3C67BF">
                    <a:alpha val="23000"/>
                  </a:srgbClr>
                </a:gs>
                <a:gs pos="50000">
                  <a:srgbClr val="6B4CAF">
                    <a:alpha val="13225"/>
                  </a:srgbClr>
                </a:gs>
                <a:gs pos="100000">
                  <a:srgbClr val="F7ACFF">
                    <a:alpha val="0"/>
                  </a:srgbClr>
                </a:gs>
              </a:gsLst>
              <a:lin ang="0"/>
            </a:gradFill>
          </p:spPr>
        </p:sp>
        <p:sp>
          <p:nvSpPr>
            <p:cNvPr id="14" name="TextBox 14"/>
            <p:cNvSpPr txBox="1"/>
            <p:nvPr/>
          </p:nvSpPr>
          <p:spPr>
            <a:xfrm>
              <a:off x="0" y="-38100"/>
              <a:ext cx="5142747" cy="628271"/>
            </a:xfrm>
            <a:prstGeom prst="rect">
              <a:avLst/>
            </a:prstGeom>
          </p:spPr>
          <p:txBody>
            <a:bodyPr lIns="50800" tIns="50800" rIns="50800" bIns="50800" rtlCol="0" anchor="ctr"/>
            <a:lstStyle/>
            <a:p>
              <a:pPr marL="0" lvl="0" indent="0" algn="ctr">
                <a:lnSpc>
                  <a:spcPts val="2659"/>
                </a:lnSpc>
              </a:pPr>
              <a:endParaRPr/>
            </a:p>
          </p:txBody>
        </p:sp>
      </p:grpSp>
      <p:grpSp>
        <p:nvGrpSpPr>
          <p:cNvPr id="16" name="Group 16"/>
          <p:cNvGrpSpPr/>
          <p:nvPr/>
        </p:nvGrpSpPr>
        <p:grpSpPr>
          <a:xfrm>
            <a:off x="1236329" y="4380246"/>
            <a:ext cx="4981763" cy="3996239"/>
            <a:chOff x="0" y="0"/>
            <a:chExt cx="1312069" cy="1052507"/>
          </a:xfrm>
        </p:grpSpPr>
        <p:sp>
          <p:nvSpPr>
            <p:cNvPr id="17" name="Freeform 17"/>
            <p:cNvSpPr/>
            <p:nvPr/>
          </p:nvSpPr>
          <p:spPr>
            <a:xfrm>
              <a:off x="0" y="0"/>
              <a:ext cx="1312069" cy="1052507"/>
            </a:xfrm>
            <a:custGeom>
              <a:avLst/>
              <a:gdLst/>
              <a:ahLst/>
              <a:cxnLst/>
              <a:rect l="l" t="t" r="r" b="b"/>
              <a:pathLst>
                <a:path w="1312069" h="1052507">
                  <a:moveTo>
                    <a:pt x="0" y="0"/>
                  </a:moveTo>
                  <a:lnTo>
                    <a:pt x="1312069" y="0"/>
                  </a:lnTo>
                  <a:lnTo>
                    <a:pt x="1312069" y="1052507"/>
                  </a:lnTo>
                  <a:lnTo>
                    <a:pt x="0" y="1052507"/>
                  </a:lnTo>
                  <a:close/>
                </a:path>
              </a:pathLst>
            </a:custGeom>
            <a:ln w="57150" cap="sq">
              <a:gradFill>
                <a:gsLst>
                  <a:gs pos="0">
                    <a:srgbClr val="3C67BF">
                      <a:alpha val="100000"/>
                    </a:srgbClr>
                  </a:gs>
                  <a:gs pos="50000">
                    <a:srgbClr val="6B4CAF">
                      <a:alpha val="57500"/>
                    </a:srgbClr>
                  </a:gs>
                  <a:gs pos="100000">
                    <a:srgbClr val="F7ACFF">
                      <a:alpha val="0"/>
                    </a:srgbClr>
                  </a:gs>
                </a:gsLst>
                <a:lin ang="0"/>
              </a:gradFill>
              <a:prstDash val="solid"/>
              <a:miter/>
            </a:ln>
          </p:spPr>
        </p:sp>
        <p:sp>
          <p:nvSpPr>
            <p:cNvPr id="18" name="TextBox 18"/>
            <p:cNvSpPr txBox="1"/>
            <p:nvPr/>
          </p:nvSpPr>
          <p:spPr>
            <a:xfrm>
              <a:off x="0" y="-38100"/>
              <a:ext cx="1312069" cy="1090607"/>
            </a:xfrm>
            <a:prstGeom prst="rect">
              <a:avLst/>
            </a:prstGeom>
          </p:spPr>
          <p:txBody>
            <a:bodyPr lIns="50800" tIns="50800" rIns="50800" bIns="50800" rtlCol="0" anchor="ctr"/>
            <a:lstStyle/>
            <a:p>
              <a:pPr marL="0" lvl="0" indent="0" algn="ctr">
                <a:lnSpc>
                  <a:spcPts val="2659"/>
                </a:lnSpc>
              </a:pPr>
              <a:endParaRPr/>
            </a:p>
          </p:txBody>
        </p:sp>
      </p:grpSp>
      <p:grpSp>
        <p:nvGrpSpPr>
          <p:cNvPr id="19" name="Group 19"/>
          <p:cNvGrpSpPr/>
          <p:nvPr/>
        </p:nvGrpSpPr>
        <p:grpSpPr>
          <a:xfrm>
            <a:off x="6603088" y="4380246"/>
            <a:ext cx="4981763" cy="3996239"/>
            <a:chOff x="0" y="0"/>
            <a:chExt cx="1312069" cy="1052507"/>
          </a:xfrm>
        </p:grpSpPr>
        <p:sp>
          <p:nvSpPr>
            <p:cNvPr id="20" name="Freeform 20"/>
            <p:cNvSpPr/>
            <p:nvPr/>
          </p:nvSpPr>
          <p:spPr>
            <a:xfrm>
              <a:off x="0" y="0"/>
              <a:ext cx="1312069" cy="1052507"/>
            </a:xfrm>
            <a:custGeom>
              <a:avLst/>
              <a:gdLst/>
              <a:ahLst/>
              <a:cxnLst/>
              <a:rect l="l" t="t" r="r" b="b"/>
              <a:pathLst>
                <a:path w="1312069" h="1052507">
                  <a:moveTo>
                    <a:pt x="0" y="0"/>
                  </a:moveTo>
                  <a:lnTo>
                    <a:pt x="1312069" y="0"/>
                  </a:lnTo>
                  <a:lnTo>
                    <a:pt x="1312069" y="1052507"/>
                  </a:lnTo>
                  <a:lnTo>
                    <a:pt x="0" y="1052507"/>
                  </a:lnTo>
                  <a:close/>
                </a:path>
              </a:pathLst>
            </a:custGeom>
            <a:ln w="57150" cap="sq">
              <a:gradFill>
                <a:gsLst>
                  <a:gs pos="0">
                    <a:srgbClr val="3C67BF">
                      <a:alpha val="100000"/>
                    </a:srgbClr>
                  </a:gs>
                  <a:gs pos="50000">
                    <a:srgbClr val="6B4CAF">
                      <a:alpha val="57500"/>
                    </a:srgbClr>
                  </a:gs>
                  <a:gs pos="100000">
                    <a:srgbClr val="F7ACFF">
                      <a:alpha val="0"/>
                    </a:srgbClr>
                  </a:gs>
                </a:gsLst>
                <a:lin ang="0"/>
              </a:gradFill>
              <a:prstDash val="solid"/>
              <a:miter/>
            </a:ln>
          </p:spPr>
        </p:sp>
        <p:sp>
          <p:nvSpPr>
            <p:cNvPr id="21" name="TextBox 21"/>
            <p:cNvSpPr txBox="1"/>
            <p:nvPr/>
          </p:nvSpPr>
          <p:spPr>
            <a:xfrm>
              <a:off x="0" y="-38100"/>
              <a:ext cx="1312069" cy="1090607"/>
            </a:xfrm>
            <a:prstGeom prst="rect">
              <a:avLst/>
            </a:prstGeom>
          </p:spPr>
          <p:txBody>
            <a:bodyPr lIns="50800" tIns="50800" rIns="50800" bIns="50800" rtlCol="0" anchor="ctr"/>
            <a:lstStyle/>
            <a:p>
              <a:pPr marL="0" lvl="0" indent="0" algn="ctr">
                <a:lnSpc>
                  <a:spcPts val="2659"/>
                </a:lnSpc>
              </a:pPr>
              <a:endParaRPr/>
            </a:p>
          </p:txBody>
        </p:sp>
      </p:grpSp>
      <p:grpSp>
        <p:nvGrpSpPr>
          <p:cNvPr id="22" name="Group 22"/>
          <p:cNvGrpSpPr/>
          <p:nvPr/>
        </p:nvGrpSpPr>
        <p:grpSpPr>
          <a:xfrm>
            <a:off x="11969846" y="4380246"/>
            <a:ext cx="4981763" cy="3996239"/>
            <a:chOff x="0" y="0"/>
            <a:chExt cx="1312069" cy="1052507"/>
          </a:xfrm>
        </p:grpSpPr>
        <p:sp>
          <p:nvSpPr>
            <p:cNvPr id="23" name="Freeform 23"/>
            <p:cNvSpPr/>
            <p:nvPr/>
          </p:nvSpPr>
          <p:spPr>
            <a:xfrm>
              <a:off x="0" y="0"/>
              <a:ext cx="1312069" cy="1052507"/>
            </a:xfrm>
            <a:custGeom>
              <a:avLst/>
              <a:gdLst/>
              <a:ahLst/>
              <a:cxnLst/>
              <a:rect l="l" t="t" r="r" b="b"/>
              <a:pathLst>
                <a:path w="1312069" h="1052507">
                  <a:moveTo>
                    <a:pt x="0" y="0"/>
                  </a:moveTo>
                  <a:lnTo>
                    <a:pt x="1312069" y="0"/>
                  </a:lnTo>
                  <a:lnTo>
                    <a:pt x="1312069" y="1052507"/>
                  </a:lnTo>
                  <a:lnTo>
                    <a:pt x="0" y="1052507"/>
                  </a:lnTo>
                  <a:close/>
                </a:path>
              </a:pathLst>
            </a:custGeom>
            <a:ln w="57150" cap="sq">
              <a:gradFill>
                <a:gsLst>
                  <a:gs pos="0">
                    <a:srgbClr val="3C67BF">
                      <a:alpha val="100000"/>
                    </a:srgbClr>
                  </a:gs>
                  <a:gs pos="50000">
                    <a:srgbClr val="6B4CAF">
                      <a:alpha val="57500"/>
                    </a:srgbClr>
                  </a:gs>
                  <a:gs pos="100000">
                    <a:srgbClr val="F7ACFF">
                      <a:alpha val="0"/>
                    </a:srgbClr>
                  </a:gs>
                </a:gsLst>
                <a:lin ang="0"/>
              </a:gradFill>
              <a:prstDash val="solid"/>
              <a:miter/>
            </a:ln>
          </p:spPr>
        </p:sp>
        <p:sp>
          <p:nvSpPr>
            <p:cNvPr id="24" name="TextBox 24"/>
            <p:cNvSpPr txBox="1"/>
            <p:nvPr/>
          </p:nvSpPr>
          <p:spPr>
            <a:xfrm>
              <a:off x="0" y="-38100"/>
              <a:ext cx="1312069" cy="1090607"/>
            </a:xfrm>
            <a:prstGeom prst="rect">
              <a:avLst/>
            </a:prstGeom>
          </p:spPr>
          <p:txBody>
            <a:bodyPr lIns="50800" tIns="50800" rIns="50800" bIns="50800" rtlCol="0" anchor="ctr"/>
            <a:lstStyle/>
            <a:p>
              <a:pPr marL="0" lvl="0" indent="0" algn="ctr">
                <a:lnSpc>
                  <a:spcPts val="2659"/>
                </a:lnSpc>
              </a:pPr>
              <a:endParaRPr/>
            </a:p>
          </p:txBody>
        </p:sp>
      </p:grpSp>
      <p:sp>
        <p:nvSpPr>
          <p:cNvPr id="25" name="TextBox 25"/>
          <p:cNvSpPr txBox="1"/>
          <p:nvPr/>
        </p:nvSpPr>
        <p:spPr>
          <a:xfrm>
            <a:off x="2194073" y="5610605"/>
            <a:ext cx="2956473" cy="1948297"/>
          </a:xfrm>
          <a:prstGeom prst="rect">
            <a:avLst/>
          </a:prstGeom>
        </p:spPr>
        <p:txBody>
          <a:bodyPr lIns="0" tIns="0" rIns="0" bIns="0" rtlCol="0" anchor="t">
            <a:spAutoFit/>
          </a:bodyPr>
          <a:lstStyle/>
          <a:p>
            <a:pPr marL="0" lvl="0" indent="0" algn="l">
              <a:lnSpc>
                <a:spcPts val="2202"/>
              </a:lnSpc>
            </a:pPr>
            <a:r>
              <a:rPr lang="en-US" sz="1932">
                <a:solidFill>
                  <a:srgbClr val="240960"/>
                </a:solidFill>
                <a:latin typeface="Montserrat"/>
                <a:ea typeface="Montserrat"/>
                <a:cs typeface="Montserrat"/>
                <a:sym typeface="Montserrat"/>
              </a:rPr>
              <a:t>Coordonne les opérations et reçoit les requêtes des clients. Seul nœud à écrire dans le log et à communiquer avec les followers.</a:t>
            </a:r>
          </a:p>
        </p:txBody>
      </p:sp>
      <p:grpSp>
        <p:nvGrpSpPr>
          <p:cNvPr id="26" name="Group 26"/>
          <p:cNvGrpSpPr/>
          <p:nvPr/>
        </p:nvGrpSpPr>
        <p:grpSpPr>
          <a:xfrm>
            <a:off x="1697372" y="5048224"/>
            <a:ext cx="262038" cy="262038"/>
            <a:chOff x="0" y="0"/>
            <a:chExt cx="812800" cy="812800"/>
          </a:xfrm>
        </p:grpSpPr>
        <p:sp>
          <p:nvSpPr>
            <p:cNvPr id="27" name="Freeform 2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5B45B5">
                    <a:alpha val="96000"/>
                  </a:srgbClr>
                </a:gs>
                <a:gs pos="100000">
                  <a:srgbClr val="8875D7">
                    <a:alpha val="96000"/>
                  </a:srgbClr>
                </a:gs>
              </a:gsLst>
              <a:lin ang="0"/>
            </a:gradFill>
          </p:spPr>
        </p:sp>
        <p:sp>
          <p:nvSpPr>
            <p:cNvPr id="28" name="TextBox 28"/>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pPr>
              <a:endParaRPr/>
            </a:p>
          </p:txBody>
        </p:sp>
      </p:grpSp>
      <p:sp>
        <p:nvSpPr>
          <p:cNvPr id="29" name="TextBox 29"/>
          <p:cNvSpPr txBox="1"/>
          <p:nvPr/>
        </p:nvSpPr>
        <p:spPr>
          <a:xfrm>
            <a:off x="2194073" y="5061068"/>
            <a:ext cx="4024019" cy="272250"/>
          </a:xfrm>
          <a:prstGeom prst="rect">
            <a:avLst/>
          </a:prstGeom>
        </p:spPr>
        <p:txBody>
          <a:bodyPr lIns="0" tIns="0" rIns="0" bIns="0" rtlCol="0" anchor="t">
            <a:spAutoFit/>
          </a:bodyPr>
          <a:lstStyle/>
          <a:p>
            <a:pPr marL="0" lvl="0" indent="0" algn="l">
              <a:lnSpc>
                <a:spcPts val="1935"/>
              </a:lnSpc>
            </a:pPr>
            <a:r>
              <a:rPr lang="en-US" sz="2418" b="1">
                <a:solidFill>
                  <a:srgbClr val="240960"/>
                </a:solidFill>
                <a:latin typeface="Montserrat Bold"/>
                <a:ea typeface="Montserrat Bold"/>
                <a:cs typeface="Montserrat Bold"/>
                <a:sym typeface="Montserrat Bold"/>
              </a:rPr>
              <a:t>Leader</a:t>
            </a:r>
          </a:p>
        </p:txBody>
      </p:sp>
      <p:sp>
        <p:nvSpPr>
          <p:cNvPr id="30" name="TextBox 30"/>
          <p:cNvSpPr txBox="1"/>
          <p:nvPr/>
        </p:nvSpPr>
        <p:spPr>
          <a:xfrm>
            <a:off x="7737378" y="5626058"/>
            <a:ext cx="2956473" cy="1948297"/>
          </a:xfrm>
          <a:prstGeom prst="rect">
            <a:avLst/>
          </a:prstGeom>
        </p:spPr>
        <p:txBody>
          <a:bodyPr lIns="0" tIns="0" rIns="0" bIns="0" rtlCol="0" anchor="t">
            <a:spAutoFit/>
          </a:bodyPr>
          <a:lstStyle/>
          <a:p>
            <a:pPr marL="0" lvl="0" indent="0" algn="l">
              <a:lnSpc>
                <a:spcPts val="2202"/>
              </a:lnSpc>
            </a:pPr>
            <a:r>
              <a:rPr lang="en-US" sz="1932">
                <a:solidFill>
                  <a:srgbClr val="240960"/>
                </a:solidFill>
                <a:latin typeface="Montserrat"/>
                <a:ea typeface="Montserrat"/>
                <a:cs typeface="Montserrat"/>
                <a:sym typeface="Montserrat"/>
              </a:rPr>
              <a:t>Réplique passivement les entrées envoyées par le leader. Répond aux requêtes AppendEntries et redirige les clients vers le leader.</a:t>
            </a:r>
          </a:p>
        </p:txBody>
      </p:sp>
      <p:grpSp>
        <p:nvGrpSpPr>
          <p:cNvPr id="31" name="Group 31"/>
          <p:cNvGrpSpPr/>
          <p:nvPr/>
        </p:nvGrpSpPr>
        <p:grpSpPr>
          <a:xfrm>
            <a:off x="7240677" y="5063677"/>
            <a:ext cx="262038" cy="262038"/>
            <a:chOff x="0" y="0"/>
            <a:chExt cx="812800" cy="812800"/>
          </a:xfrm>
        </p:grpSpPr>
        <p:sp>
          <p:nvSpPr>
            <p:cNvPr id="32" name="Freeform 3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5B45B5">
                    <a:alpha val="96000"/>
                  </a:srgbClr>
                </a:gs>
                <a:gs pos="100000">
                  <a:srgbClr val="8875D7">
                    <a:alpha val="96000"/>
                  </a:srgbClr>
                </a:gs>
              </a:gsLst>
              <a:lin ang="0"/>
            </a:gradFill>
          </p:spPr>
        </p:sp>
        <p:sp>
          <p:nvSpPr>
            <p:cNvPr id="33" name="TextBox 33"/>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pPr>
              <a:endParaRPr/>
            </a:p>
          </p:txBody>
        </p:sp>
      </p:grpSp>
      <p:sp>
        <p:nvSpPr>
          <p:cNvPr id="34" name="TextBox 34"/>
          <p:cNvSpPr txBox="1"/>
          <p:nvPr/>
        </p:nvSpPr>
        <p:spPr>
          <a:xfrm>
            <a:off x="7737378" y="5076521"/>
            <a:ext cx="2869223" cy="272250"/>
          </a:xfrm>
          <a:prstGeom prst="rect">
            <a:avLst/>
          </a:prstGeom>
        </p:spPr>
        <p:txBody>
          <a:bodyPr lIns="0" tIns="0" rIns="0" bIns="0" rtlCol="0" anchor="t">
            <a:spAutoFit/>
          </a:bodyPr>
          <a:lstStyle/>
          <a:p>
            <a:pPr marL="0" lvl="0" indent="0" algn="l">
              <a:lnSpc>
                <a:spcPts val="1935"/>
              </a:lnSpc>
            </a:pPr>
            <a:r>
              <a:rPr lang="en-US" sz="2418" b="1">
                <a:solidFill>
                  <a:srgbClr val="240960"/>
                </a:solidFill>
                <a:latin typeface="Montserrat Bold"/>
                <a:ea typeface="Montserrat Bold"/>
                <a:cs typeface="Montserrat Bold"/>
                <a:sym typeface="Montserrat Bold"/>
              </a:rPr>
              <a:t>Follower</a:t>
            </a:r>
          </a:p>
        </p:txBody>
      </p:sp>
      <p:sp>
        <p:nvSpPr>
          <p:cNvPr id="35" name="TextBox 35"/>
          <p:cNvSpPr txBox="1"/>
          <p:nvPr/>
        </p:nvSpPr>
        <p:spPr>
          <a:xfrm>
            <a:off x="13280683" y="5641511"/>
            <a:ext cx="2956473" cy="1672072"/>
          </a:xfrm>
          <a:prstGeom prst="rect">
            <a:avLst/>
          </a:prstGeom>
        </p:spPr>
        <p:txBody>
          <a:bodyPr lIns="0" tIns="0" rIns="0" bIns="0" rtlCol="0" anchor="t">
            <a:spAutoFit/>
          </a:bodyPr>
          <a:lstStyle/>
          <a:p>
            <a:pPr marL="0" lvl="0" indent="0" algn="l">
              <a:lnSpc>
                <a:spcPts val="2202"/>
              </a:lnSpc>
            </a:pPr>
            <a:r>
              <a:rPr lang="en-US" sz="1932">
                <a:solidFill>
                  <a:srgbClr val="240960"/>
                </a:solidFill>
                <a:latin typeface="Montserrat"/>
                <a:ea typeface="Montserrat"/>
                <a:cs typeface="Montserrat"/>
                <a:sym typeface="Montserrat"/>
              </a:rPr>
              <a:t>État temporaire lors d'une élection. Demande les votes des autres nœuds pour devenir le nouveau leader du cluster.</a:t>
            </a:r>
          </a:p>
        </p:txBody>
      </p:sp>
      <p:grpSp>
        <p:nvGrpSpPr>
          <p:cNvPr id="36" name="Group 36"/>
          <p:cNvGrpSpPr/>
          <p:nvPr/>
        </p:nvGrpSpPr>
        <p:grpSpPr>
          <a:xfrm>
            <a:off x="12783981" y="5079130"/>
            <a:ext cx="262038" cy="262038"/>
            <a:chOff x="0" y="0"/>
            <a:chExt cx="812800" cy="812800"/>
          </a:xfrm>
        </p:grpSpPr>
        <p:sp>
          <p:nvSpPr>
            <p:cNvPr id="37" name="Freeform 3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5B45B5">
                    <a:alpha val="96000"/>
                  </a:srgbClr>
                </a:gs>
                <a:gs pos="100000">
                  <a:srgbClr val="8875D7">
                    <a:alpha val="96000"/>
                  </a:srgbClr>
                </a:gs>
              </a:gsLst>
              <a:lin ang="0"/>
            </a:gradFill>
          </p:spPr>
        </p:sp>
        <p:sp>
          <p:nvSpPr>
            <p:cNvPr id="38" name="TextBox 38"/>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pPr>
              <a:endParaRPr/>
            </a:p>
          </p:txBody>
        </p:sp>
      </p:grpSp>
      <p:sp>
        <p:nvSpPr>
          <p:cNvPr id="39" name="TextBox 39"/>
          <p:cNvSpPr txBox="1"/>
          <p:nvPr/>
        </p:nvSpPr>
        <p:spPr>
          <a:xfrm>
            <a:off x="13280683" y="5091973"/>
            <a:ext cx="2869223" cy="272250"/>
          </a:xfrm>
          <a:prstGeom prst="rect">
            <a:avLst/>
          </a:prstGeom>
        </p:spPr>
        <p:txBody>
          <a:bodyPr lIns="0" tIns="0" rIns="0" bIns="0" rtlCol="0" anchor="t">
            <a:spAutoFit/>
          </a:bodyPr>
          <a:lstStyle/>
          <a:p>
            <a:pPr marL="0" lvl="0" indent="0" algn="l">
              <a:lnSpc>
                <a:spcPts val="1935"/>
              </a:lnSpc>
            </a:pPr>
            <a:r>
              <a:rPr lang="en-US" sz="2418" b="1">
                <a:solidFill>
                  <a:srgbClr val="240960"/>
                </a:solidFill>
                <a:latin typeface="Montserrat Bold"/>
                <a:ea typeface="Montserrat Bold"/>
                <a:cs typeface="Montserrat Bold"/>
                <a:sym typeface="Montserrat Bold"/>
              </a:rPr>
              <a:t>Candidate</a:t>
            </a:r>
          </a:p>
        </p:txBody>
      </p:sp>
      <p:grpSp>
        <p:nvGrpSpPr>
          <p:cNvPr id="40" name="Group 40"/>
          <p:cNvGrpSpPr/>
          <p:nvPr/>
        </p:nvGrpSpPr>
        <p:grpSpPr>
          <a:xfrm>
            <a:off x="82681" y="3005603"/>
            <a:ext cx="1892038" cy="1892038"/>
            <a:chOff x="0" y="0"/>
            <a:chExt cx="812800" cy="812800"/>
          </a:xfrm>
        </p:grpSpPr>
        <p:sp>
          <p:nvSpPr>
            <p:cNvPr id="41" name="Freeform 4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C67BF">
                    <a:alpha val="96000"/>
                  </a:srgbClr>
                </a:gs>
                <a:gs pos="100000">
                  <a:srgbClr val="F7ACFF">
                    <a:alpha val="96000"/>
                  </a:srgbClr>
                </a:gs>
              </a:gsLst>
              <a:lin ang="0"/>
            </a:gradFill>
          </p:spPr>
        </p:sp>
        <p:sp>
          <p:nvSpPr>
            <p:cNvPr id="42" name="TextBox 42"/>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pPr>
              <a:endParaRPr/>
            </a:p>
          </p:txBody>
        </p:sp>
      </p:grpSp>
      <p:sp>
        <p:nvSpPr>
          <p:cNvPr id="43" name="TextBox 43"/>
          <p:cNvSpPr txBox="1"/>
          <p:nvPr/>
        </p:nvSpPr>
        <p:spPr>
          <a:xfrm>
            <a:off x="16050268" y="9473025"/>
            <a:ext cx="724046" cy="242707"/>
          </a:xfrm>
          <a:prstGeom prst="rect">
            <a:avLst/>
          </a:prstGeom>
        </p:spPr>
        <p:txBody>
          <a:bodyPr lIns="0" tIns="0" rIns="0" bIns="0" rtlCol="0" anchor="t">
            <a:spAutoFit/>
          </a:bodyPr>
          <a:lstStyle/>
          <a:p>
            <a:pPr marL="0" lvl="0" indent="0" algn="l">
              <a:lnSpc>
                <a:spcPts val="1857"/>
              </a:lnSpc>
            </a:pPr>
            <a:r>
              <a:rPr lang="en-US" sz="1821" b="1">
                <a:solidFill>
                  <a:srgbClr val="240960"/>
                </a:solidFill>
                <a:latin typeface="Montserrat Bold"/>
                <a:ea typeface="Montserrat Bold"/>
                <a:cs typeface="Montserrat Bold"/>
                <a:sym typeface="Montserrat Bold"/>
              </a:rPr>
              <a:t>Page</a:t>
            </a:r>
          </a:p>
        </p:txBody>
      </p:sp>
      <p:sp>
        <p:nvSpPr>
          <p:cNvPr id="44" name="TextBox 44"/>
          <p:cNvSpPr txBox="1"/>
          <p:nvPr/>
        </p:nvSpPr>
        <p:spPr>
          <a:xfrm>
            <a:off x="16774314" y="9507706"/>
            <a:ext cx="484986" cy="208026"/>
          </a:xfrm>
          <a:prstGeom prst="rect">
            <a:avLst/>
          </a:prstGeom>
        </p:spPr>
        <p:txBody>
          <a:bodyPr lIns="0" tIns="0" rIns="0" bIns="0" rtlCol="0" anchor="t">
            <a:spAutoFit/>
          </a:bodyPr>
          <a:lstStyle/>
          <a:p>
            <a:pPr marL="0" lvl="0" indent="0" algn="l">
              <a:lnSpc>
                <a:spcPts val="1631"/>
              </a:lnSpc>
            </a:pPr>
            <a:r>
              <a:rPr lang="en-US" sz="1599">
                <a:solidFill>
                  <a:srgbClr val="240960"/>
                </a:solidFill>
                <a:latin typeface="Montserrat"/>
                <a:ea typeface="Montserrat"/>
                <a:cs typeface="Montserrat"/>
                <a:sym typeface="Montserrat"/>
              </a:rPr>
              <a:t>04</a:t>
            </a:r>
          </a:p>
        </p:txBody>
      </p:sp>
      <p:sp>
        <p:nvSpPr>
          <p:cNvPr id="45" name="Freeform 30">
            <a:extLst>
              <a:ext uri="{FF2B5EF4-FFF2-40B4-BE49-F238E27FC236}">
                <a16:creationId xmlns:a16="http://schemas.microsoft.com/office/drawing/2014/main" id="{3F111055-939F-A523-9F66-9FC9807BB20B}"/>
              </a:ext>
            </a:extLst>
          </p:cNvPr>
          <p:cNvSpPr/>
          <p:nvPr/>
        </p:nvSpPr>
        <p:spPr>
          <a:xfrm>
            <a:off x="1028700" y="9444450"/>
            <a:ext cx="415258" cy="415258"/>
          </a:xfrm>
          <a:custGeom>
            <a:avLst/>
            <a:gdLst/>
            <a:ahLst/>
            <a:cxnLst/>
            <a:rect l="l" t="t" r="r" b="b"/>
            <a:pathLst>
              <a:path w="415258" h="415258">
                <a:moveTo>
                  <a:pt x="0" y="0"/>
                </a:moveTo>
                <a:lnTo>
                  <a:pt x="415258" y="0"/>
                </a:lnTo>
                <a:lnTo>
                  <a:pt x="415258" y="415258"/>
                </a:lnTo>
                <a:lnTo>
                  <a:pt x="0" y="415258"/>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fr-F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bg>
      <p:bgPr>
        <a:solidFill>
          <a:srgbClr val="EDE5FF"/>
        </a:solidFill>
        <a:effectLst/>
      </p:bgPr>
    </p:bg>
    <p:spTree>
      <p:nvGrpSpPr>
        <p:cNvPr id="1" name=""/>
        <p:cNvGrpSpPr/>
        <p:nvPr/>
      </p:nvGrpSpPr>
      <p:grpSpPr>
        <a:xfrm>
          <a:off x="0" y="0"/>
          <a:ext cx="0" cy="0"/>
          <a:chOff x="0" y="0"/>
          <a:chExt cx="0" cy="0"/>
        </a:xfrm>
      </p:grpSpPr>
      <p:sp>
        <p:nvSpPr>
          <p:cNvPr id="2" name="Freeform 2"/>
          <p:cNvSpPr/>
          <p:nvPr/>
        </p:nvSpPr>
        <p:spPr>
          <a:xfrm>
            <a:off x="1349938" y="875473"/>
            <a:ext cx="490149" cy="403705"/>
          </a:xfrm>
          <a:custGeom>
            <a:avLst/>
            <a:gdLst/>
            <a:ahLst/>
            <a:cxnLst/>
            <a:rect l="l" t="t" r="r" b="b"/>
            <a:pathLst>
              <a:path w="490149" h="403705">
                <a:moveTo>
                  <a:pt x="0" y="0"/>
                </a:moveTo>
                <a:lnTo>
                  <a:pt x="490149" y="0"/>
                </a:lnTo>
                <a:lnTo>
                  <a:pt x="490149" y="403705"/>
                </a:lnTo>
                <a:lnTo>
                  <a:pt x="0" y="403705"/>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TextBox 3"/>
          <p:cNvSpPr txBox="1"/>
          <p:nvPr/>
        </p:nvSpPr>
        <p:spPr>
          <a:xfrm>
            <a:off x="1996708" y="844897"/>
            <a:ext cx="1194260" cy="426539"/>
          </a:xfrm>
          <a:prstGeom prst="rect">
            <a:avLst/>
          </a:prstGeom>
        </p:spPr>
        <p:txBody>
          <a:bodyPr lIns="0" tIns="0" rIns="0" bIns="0" rtlCol="0" anchor="t">
            <a:spAutoFit/>
          </a:bodyPr>
          <a:lstStyle/>
          <a:p>
            <a:pPr marL="0" lvl="0" indent="0" algn="l">
              <a:lnSpc>
                <a:spcPts val="1676"/>
              </a:lnSpc>
            </a:pPr>
            <a:r>
              <a:rPr lang="en-US" sz="1643" b="1">
                <a:solidFill>
                  <a:srgbClr val="240960"/>
                </a:solidFill>
                <a:latin typeface="Montserrat Bold"/>
                <a:ea typeface="Montserrat Bold"/>
                <a:cs typeface="Montserrat Bold"/>
                <a:sym typeface="Montserrat Bold"/>
              </a:rPr>
              <a:t>Raft Consensus</a:t>
            </a:r>
          </a:p>
        </p:txBody>
      </p:sp>
      <p:grpSp>
        <p:nvGrpSpPr>
          <p:cNvPr id="4" name="Group 4"/>
          <p:cNvGrpSpPr/>
          <p:nvPr/>
        </p:nvGrpSpPr>
        <p:grpSpPr>
          <a:xfrm>
            <a:off x="1996708" y="1611945"/>
            <a:ext cx="5831412" cy="5180461"/>
            <a:chOff x="0" y="0"/>
            <a:chExt cx="1018337" cy="971018"/>
          </a:xfrm>
        </p:grpSpPr>
        <p:sp>
          <p:nvSpPr>
            <p:cNvPr id="5" name="Freeform 5"/>
            <p:cNvSpPr/>
            <p:nvPr/>
          </p:nvSpPr>
          <p:spPr>
            <a:xfrm>
              <a:off x="0" y="0"/>
              <a:ext cx="1018337" cy="971018"/>
            </a:xfrm>
            <a:custGeom>
              <a:avLst/>
              <a:gdLst/>
              <a:ahLst/>
              <a:cxnLst/>
              <a:rect l="l" t="t" r="r" b="b"/>
              <a:pathLst>
                <a:path w="1018337" h="971018">
                  <a:moveTo>
                    <a:pt x="0" y="0"/>
                  </a:moveTo>
                  <a:lnTo>
                    <a:pt x="1018337" y="0"/>
                  </a:lnTo>
                  <a:lnTo>
                    <a:pt x="1018337" y="971018"/>
                  </a:lnTo>
                  <a:lnTo>
                    <a:pt x="0" y="971018"/>
                  </a:lnTo>
                  <a:close/>
                </a:path>
              </a:pathLst>
            </a:custGeom>
            <a:blipFill>
              <a:blip r:embed="rId3"/>
              <a:stretch>
                <a:fillRect t="-2436" b="-2436"/>
              </a:stretch>
            </a:blipFill>
          </p:spPr>
        </p:sp>
      </p:grpSp>
      <p:grpSp>
        <p:nvGrpSpPr>
          <p:cNvPr id="6" name="Group 6"/>
          <p:cNvGrpSpPr/>
          <p:nvPr/>
        </p:nvGrpSpPr>
        <p:grpSpPr>
          <a:xfrm>
            <a:off x="0" y="5920447"/>
            <a:ext cx="8384711" cy="2735500"/>
            <a:chOff x="0" y="0"/>
            <a:chExt cx="2208319" cy="720461"/>
          </a:xfrm>
        </p:grpSpPr>
        <p:sp>
          <p:nvSpPr>
            <p:cNvPr id="7" name="Freeform 7"/>
            <p:cNvSpPr/>
            <p:nvPr/>
          </p:nvSpPr>
          <p:spPr>
            <a:xfrm>
              <a:off x="0" y="0"/>
              <a:ext cx="2208319" cy="720461"/>
            </a:xfrm>
            <a:custGeom>
              <a:avLst/>
              <a:gdLst/>
              <a:ahLst/>
              <a:cxnLst/>
              <a:rect l="l" t="t" r="r" b="b"/>
              <a:pathLst>
                <a:path w="2208319" h="720461">
                  <a:moveTo>
                    <a:pt x="0" y="0"/>
                  </a:moveTo>
                  <a:lnTo>
                    <a:pt x="2208319" y="0"/>
                  </a:lnTo>
                  <a:lnTo>
                    <a:pt x="2208319" y="720461"/>
                  </a:lnTo>
                  <a:lnTo>
                    <a:pt x="0" y="720461"/>
                  </a:lnTo>
                  <a:close/>
                </a:path>
              </a:pathLst>
            </a:custGeom>
            <a:gradFill rotWithShape="1">
              <a:gsLst>
                <a:gs pos="0">
                  <a:srgbClr val="3C67BF">
                    <a:alpha val="79000"/>
                  </a:srgbClr>
                </a:gs>
                <a:gs pos="100000">
                  <a:srgbClr val="F7ACFF">
                    <a:alpha val="79000"/>
                  </a:srgbClr>
                </a:gs>
              </a:gsLst>
              <a:lin ang="0"/>
            </a:gradFill>
          </p:spPr>
        </p:sp>
        <p:sp>
          <p:nvSpPr>
            <p:cNvPr id="8" name="TextBox 8"/>
            <p:cNvSpPr txBox="1"/>
            <p:nvPr/>
          </p:nvSpPr>
          <p:spPr>
            <a:xfrm>
              <a:off x="0" y="-38100"/>
              <a:ext cx="2208319" cy="758561"/>
            </a:xfrm>
            <a:prstGeom prst="rect">
              <a:avLst/>
            </a:prstGeom>
          </p:spPr>
          <p:txBody>
            <a:bodyPr lIns="50800" tIns="50800" rIns="50800" bIns="50800" rtlCol="0" anchor="ctr"/>
            <a:lstStyle/>
            <a:p>
              <a:pPr marL="0" lvl="0" indent="0" algn="ctr">
                <a:lnSpc>
                  <a:spcPts val="2659"/>
                </a:lnSpc>
              </a:pPr>
              <a:endParaRPr/>
            </a:p>
          </p:txBody>
        </p:sp>
      </p:grpSp>
      <p:grpSp>
        <p:nvGrpSpPr>
          <p:cNvPr id="9" name="Group 9"/>
          <p:cNvGrpSpPr/>
          <p:nvPr/>
        </p:nvGrpSpPr>
        <p:grpSpPr>
          <a:xfrm>
            <a:off x="9029177" y="2339407"/>
            <a:ext cx="1256320" cy="1256320"/>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C67BF">
                    <a:alpha val="96000"/>
                  </a:srgbClr>
                </a:gs>
                <a:gs pos="100000">
                  <a:srgbClr val="F7ACFF">
                    <a:alpha val="0"/>
                  </a:srgbClr>
                </a:gs>
              </a:gsLst>
              <a:lin ang="0"/>
            </a:gradFill>
          </p:spPr>
        </p:sp>
        <p:sp>
          <p:nvSpPr>
            <p:cNvPr id="11" name="TextBox 11"/>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pPr>
              <a:endParaRPr/>
            </a:p>
          </p:txBody>
        </p:sp>
      </p:grpSp>
      <p:sp>
        <p:nvSpPr>
          <p:cNvPr id="12" name="TextBox 12"/>
          <p:cNvSpPr txBox="1"/>
          <p:nvPr/>
        </p:nvSpPr>
        <p:spPr>
          <a:xfrm>
            <a:off x="9463406" y="2872563"/>
            <a:ext cx="7310908" cy="772149"/>
          </a:xfrm>
          <a:prstGeom prst="rect">
            <a:avLst/>
          </a:prstGeom>
        </p:spPr>
        <p:txBody>
          <a:bodyPr lIns="0" tIns="0" rIns="0" bIns="0" rtlCol="0" anchor="t">
            <a:spAutoFit/>
          </a:bodyPr>
          <a:lstStyle/>
          <a:p>
            <a:pPr marL="0" lvl="0" indent="0" algn="l">
              <a:lnSpc>
                <a:spcPts val="5463"/>
              </a:lnSpc>
            </a:pPr>
            <a:r>
              <a:rPr lang="en-US" sz="6828" b="1">
                <a:solidFill>
                  <a:srgbClr val="240960"/>
                </a:solidFill>
                <a:latin typeface="Montserrat Bold"/>
                <a:ea typeface="Montserrat Bold"/>
                <a:cs typeface="Montserrat Bold"/>
                <a:sym typeface="Montserrat Bold"/>
              </a:rPr>
              <a:t>Élection du</a:t>
            </a:r>
          </a:p>
        </p:txBody>
      </p:sp>
      <p:sp>
        <p:nvSpPr>
          <p:cNvPr id="13" name="TextBox 13"/>
          <p:cNvSpPr txBox="1"/>
          <p:nvPr/>
        </p:nvSpPr>
        <p:spPr>
          <a:xfrm>
            <a:off x="9425306" y="3601942"/>
            <a:ext cx="7310908" cy="772149"/>
          </a:xfrm>
          <a:prstGeom prst="rect">
            <a:avLst/>
          </a:prstGeom>
        </p:spPr>
        <p:txBody>
          <a:bodyPr lIns="0" tIns="0" rIns="0" bIns="0" rtlCol="0" anchor="t">
            <a:spAutoFit/>
          </a:bodyPr>
          <a:lstStyle/>
          <a:p>
            <a:pPr marL="0" lvl="0" indent="0" algn="l">
              <a:lnSpc>
                <a:spcPts val="5463"/>
              </a:lnSpc>
            </a:pPr>
            <a:r>
              <a:rPr lang="en-US" sz="6828">
                <a:solidFill>
                  <a:srgbClr val="240960"/>
                </a:solidFill>
                <a:latin typeface="Montserrat"/>
                <a:ea typeface="Montserrat"/>
                <a:cs typeface="Montserrat"/>
                <a:sym typeface="Montserrat"/>
              </a:rPr>
              <a:t>Leader</a:t>
            </a:r>
          </a:p>
        </p:txBody>
      </p:sp>
      <p:sp>
        <p:nvSpPr>
          <p:cNvPr id="14" name="TextBox 14"/>
          <p:cNvSpPr txBox="1"/>
          <p:nvPr/>
        </p:nvSpPr>
        <p:spPr>
          <a:xfrm>
            <a:off x="10095724" y="4998138"/>
            <a:ext cx="6574791" cy="721206"/>
          </a:xfrm>
          <a:prstGeom prst="rect">
            <a:avLst/>
          </a:prstGeom>
        </p:spPr>
        <p:txBody>
          <a:bodyPr lIns="0" tIns="0" rIns="0" bIns="0" rtlCol="0" anchor="t">
            <a:spAutoFit/>
          </a:bodyPr>
          <a:lstStyle/>
          <a:p>
            <a:pPr marL="0" lvl="0" indent="0" algn="l">
              <a:lnSpc>
                <a:spcPts val="1908"/>
              </a:lnSpc>
            </a:pPr>
            <a:r>
              <a:rPr lang="en-US" sz="1673" dirty="0">
                <a:solidFill>
                  <a:srgbClr val="240960"/>
                </a:solidFill>
                <a:latin typeface="Montserrat"/>
                <a:ea typeface="Montserrat"/>
                <a:cs typeface="Montserrat"/>
                <a:sym typeface="Montserrat"/>
              </a:rPr>
              <a:t>Timeout </a:t>
            </a:r>
            <a:r>
              <a:rPr lang="en-US" sz="1673" dirty="0" err="1">
                <a:solidFill>
                  <a:srgbClr val="240960"/>
                </a:solidFill>
                <a:latin typeface="Montserrat"/>
                <a:ea typeface="Montserrat"/>
                <a:cs typeface="Montserrat"/>
                <a:sym typeface="Montserrat"/>
              </a:rPr>
              <a:t>aléatoire</a:t>
            </a:r>
            <a:r>
              <a:rPr lang="en-US" sz="1673" dirty="0">
                <a:solidFill>
                  <a:srgbClr val="240960"/>
                </a:solidFill>
                <a:latin typeface="Montserrat"/>
                <a:ea typeface="Montserrat"/>
                <a:cs typeface="Montserrat"/>
                <a:sym typeface="Montserrat"/>
              </a:rPr>
              <a:t> : </a:t>
            </a:r>
            <a:r>
              <a:rPr lang="en-US" sz="1673" dirty="0" err="1">
                <a:solidFill>
                  <a:srgbClr val="240960"/>
                </a:solidFill>
                <a:latin typeface="Montserrat"/>
                <a:ea typeface="Montserrat"/>
                <a:cs typeface="Montserrat"/>
                <a:sym typeface="Montserrat"/>
              </a:rPr>
              <a:t>chaque</a:t>
            </a:r>
            <a:r>
              <a:rPr lang="en-US" sz="1673" dirty="0">
                <a:solidFill>
                  <a:srgbClr val="240960"/>
                </a:solidFill>
                <a:latin typeface="Montserrat"/>
                <a:ea typeface="Montserrat"/>
                <a:cs typeface="Montserrat"/>
                <a:sym typeface="Montserrat"/>
              </a:rPr>
              <a:t> </a:t>
            </a:r>
            <a:r>
              <a:rPr lang="en-US" sz="1673" dirty="0" err="1">
                <a:solidFill>
                  <a:srgbClr val="240960"/>
                </a:solidFill>
                <a:latin typeface="Montserrat"/>
                <a:ea typeface="Montserrat"/>
                <a:cs typeface="Montserrat"/>
                <a:sym typeface="Montserrat"/>
              </a:rPr>
              <a:t>nœud</a:t>
            </a:r>
            <a:r>
              <a:rPr lang="en-US" sz="1673" dirty="0">
                <a:solidFill>
                  <a:srgbClr val="240960"/>
                </a:solidFill>
                <a:latin typeface="Montserrat"/>
                <a:ea typeface="Montserrat"/>
                <a:cs typeface="Montserrat"/>
                <a:sym typeface="Montserrat"/>
              </a:rPr>
              <a:t> attend un </a:t>
            </a:r>
            <a:r>
              <a:rPr lang="en-US" sz="1673" dirty="0" err="1">
                <a:solidFill>
                  <a:srgbClr val="240960"/>
                </a:solidFill>
                <a:latin typeface="Montserrat"/>
                <a:ea typeface="Montserrat"/>
                <a:cs typeface="Montserrat"/>
                <a:sym typeface="Montserrat"/>
              </a:rPr>
              <a:t>délai</a:t>
            </a:r>
            <a:r>
              <a:rPr lang="en-US" sz="1673" dirty="0">
                <a:solidFill>
                  <a:srgbClr val="240960"/>
                </a:solidFill>
                <a:latin typeface="Montserrat"/>
                <a:ea typeface="Montserrat"/>
                <a:cs typeface="Montserrat"/>
                <a:sym typeface="Montserrat"/>
              </a:rPr>
              <a:t> variable. Si </a:t>
            </a:r>
            <a:r>
              <a:rPr lang="en-US" sz="1673" dirty="0" err="1">
                <a:solidFill>
                  <a:srgbClr val="240960"/>
                </a:solidFill>
                <a:latin typeface="Montserrat"/>
                <a:ea typeface="Montserrat"/>
                <a:cs typeface="Montserrat"/>
                <a:sym typeface="Montserrat"/>
              </a:rPr>
              <a:t>aucun</a:t>
            </a:r>
            <a:r>
              <a:rPr lang="en-US" sz="1673" dirty="0">
                <a:solidFill>
                  <a:srgbClr val="240960"/>
                </a:solidFill>
                <a:latin typeface="Montserrat"/>
                <a:ea typeface="Montserrat"/>
                <a:cs typeface="Montserrat"/>
                <a:sym typeface="Montserrat"/>
              </a:rPr>
              <a:t> message du leader </a:t>
            </a:r>
            <a:r>
              <a:rPr lang="en-US" sz="1673" dirty="0" err="1">
                <a:solidFill>
                  <a:srgbClr val="240960"/>
                </a:solidFill>
                <a:latin typeface="Montserrat"/>
                <a:ea typeface="Montserrat"/>
                <a:cs typeface="Montserrat"/>
                <a:sym typeface="Montserrat"/>
              </a:rPr>
              <a:t>n'arrive</a:t>
            </a:r>
            <a:r>
              <a:rPr lang="en-US" sz="1673" dirty="0">
                <a:solidFill>
                  <a:srgbClr val="240960"/>
                </a:solidFill>
                <a:latin typeface="Montserrat"/>
                <a:ea typeface="Montserrat"/>
                <a:cs typeface="Montserrat"/>
                <a:sym typeface="Montserrat"/>
              </a:rPr>
              <a:t>, le </a:t>
            </a:r>
            <a:r>
              <a:rPr lang="en-US" sz="1673" dirty="0" err="1">
                <a:solidFill>
                  <a:srgbClr val="240960"/>
                </a:solidFill>
                <a:latin typeface="Montserrat"/>
                <a:ea typeface="Montserrat"/>
                <a:cs typeface="Montserrat"/>
                <a:sym typeface="Montserrat"/>
              </a:rPr>
              <a:t>nœud</a:t>
            </a:r>
            <a:r>
              <a:rPr lang="en-US" sz="1673" dirty="0">
                <a:solidFill>
                  <a:srgbClr val="240960"/>
                </a:solidFill>
                <a:latin typeface="Montserrat"/>
                <a:ea typeface="Montserrat"/>
                <a:cs typeface="Montserrat"/>
                <a:sym typeface="Montserrat"/>
              </a:rPr>
              <a:t> </a:t>
            </a:r>
            <a:r>
              <a:rPr lang="en-US" sz="1673" dirty="0" err="1">
                <a:solidFill>
                  <a:srgbClr val="240960"/>
                </a:solidFill>
                <a:latin typeface="Montserrat"/>
                <a:ea typeface="Montserrat"/>
                <a:cs typeface="Montserrat"/>
                <a:sym typeface="Montserrat"/>
              </a:rPr>
              <a:t>devient</a:t>
            </a:r>
            <a:r>
              <a:rPr lang="en-US" sz="1673" dirty="0">
                <a:solidFill>
                  <a:srgbClr val="240960"/>
                </a:solidFill>
                <a:latin typeface="Montserrat"/>
                <a:ea typeface="Montserrat"/>
                <a:cs typeface="Montserrat"/>
                <a:sym typeface="Montserrat"/>
              </a:rPr>
              <a:t> </a:t>
            </a:r>
            <a:r>
              <a:rPr lang="en-US" sz="1673" dirty="0" err="1">
                <a:solidFill>
                  <a:srgbClr val="240960"/>
                </a:solidFill>
                <a:latin typeface="Montserrat"/>
                <a:ea typeface="Montserrat"/>
                <a:cs typeface="Montserrat"/>
                <a:sym typeface="Montserrat"/>
              </a:rPr>
              <a:t>candidat</a:t>
            </a:r>
            <a:r>
              <a:rPr lang="en-US" sz="1673" dirty="0">
                <a:solidFill>
                  <a:srgbClr val="240960"/>
                </a:solidFill>
                <a:latin typeface="Montserrat"/>
                <a:ea typeface="Montserrat"/>
                <a:cs typeface="Montserrat"/>
                <a:sym typeface="Montserrat"/>
              </a:rPr>
              <a:t> et lance </a:t>
            </a:r>
            <a:r>
              <a:rPr lang="en-US" sz="1673" dirty="0" err="1">
                <a:solidFill>
                  <a:srgbClr val="240960"/>
                </a:solidFill>
                <a:latin typeface="Montserrat"/>
                <a:ea typeface="Montserrat"/>
                <a:cs typeface="Montserrat"/>
                <a:sym typeface="Montserrat"/>
              </a:rPr>
              <a:t>une</a:t>
            </a:r>
            <a:r>
              <a:rPr lang="en-US" sz="1673" dirty="0">
                <a:solidFill>
                  <a:srgbClr val="240960"/>
                </a:solidFill>
                <a:latin typeface="Montserrat"/>
                <a:ea typeface="Montserrat"/>
                <a:cs typeface="Montserrat"/>
                <a:sym typeface="Montserrat"/>
              </a:rPr>
              <a:t> </a:t>
            </a:r>
            <a:r>
              <a:rPr lang="en-US" sz="1673" dirty="0" err="1">
                <a:solidFill>
                  <a:srgbClr val="240960"/>
                </a:solidFill>
                <a:latin typeface="Montserrat"/>
                <a:ea typeface="Montserrat"/>
                <a:cs typeface="Montserrat"/>
                <a:sym typeface="Montserrat"/>
              </a:rPr>
              <a:t>élection</a:t>
            </a:r>
            <a:r>
              <a:rPr lang="en-US" sz="1673" dirty="0">
                <a:solidFill>
                  <a:srgbClr val="240960"/>
                </a:solidFill>
                <a:latin typeface="Montserrat"/>
                <a:ea typeface="Montserrat"/>
                <a:cs typeface="Montserrat"/>
                <a:sym typeface="Montserrat"/>
              </a:rPr>
              <a:t>.</a:t>
            </a:r>
          </a:p>
        </p:txBody>
      </p:sp>
      <p:sp>
        <p:nvSpPr>
          <p:cNvPr id="15" name="TextBox 15"/>
          <p:cNvSpPr txBox="1"/>
          <p:nvPr/>
        </p:nvSpPr>
        <p:spPr>
          <a:xfrm>
            <a:off x="10095724" y="6210555"/>
            <a:ext cx="6574791" cy="721206"/>
          </a:xfrm>
          <a:prstGeom prst="rect">
            <a:avLst/>
          </a:prstGeom>
        </p:spPr>
        <p:txBody>
          <a:bodyPr lIns="0" tIns="0" rIns="0" bIns="0" rtlCol="0" anchor="t">
            <a:spAutoFit/>
          </a:bodyPr>
          <a:lstStyle/>
          <a:p>
            <a:pPr marL="0" lvl="0" indent="0" algn="l">
              <a:lnSpc>
                <a:spcPts val="1908"/>
              </a:lnSpc>
            </a:pPr>
            <a:r>
              <a:rPr lang="en-US" sz="1673" dirty="0" err="1">
                <a:solidFill>
                  <a:srgbClr val="240960"/>
                </a:solidFill>
                <a:latin typeface="Montserrat"/>
                <a:ea typeface="Montserrat"/>
                <a:cs typeface="Montserrat"/>
                <a:sym typeface="Montserrat"/>
              </a:rPr>
              <a:t>Demande</a:t>
            </a:r>
            <a:r>
              <a:rPr lang="en-US" sz="1673" dirty="0">
                <a:solidFill>
                  <a:srgbClr val="240960"/>
                </a:solidFill>
                <a:latin typeface="Montserrat"/>
                <a:ea typeface="Montserrat"/>
                <a:cs typeface="Montserrat"/>
                <a:sym typeface="Montserrat"/>
              </a:rPr>
              <a:t> de votes : le </a:t>
            </a:r>
            <a:r>
              <a:rPr lang="en-US" sz="1673" dirty="0" err="1">
                <a:solidFill>
                  <a:srgbClr val="240960"/>
                </a:solidFill>
                <a:latin typeface="Montserrat"/>
                <a:ea typeface="Montserrat"/>
                <a:cs typeface="Montserrat"/>
                <a:sym typeface="Montserrat"/>
              </a:rPr>
              <a:t>candidat</a:t>
            </a:r>
            <a:r>
              <a:rPr lang="en-US" sz="1673" dirty="0">
                <a:solidFill>
                  <a:srgbClr val="240960"/>
                </a:solidFill>
                <a:latin typeface="Montserrat"/>
                <a:ea typeface="Montserrat"/>
                <a:cs typeface="Montserrat"/>
                <a:sym typeface="Montserrat"/>
              </a:rPr>
              <a:t> </a:t>
            </a:r>
            <a:r>
              <a:rPr lang="en-US" sz="1673" dirty="0" err="1">
                <a:solidFill>
                  <a:srgbClr val="240960"/>
                </a:solidFill>
                <a:latin typeface="Montserrat"/>
                <a:ea typeface="Montserrat"/>
                <a:cs typeface="Montserrat"/>
                <a:sym typeface="Montserrat"/>
              </a:rPr>
              <a:t>envoie</a:t>
            </a:r>
            <a:r>
              <a:rPr lang="en-US" sz="1673" dirty="0">
                <a:solidFill>
                  <a:srgbClr val="240960"/>
                </a:solidFill>
                <a:latin typeface="Montserrat"/>
                <a:ea typeface="Montserrat"/>
                <a:cs typeface="Montserrat"/>
                <a:sym typeface="Montserrat"/>
              </a:rPr>
              <a:t> </a:t>
            </a:r>
            <a:r>
              <a:rPr lang="en-US" sz="1673" dirty="0" err="1">
                <a:solidFill>
                  <a:srgbClr val="240960"/>
                </a:solidFill>
                <a:latin typeface="Montserrat"/>
                <a:ea typeface="Montserrat"/>
                <a:cs typeface="Montserrat"/>
                <a:sym typeface="Montserrat"/>
              </a:rPr>
              <a:t>une</a:t>
            </a:r>
            <a:r>
              <a:rPr lang="en-US" sz="1673" dirty="0">
                <a:solidFill>
                  <a:srgbClr val="240960"/>
                </a:solidFill>
                <a:latin typeface="Montserrat"/>
                <a:ea typeface="Montserrat"/>
                <a:cs typeface="Montserrat"/>
                <a:sym typeface="Montserrat"/>
              </a:rPr>
              <a:t> </a:t>
            </a:r>
            <a:r>
              <a:rPr lang="en-US" sz="1673" dirty="0" err="1">
                <a:solidFill>
                  <a:srgbClr val="240960"/>
                </a:solidFill>
                <a:latin typeface="Montserrat"/>
                <a:ea typeface="Montserrat"/>
                <a:cs typeface="Montserrat"/>
                <a:sym typeface="Montserrat"/>
              </a:rPr>
              <a:t>requête</a:t>
            </a:r>
            <a:r>
              <a:rPr lang="en-US" sz="1673" dirty="0">
                <a:solidFill>
                  <a:srgbClr val="240960"/>
                </a:solidFill>
                <a:latin typeface="Montserrat"/>
                <a:ea typeface="Montserrat"/>
                <a:cs typeface="Montserrat"/>
                <a:sym typeface="Montserrat"/>
              </a:rPr>
              <a:t> </a:t>
            </a:r>
            <a:r>
              <a:rPr lang="en-US" sz="1673" dirty="0" err="1">
                <a:solidFill>
                  <a:srgbClr val="240960"/>
                </a:solidFill>
                <a:latin typeface="Montserrat"/>
                <a:ea typeface="Montserrat"/>
                <a:cs typeface="Montserrat"/>
                <a:sym typeface="Montserrat"/>
              </a:rPr>
              <a:t>RequestVote</a:t>
            </a:r>
            <a:r>
              <a:rPr lang="en-US" sz="1673" dirty="0">
                <a:solidFill>
                  <a:srgbClr val="240960"/>
                </a:solidFill>
                <a:latin typeface="Montserrat"/>
                <a:ea typeface="Montserrat"/>
                <a:cs typeface="Montserrat"/>
                <a:sym typeface="Montserrat"/>
              </a:rPr>
              <a:t> à </a:t>
            </a:r>
            <a:r>
              <a:rPr lang="en-US" sz="1673" dirty="0" err="1">
                <a:solidFill>
                  <a:srgbClr val="240960"/>
                </a:solidFill>
                <a:latin typeface="Montserrat"/>
                <a:ea typeface="Montserrat"/>
                <a:cs typeface="Montserrat"/>
                <a:sym typeface="Montserrat"/>
              </a:rPr>
              <a:t>tous</a:t>
            </a:r>
            <a:r>
              <a:rPr lang="en-US" sz="1673" dirty="0">
                <a:solidFill>
                  <a:srgbClr val="240960"/>
                </a:solidFill>
                <a:latin typeface="Montserrat"/>
                <a:ea typeface="Montserrat"/>
                <a:cs typeface="Montserrat"/>
                <a:sym typeface="Montserrat"/>
              </a:rPr>
              <a:t> les </a:t>
            </a:r>
            <a:r>
              <a:rPr lang="en-US" sz="1673" dirty="0" err="1">
                <a:solidFill>
                  <a:srgbClr val="240960"/>
                </a:solidFill>
                <a:latin typeface="Montserrat"/>
                <a:ea typeface="Montserrat"/>
                <a:cs typeface="Montserrat"/>
                <a:sym typeface="Montserrat"/>
              </a:rPr>
              <a:t>autres</a:t>
            </a:r>
            <a:r>
              <a:rPr lang="en-US" sz="1673" dirty="0">
                <a:solidFill>
                  <a:srgbClr val="240960"/>
                </a:solidFill>
                <a:latin typeface="Montserrat"/>
                <a:ea typeface="Montserrat"/>
                <a:cs typeface="Montserrat"/>
                <a:sym typeface="Montserrat"/>
              </a:rPr>
              <a:t> </a:t>
            </a:r>
            <a:r>
              <a:rPr lang="en-US" sz="1673" dirty="0" err="1">
                <a:solidFill>
                  <a:srgbClr val="240960"/>
                </a:solidFill>
                <a:latin typeface="Montserrat"/>
                <a:ea typeface="Montserrat"/>
                <a:cs typeface="Montserrat"/>
                <a:sym typeface="Montserrat"/>
              </a:rPr>
              <a:t>nœuds</a:t>
            </a:r>
            <a:r>
              <a:rPr lang="en-US" sz="1673" dirty="0">
                <a:solidFill>
                  <a:srgbClr val="240960"/>
                </a:solidFill>
                <a:latin typeface="Montserrat"/>
                <a:ea typeface="Montserrat"/>
                <a:cs typeface="Montserrat"/>
                <a:sym typeface="Montserrat"/>
              </a:rPr>
              <a:t> du cluster pour </a:t>
            </a:r>
            <a:r>
              <a:rPr lang="en-US" sz="1673" dirty="0" err="1">
                <a:solidFill>
                  <a:srgbClr val="240960"/>
                </a:solidFill>
                <a:latin typeface="Montserrat"/>
                <a:ea typeface="Montserrat"/>
                <a:cs typeface="Montserrat"/>
                <a:sym typeface="Montserrat"/>
              </a:rPr>
              <a:t>solliciter</a:t>
            </a:r>
            <a:r>
              <a:rPr lang="en-US" sz="1673" dirty="0">
                <a:solidFill>
                  <a:srgbClr val="240960"/>
                </a:solidFill>
                <a:latin typeface="Montserrat"/>
                <a:ea typeface="Montserrat"/>
                <a:cs typeface="Montserrat"/>
                <a:sym typeface="Montserrat"/>
              </a:rPr>
              <a:t> </a:t>
            </a:r>
            <a:r>
              <a:rPr lang="en-US" sz="1673" dirty="0" err="1">
                <a:solidFill>
                  <a:srgbClr val="240960"/>
                </a:solidFill>
                <a:latin typeface="Montserrat"/>
                <a:ea typeface="Montserrat"/>
                <a:cs typeface="Montserrat"/>
                <a:sym typeface="Montserrat"/>
              </a:rPr>
              <a:t>leur</a:t>
            </a:r>
            <a:r>
              <a:rPr lang="en-US" sz="1673" dirty="0">
                <a:solidFill>
                  <a:srgbClr val="240960"/>
                </a:solidFill>
                <a:latin typeface="Montserrat"/>
                <a:ea typeface="Montserrat"/>
                <a:cs typeface="Montserrat"/>
                <a:sym typeface="Montserrat"/>
              </a:rPr>
              <a:t> </a:t>
            </a:r>
            <a:r>
              <a:rPr lang="en-US" sz="1673" dirty="0" err="1">
                <a:solidFill>
                  <a:srgbClr val="240960"/>
                </a:solidFill>
                <a:latin typeface="Montserrat"/>
                <a:ea typeface="Montserrat"/>
                <a:cs typeface="Montserrat"/>
                <a:sym typeface="Montserrat"/>
              </a:rPr>
              <a:t>soutien</a:t>
            </a:r>
            <a:r>
              <a:rPr lang="en-US" sz="1673" dirty="0">
                <a:solidFill>
                  <a:srgbClr val="240960"/>
                </a:solidFill>
                <a:latin typeface="Montserrat"/>
                <a:ea typeface="Montserrat"/>
                <a:cs typeface="Montserrat"/>
                <a:sym typeface="Montserrat"/>
              </a:rPr>
              <a:t>.</a:t>
            </a:r>
          </a:p>
        </p:txBody>
      </p:sp>
      <p:sp>
        <p:nvSpPr>
          <p:cNvPr id="16" name="TextBox 16"/>
          <p:cNvSpPr txBox="1"/>
          <p:nvPr/>
        </p:nvSpPr>
        <p:spPr>
          <a:xfrm>
            <a:off x="10069058" y="7405159"/>
            <a:ext cx="6574791" cy="481881"/>
          </a:xfrm>
          <a:prstGeom prst="rect">
            <a:avLst/>
          </a:prstGeom>
        </p:spPr>
        <p:txBody>
          <a:bodyPr lIns="0" tIns="0" rIns="0" bIns="0" rtlCol="0" anchor="t">
            <a:spAutoFit/>
          </a:bodyPr>
          <a:lstStyle/>
          <a:p>
            <a:pPr marL="0" lvl="0" indent="0" algn="l">
              <a:lnSpc>
                <a:spcPts val="1908"/>
              </a:lnSpc>
            </a:pPr>
            <a:r>
              <a:rPr lang="en-US" sz="1673" dirty="0" err="1">
                <a:solidFill>
                  <a:srgbClr val="240960"/>
                </a:solidFill>
                <a:latin typeface="Montserrat"/>
                <a:ea typeface="Montserrat"/>
                <a:cs typeface="Montserrat"/>
                <a:sym typeface="Montserrat"/>
              </a:rPr>
              <a:t>Majorité</a:t>
            </a:r>
            <a:r>
              <a:rPr lang="en-US" sz="1673" dirty="0">
                <a:solidFill>
                  <a:srgbClr val="240960"/>
                </a:solidFill>
                <a:latin typeface="Montserrat"/>
                <a:ea typeface="Montserrat"/>
                <a:cs typeface="Montserrat"/>
                <a:sym typeface="Montserrat"/>
              </a:rPr>
              <a:t> </a:t>
            </a:r>
            <a:r>
              <a:rPr lang="en-US" sz="1673" dirty="0" err="1">
                <a:solidFill>
                  <a:srgbClr val="240960"/>
                </a:solidFill>
                <a:latin typeface="Montserrat"/>
                <a:ea typeface="Montserrat"/>
                <a:cs typeface="Montserrat"/>
                <a:sym typeface="Montserrat"/>
              </a:rPr>
              <a:t>requise</a:t>
            </a:r>
            <a:r>
              <a:rPr lang="en-US" sz="1673" dirty="0">
                <a:solidFill>
                  <a:srgbClr val="240960"/>
                </a:solidFill>
                <a:latin typeface="Montserrat"/>
                <a:ea typeface="Montserrat"/>
                <a:cs typeface="Montserrat"/>
                <a:sym typeface="Montserrat"/>
              </a:rPr>
              <a:t> : le </a:t>
            </a:r>
            <a:r>
              <a:rPr lang="en-US" sz="1673" dirty="0" err="1">
                <a:solidFill>
                  <a:srgbClr val="240960"/>
                </a:solidFill>
                <a:latin typeface="Montserrat"/>
                <a:ea typeface="Montserrat"/>
                <a:cs typeface="Montserrat"/>
                <a:sym typeface="Montserrat"/>
              </a:rPr>
              <a:t>candidat</a:t>
            </a:r>
            <a:r>
              <a:rPr lang="en-US" sz="1673" dirty="0">
                <a:solidFill>
                  <a:srgbClr val="240960"/>
                </a:solidFill>
                <a:latin typeface="Montserrat"/>
                <a:ea typeface="Montserrat"/>
                <a:cs typeface="Montserrat"/>
                <a:sym typeface="Montserrat"/>
              </a:rPr>
              <a:t> </a:t>
            </a:r>
            <a:r>
              <a:rPr lang="en-US" sz="1673" dirty="0" err="1">
                <a:solidFill>
                  <a:srgbClr val="240960"/>
                </a:solidFill>
                <a:latin typeface="Montserrat"/>
                <a:ea typeface="Montserrat"/>
                <a:cs typeface="Montserrat"/>
                <a:sym typeface="Montserrat"/>
              </a:rPr>
              <a:t>devient</a:t>
            </a:r>
            <a:r>
              <a:rPr lang="en-US" sz="1673" dirty="0">
                <a:solidFill>
                  <a:srgbClr val="240960"/>
                </a:solidFill>
                <a:latin typeface="Montserrat"/>
                <a:ea typeface="Montserrat"/>
                <a:cs typeface="Montserrat"/>
                <a:sym typeface="Montserrat"/>
              </a:rPr>
              <a:t> leader </a:t>
            </a:r>
            <a:r>
              <a:rPr lang="en-US" sz="1673" dirty="0" err="1">
                <a:solidFill>
                  <a:srgbClr val="240960"/>
                </a:solidFill>
                <a:latin typeface="Montserrat"/>
                <a:ea typeface="Montserrat"/>
                <a:cs typeface="Montserrat"/>
                <a:sym typeface="Montserrat"/>
              </a:rPr>
              <a:t>uniquement</a:t>
            </a:r>
            <a:r>
              <a:rPr lang="en-US" sz="1673" dirty="0">
                <a:solidFill>
                  <a:srgbClr val="240960"/>
                </a:solidFill>
                <a:latin typeface="Montserrat"/>
                <a:ea typeface="Montserrat"/>
                <a:cs typeface="Montserrat"/>
                <a:sym typeface="Montserrat"/>
              </a:rPr>
              <a:t> </a:t>
            </a:r>
            <a:r>
              <a:rPr lang="en-US" sz="1673" dirty="0" err="1">
                <a:solidFill>
                  <a:srgbClr val="240960"/>
                </a:solidFill>
                <a:latin typeface="Montserrat"/>
                <a:ea typeface="Montserrat"/>
                <a:cs typeface="Montserrat"/>
                <a:sym typeface="Montserrat"/>
              </a:rPr>
              <a:t>s'il</a:t>
            </a:r>
            <a:r>
              <a:rPr lang="en-US" sz="1673" dirty="0">
                <a:solidFill>
                  <a:srgbClr val="240960"/>
                </a:solidFill>
                <a:latin typeface="Montserrat"/>
                <a:ea typeface="Montserrat"/>
                <a:cs typeface="Montserrat"/>
                <a:sym typeface="Montserrat"/>
              </a:rPr>
              <a:t> </a:t>
            </a:r>
            <a:r>
              <a:rPr lang="en-US" sz="1673" dirty="0" err="1">
                <a:solidFill>
                  <a:srgbClr val="240960"/>
                </a:solidFill>
                <a:latin typeface="Montserrat"/>
                <a:ea typeface="Montserrat"/>
                <a:cs typeface="Montserrat"/>
                <a:sym typeface="Montserrat"/>
              </a:rPr>
              <a:t>obtient</a:t>
            </a:r>
            <a:r>
              <a:rPr lang="en-US" sz="1673" dirty="0">
                <a:solidFill>
                  <a:srgbClr val="240960"/>
                </a:solidFill>
                <a:latin typeface="Montserrat"/>
                <a:ea typeface="Montserrat"/>
                <a:cs typeface="Montserrat"/>
                <a:sym typeface="Montserrat"/>
              </a:rPr>
              <a:t> les votes de la </a:t>
            </a:r>
            <a:r>
              <a:rPr lang="en-US" sz="1673" dirty="0" err="1">
                <a:solidFill>
                  <a:srgbClr val="240960"/>
                </a:solidFill>
                <a:latin typeface="Montserrat"/>
                <a:ea typeface="Montserrat"/>
                <a:cs typeface="Montserrat"/>
                <a:sym typeface="Montserrat"/>
              </a:rPr>
              <a:t>majorité</a:t>
            </a:r>
            <a:r>
              <a:rPr lang="en-US" sz="1673" dirty="0">
                <a:solidFill>
                  <a:srgbClr val="240960"/>
                </a:solidFill>
                <a:latin typeface="Montserrat"/>
                <a:ea typeface="Montserrat"/>
                <a:cs typeface="Montserrat"/>
                <a:sym typeface="Montserrat"/>
              </a:rPr>
              <a:t> des </a:t>
            </a:r>
            <a:r>
              <a:rPr lang="en-US" sz="1673" dirty="0" err="1">
                <a:solidFill>
                  <a:srgbClr val="240960"/>
                </a:solidFill>
                <a:latin typeface="Montserrat"/>
                <a:ea typeface="Montserrat"/>
                <a:cs typeface="Montserrat"/>
                <a:sym typeface="Montserrat"/>
              </a:rPr>
              <a:t>serveurs</a:t>
            </a:r>
            <a:r>
              <a:rPr lang="en-US" sz="1673" dirty="0">
                <a:solidFill>
                  <a:srgbClr val="240960"/>
                </a:solidFill>
                <a:latin typeface="Montserrat"/>
                <a:ea typeface="Montserrat"/>
                <a:cs typeface="Montserrat"/>
                <a:sym typeface="Montserrat"/>
              </a:rPr>
              <a:t> (quorum).</a:t>
            </a:r>
          </a:p>
        </p:txBody>
      </p:sp>
      <p:grpSp>
        <p:nvGrpSpPr>
          <p:cNvPr id="17" name="Group 17"/>
          <p:cNvGrpSpPr/>
          <p:nvPr/>
        </p:nvGrpSpPr>
        <p:grpSpPr>
          <a:xfrm>
            <a:off x="9526317" y="5012481"/>
            <a:ext cx="262038" cy="262038"/>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5B45B5">
                    <a:alpha val="96000"/>
                  </a:srgbClr>
                </a:gs>
                <a:gs pos="100000">
                  <a:srgbClr val="8875D7">
                    <a:alpha val="96000"/>
                  </a:srgbClr>
                </a:gs>
              </a:gsLst>
              <a:lin ang="0"/>
            </a:gradFill>
          </p:spPr>
        </p:sp>
        <p:sp>
          <p:nvSpPr>
            <p:cNvPr id="19" name="TextBox 19"/>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pPr>
              <a:endParaRPr/>
            </a:p>
          </p:txBody>
        </p:sp>
      </p:grpSp>
      <p:grpSp>
        <p:nvGrpSpPr>
          <p:cNvPr id="20" name="Group 20"/>
          <p:cNvGrpSpPr/>
          <p:nvPr/>
        </p:nvGrpSpPr>
        <p:grpSpPr>
          <a:xfrm>
            <a:off x="9526317" y="6210555"/>
            <a:ext cx="262038" cy="262038"/>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5B45B5">
                    <a:alpha val="96000"/>
                  </a:srgbClr>
                </a:gs>
                <a:gs pos="100000">
                  <a:srgbClr val="8875D7">
                    <a:alpha val="96000"/>
                  </a:srgbClr>
                </a:gs>
              </a:gsLst>
              <a:lin ang="0"/>
            </a:gradFill>
          </p:spPr>
        </p:sp>
        <p:sp>
          <p:nvSpPr>
            <p:cNvPr id="22" name="TextBox 22"/>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pPr>
              <a:endParaRPr/>
            </a:p>
          </p:txBody>
        </p:sp>
      </p:grpSp>
      <p:grpSp>
        <p:nvGrpSpPr>
          <p:cNvPr id="23" name="Group 23"/>
          <p:cNvGrpSpPr/>
          <p:nvPr/>
        </p:nvGrpSpPr>
        <p:grpSpPr>
          <a:xfrm>
            <a:off x="9526317" y="7408628"/>
            <a:ext cx="262038" cy="262038"/>
            <a:chOff x="0" y="0"/>
            <a:chExt cx="812800" cy="812800"/>
          </a:xfrm>
        </p:grpSpPr>
        <p:sp>
          <p:nvSpPr>
            <p:cNvPr id="24" name="Freeform 2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5B45B5">
                    <a:alpha val="96000"/>
                  </a:srgbClr>
                </a:gs>
                <a:gs pos="100000">
                  <a:srgbClr val="8875D7">
                    <a:alpha val="96000"/>
                  </a:srgbClr>
                </a:gs>
              </a:gsLst>
              <a:lin ang="0"/>
            </a:gradFill>
          </p:spPr>
        </p:sp>
        <p:sp>
          <p:nvSpPr>
            <p:cNvPr id="25" name="TextBox 25"/>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pPr>
              <a:endParaRPr/>
            </a:p>
          </p:txBody>
        </p:sp>
      </p:grpSp>
      <p:grpSp>
        <p:nvGrpSpPr>
          <p:cNvPr id="26" name="Group 26"/>
          <p:cNvGrpSpPr/>
          <p:nvPr/>
        </p:nvGrpSpPr>
        <p:grpSpPr>
          <a:xfrm>
            <a:off x="429600" y="2555251"/>
            <a:ext cx="2028716" cy="2080953"/>
            <a:chOff x="0" y="0"/>
            <a:chExt cx="534312" cy="548070"/>
          </a:xfrm>
        </p:grpSpPr>
        <p:sp>
          <p:nvSpPr>
            <p:cNvPr id="27" name="Freeform 27"/>
            <p:cNvSpPr/>
            <p:nvPr/>
          </p:nvSpPr>
          <p:spPr>
            <a:xfrm>
              <a:off x="0" y="0"/>
              <a:ext cx="534312" cy="548070"/>
            </a:xfrm>
            <a:custGeom>
              <a:avLst/>
              <a:gdLst/>
              <a:ahLst/>
              <a:cxnLst/>
              <a:rect l="l" t="t" r="r" b="b"/>
              <a:pathLst>
                <a:path w="534312" h="548070">
                  <a:moveTo>
                    <a:pt x="0" y="0"/>
                  </a:moveTo>
                  <a:lnTo>
                    <a:pt x="534312" y="0"/>
                  </a:lnTo>
                  <a:lnTo>
                    <a:pt x="534312" y="548070"/>
                  </a:lnTo>
                  <a:lnTo>
                    <a:pt x="0" y="548070"/>
                  </a:lnTo>
                  <a:close/>
                </a:path>
              </a:pathLst>
            </a:custGeom>
            <a:gradFill rotWithShape="1">
              <a:gsLst>
                <a:gs pos="0">
                  <a:srgbClr val="3C67BF">
                    <a:alpha val="79000"/>
                  </a:srgbClr>
                </a:gs>
                <a:gs pos="100000">
                  <a:srgbClr val="F7ACFF">
                    <a:alpha val="79000"/>
                  </a:srgbClr>
                </a:gs>
              </a:gsLst>
              <a:lin ang="0"/>
            </a:gradFill>
          </p:spPr>
        </p:sp>
        <p:sp>
          <p:nvSpPr>
            <p:cNvPr id="28" name="TextBox 28"/>
            <p:cNvSpPr txBox="1"/>
            <p:nvPr/>
          </p:nvSpPr>
          <p:spPr>
            <a:xfrm>
              <a:off x="0" y="-38100"/>
              <a:ext cx="534312" cy="586170"/>
            </a:xfrm>
            <a:prstGeom prst="rect">
              <a:avLst/>
            </a:prstGeom>
          </p:spPr>
          <p:txBody>
            <a:bodyPr lIns="50800" tIns="50800" rIns="50800" bIns="50800" rtlCol="0" anchor="ctr"/>
            <a:lstStyle/>
            <a:p>
              <a:pPr marL="0" lvl="0" indent="0" algn="ctr">
                <a:lnSpc>
                  <a:spcPts val="2659"/>
                </a:lnSpc>
              </a:pPr>
              <a:endParaRPr/>
            </a:p>
          </p:txBody>
        </p:sp>
      </p:grpSp>
      <p:sp>
        <p:nvSpPr>
          <p:cNvPr id="29" name="Freeform 29"/>
          <p:cNvSpPr/>
          <p:nvPr/>
        </p:nvSpPr>
        <p:spPr>
          <a:xfrm>
            <a:off x="1028700" y="9444450"/>
            <a:ext cx="415258" cy="415258"/>
          </a:xfrm>
          <a:custGeom>
            <a:avLst/>
            <a:gdLst/>
            <a:ahLst/>
            <a:cxnLst/>
            <a:rect l="l" t="t" r="r" b="b"/>
            <a:pathLst>
              <a:path w="415258" h="415258">
                <a:moveTo>
                  <a:pt x="0" y="0"/>
                </a:moveTo>
                <a:lnTo>
                  <a:pt x="415258" y="0"/>
                </a:lnTo>
                <a:lnTo>
                  <a:pt x="415258" y="415258"/>
                </a:lnTo>
                <a:lnTo>
                  <a:pt x="0" y="415258"/>
                </a:lnTo>
                <a:lnTo>
                  <a:pt x="0" y="0"/>
                </a:lnTo>
                <a:close/>
              </a:path>
            </a:pathLst>
          </a:custGeom>
          <a:blipFill>
            <a:blip>
              <a:extLst>
                <a:ext uri="{96DAC541-7B7A-43D3-8B79-37D633B846F1}">
                  <asvg:svgBlip xmlns:asvg="http://schemas.microsoft.com/office/drawing/2016/SVG/main" r:embed="rId4"/>
                </a:ext>
              </a:extLst>
            </a:blip>
            <a:stretch>
              <a:fillRect/>
            </a:stretch>
          </a:blipFill>
        </p:spPr>
      </p:sp>
      <p:grpSp>
        <p:nvGrpSpPr>
          <p:cNvPr id="30" name="Group 30"/>
          <p:cNvGrpSpPr/>
          <p:nvPr/>
        </p:nvGrpSpPr>
        <p:grpSpPr>
          <a:xfrm>
            <a:off x="1729360" y="5938378"/>
            <a:ext cx="2494991" cy="2717569"/>
            <a:chOff x="0" y="0"/>
            <a:chExt cx="1018337" cy="1109183"/>
          </a:xfrm>
        </p:grpSpPr>
        <p:sp>
          <p:nvSpPr>
            <p:cNvPr id="31" name="Freeform 31"/>
            <p:cNvSpPr/>
            <p:nvPr/>
          </p:nvSpPr>
          <p:spPr>
            <a:xfrm>
              <a:off x="0" y="0"/>
              <a:ext cx="1018337" cy="1109183"/>
            </a:xfrm>
            <a:custGeom>
              <a:avLst/>
              <a:gdLst/>
              <a:ahLst/>
              <a:cxnLst/>
              <a:rect l="l" t="t" r="r" b="b"/>
              <a:pathLst>
                <a:path w="1018337" h="1109183">
                  <a:moveTo>
                    <a:pt x="0" y="0"/>
                  </a:moveTo>
                  <a:lnTo>
                    <a:pt x="1018337" y="0"/>
                  </a:lnTo>
                  <a:lnTo>
                    <a:pt x="1018337" y="1109183"/>
                  </a:lnTo>
                  <a:lnTo>
                    <a:pt x="0" y="1109183"/>
                  </a:lnTo>
                  <a:close/>
                </a:path>
              </a:pathLst>
            </a:custGeom>
            <a:blipFill>
              <a:blip r:embed="rId5"/>
              <a:stretch>
                <a:fillRect l="-4460" r="-4460"/>
              </a:stretch>
            </a:blipFill>
          </p:spPr>
        </p:sp>
      </p:grpSp>
      <p:grpSp>
        <p:nvGrpSpPr>
          <p:cNvPr id="32" name="Group 32"/>
          <p:cNvGrpSpPr/>
          <p:nvPr/>
        </p:nvGrpSpPr>
        <p:grpSpPr>
          <a:xfrm>
            <a:off x="4971743" y="5938378"/>
            <a:ext cx="2494991" cy="2736677"/>
            <a:chOff x="0" y="0"/>
            <a:chExt cx="1018337" cy="1116982"/>
          </a:xfrm>
        </p:grpSpPr>
        <p:sp>
          <p:nvSpPr>
            <p:cNvPr id="33" name="Freeform 33"/>
            <p:cNvSpPr/>
            <p:nvPr/>
          </p:nvSpPr>
          <p:spPr>
            <a:xfrm>
              <a:off x="0" y="0"/>
              <a:ext cx="1018337" cy="1116982"/>
            </a:xfrm>
            <a:custGeom>
              <a:avLst/>
              <a:gdLst/>
              <a:ahLst/>
              <a:cxnLst/>
              <a:rect l="l" t="t" r="r" b="b"/>
              <a:pathLst>
                <a:path w="1018337" h="1116982">
                  <a:moveTo>
                    <a:pt x="0" y="0"/>
                  </a:moveTo>
                  <a:lnTo>
                    <a:pt x="1018337" y="0"/>
                  </a:lnTo>
                  <a:lnTo>
                    <a:pt x="1018337" y="1116982"/>
                  </a:lnTo>
                  <a:lnTo>
                    <a:pt x="0" y="1116982"/>
                  </a:lnTo>
                  <a:close/>
                </a:path>
              </a:pathLst>
            </a:custGeom>
            <a:blipFill>
              <a:blip r:embed="rId6"/>
              <a:stretch>
                <a:fillRect l="-4843" r="-4843"/>
              </a:stretch>
            </a:blipFill>
          </p:spPr>
        </p:sp>
      </p:grpSp>
      <p:grpSp>
        <p:nvGrpSpPr>
          <p:cNvPr id="34" name="Group 34"/>
          <p:cNvGrpSpPr/>
          <p:nvPr/>
        </p:nvGrpSpPr>
        <p:grpSpPr>
          <a:xfrm>
            <a:off x="15568629" y="-318954"/>
            <a:ext cx="2249937" cy="2249937"/>
            <a:chOff x="0" y="0"/>
            <a:chExt cx="812800" cy="812800"/>
          </a:xfrm>
        </p:grpSpPr>
        <p:sp>
          <p:nvSpPr>
            <p:cNvPr id="35" name="Freeform 3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C67BF">
                    <a:alpha val="58000"/>
                  </a:srgbClr>
                </a:gs>
                <a:gs pos="100000">
                  <a:srgbClr val="F7ACFF">
                    <a:alpha val="58000"/>
                  </a:srgbClr>
                </a:gs>
              </a:gsLst>
              <a:lin ang="0"/>
            </a:gradFill>
          </p:spPr>
        </p:sp>
        <p:sp>
          <p:nvSpPr>
            <p:cNvPr id="36" name="TextBox 36"/>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pPr>
              <a:endParaRPr/>
            </a:p>
          </p:txBody>
        </p:sp>
      </p:grpSp>
      <p:grpSp>
        <p:nvGrpSpPr>
          <p:cNvPr id="37" name="Group 37"/>
          <p:cNvGrpSpPr/>
          <p:nvPr/>
        </p:nvGrpSpPr>
        <p:grpSpPr>
          <a:xfrm>
            <a:off x="17128905" y="1279178"/>
            <a:ext cx="1256320" cy="1256320"/>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C67BF">
                    <a:alpha val="96000"/>
                  </a:srgbClr>
                </a:gs>
                <a:gs pos="100000">
                  <a:srgbClr val="F7ACFF">
                    <a:alpha val="0"/>
                  </a:srgbClr>
                </a:gs>
              </a:gsLst>
              <a:lin ang="0"/>
            </a:gradFill>
          </p:spPr>
        </p:sp>
        <p:sp>
          <p:nvSpPr>
            <p:cNvPr id="39" name="TextBox 39"/>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pPr>
              <a:endParaRPr/>
            </a:p>
          </p:txBody>
        </p:sp>
      </p:grpSp>
      <p:sp>
        <p:nvSpPr>
          <p:cNvPr id="40" name="TextBox 40"/>
          <p:cNvSpPr txBox="1"/>
          <p:nvPr/>
        </p:nvSpPr>
        <p:spPr>
          <a:xfrm>
            <a:off x="16050268" y="9473025"/>
            <a:ext cx="724046" cy="242707"/>
          </a:xfrm>
          <a:prstGeom prst="rect">
            <a:avLst/>
          </a:prstGeom>
        </p:spPr>
        <p:txBody>
          <a:bodyPr lIns="0" tIns="0" rIns="0" bIns="0" rtlCol="0" anchor="t">
            <a:spAutoFit/>
          </a:bodyPr>
          <a:lstStyle/>
          <a:p>
            <a:pPr marL="0" lvl="0" indent="0" algn="l">
              <a:lnSpc>
                <a:spcPts val="1857"/>
              </a:lnSpc>
            </a:pPr>
            <a:r>
              <a:rPr lang="en-US" sz="1821" b="1">
                <a:solidFill>
                  <a:srgbClr val="240960"/>
                </a:solidFill>
                <a:latin typeface="Montserrat Bold"/>
                <a:ea typeface="Montserrat Bold"/>
                <a:cs typeface="Montserrat Bold"/>
                <a:sym typeface="Montserrat Bold"/>
              </a:rPr>
              <a:t>Page</a:t>
            </a:r>
          </a:p>
        </p:txBody>
      </p:sp>
      <p:sp>
        <p:nvSpPr>
          <p:cNvPr id="41" name="TextBox 41"/>
          <p:cNvSpPr txBox="1"/>
          <p:nvPr/>
        </p:nvSpPr>
        <p:spPr>
          <a:xfrm>
            <a:off x="16774314" y="9507706"/>
            <a:ext cx="484986" cy="208026"/>
          </a:xfrm>
          <a:prstGeom prst="rect">
            <a:avLst/>
          </a:prstGeom>
        </p:spPr>
        <p:txBody>
          <a:bodyPr lIns="0" tIns="0" rIns="0" bIns="0" rtlCol="0" anchor="t">
            <a:spAutoFit/>
          </a:bodyPr>
          <a:lstStyle/>
          <a:p>
            <a:pPr marL="0" lvl="0" indent="0" algn="l">
              <a:lnSpc>
                <a:spcPts val="1631"/>
              </a:lnSpc>
            </a:pPr>
            <a:r>
              <a:rPr lang="en-US" sz="1599">
                <a:solidFill>
                  <a:srgbClr val="240960"/>
                </a:solidFill>
                <a:latin typeface="Montserrat"/>
                <a:ea typeface="Montserrat"/>
                <a:cs typeface="Montserrat"/>
                <a:sym typeface="Montserrat"/>
              </a:rPr>
              <a:t>05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DE5FF"/>
        </a:solidFill>
        <a:effectLst/>
      </p:bgPr>
    </p:bg>
    <p:spTree>
      <p:nvGrpSpPr>
        <p:cNvPr id="1" name=""/>
        <p:cNvGrpSpPr/>
        <p:nvPr/>
      </p:nvGrpSpPr>
      <p:grpSpPr>
        <a:xfrm>
          <a:off x="0" y="0"/>
          <a:ext cx="0" cy="0"/>
          <a:chOff x="0" y="0"/>
          <a:chExt cx="0" cy="0"/>
        </a:xfrm>
      </p:grpSpPr>
      <p:grpSp>
        <p:nvGrpSpPr>
          <p:cNvPr id="2" name="Group 2"/>
          <p:cNvGrpSpPr/>
          <p:nvPr/>
        </p:nvGrpSpPr>
        <p:grpSpPr>
          <a:xfrm rot="-9199303">
            <a:off x="11471833" y="8815521"/>
            <a:ext cx="1256320" cy="1256320"/>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C67BF">
                    <a:alpha val="96000"/>
                  </a:srgbClr>
                </a:gs>
                <a:gs pos="100000">
                  <a:srgbClr val="F7ACFF">
                    <a:alpha val="0"/>
                  </a:srgbClr>
                </a:gs>
              </a:gsLst>
              <a:lin ang="0"/>
            </a:gradFill>
          </p:spPr>
        </p:sp>
        <p:sp>
          <p:nvSpPr>
            <p:cNvPr id="4" name="TextBox 4"/>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pPr>
              <a:endParaRPr/>
            </a:p>
          </p:txBody>
        </p:sp>
      </p:grpSp>
      <p:grpSp>
        <p:nvGrpSpPr>
          <p:cNvPr id="5" name="Group 5"/>
          <p:cNvGrpSpPr/>
          <p:nvPr/>
        </p:nvGrpSpPr>
        <p:grpSpPr>
          <a:xfrm>
            <a:off x="0" y="0"/>
            <a:ext cx="5890927" cy="2778562"/>
            <a:chOff x="-1109287" y="-436114"/>
            <a:chExt cx="6322812" cy="2100664"/>
          </a:xfrm>
        </p:grpSpPr>
        <p:sp>
          <p:nvSpPr>
            <p:cNvPr id="6" name="Freeform 6"/>
            <p:cNvSpPr/>
            <p:nvPr/>
          </p:nvSpPr>
          <p:spPr>
            <a:xfrm>
              <a:off x="-1109287" y="-436114"/>
              <a:ext cx="5213525" cy="1664550"/>
            </a:xfrm>
            <a:custGeom>
              <a:avLst/>
              <a:gdLst/>
              <a:ahLst/>
              <a:cxnLst/>
              <a:rect l="l" t="t" r="r" b="b"/>
              <a:pathLst>
                <a:path w="5213525" h="1664550">
                  <a:moveTo>
                    <a:pt x="0" y="0"/>
                  </a:moveTo>
                  <a:lnTo>
                    <a:pt x="5213525" y="0"/>
                  </a:lnTo>
                  <a:lnTo>
                    <a:pt x="5213525" y="1664550"/>
                  </a:lnTo>
                  <a:lnTo>
                    <a:pt x="0" y="1664550"/>
                  </a:lnTo>
                  <a:close/>
                </a:path>
              </a:pathLst>
            </a:custGeom>
            <a:gradFill rotWithShape="1">
              <a:gsLst>
                <a:gs pos="0">
                  <a:srgbClr val="3C67BF">
                    <a:alpha val="23000"/>
                  </a:srgbClr>
                </a:gs>
                <a:gs pos="50000">
                  <a:srgbClr val="6B4CAF">
                    <a:alpha val="13225"/>
                  </a:srgbClr>
                </a:gs>
                <a:gs pos="100000">
                  <a:srgbClr val="F7ACFF">
                    <a:alpha val="0"/>
                  </a:srgbClr>
                </a:gs>
              </a:gsLst>
              <a:lin ang="0"/>
            </a:gradFill>
          </p:spPr>
        </p:sp>
        <p:sp>
          <p:nvSpPr>
            <p:cNvPr id="7" name="TextBox 7"/>
            <p:cNvSpPr txBox="1"/>
            <p:nvPr/>
          </p:nvSpPr>
          <p:spPr>
            <a:xfrm>
              <a:off x="0" y="-38100"/>
              <a:ext cx="5213525" cy="1702650"/>
            </a:xfrm>
            <a:prstGeom prst="rect">
              <a:avLst/>
            </a:prstGeom>
          </p:spPr>
          <p:txBody>
            <a:bodyPr lIns="50800" tIns="50800" rIns="50800" bIns="50800" rtlCol="0" anchor="ctr"/>
            <a:lstStyle/>
            <a:p>
              <a:pPr marL="0" lvl="0" indent="0" algn="ctr">
                <a:lnSpc>
                  <a:spcPts val="2659"/>
                </a:lnSpc>
              </a:pPr>
              <a:endParaRPr/>
            </a:p>
          </p:txBody>
        </p:sp>
      </p:grpSp>
      <p:grpSp>
        <p:nvGrpSpPr>
          <p:cNvPr id="8" name="Group 8"/>
          <p:cNvGrpSpPr/>
          <p:nvPr/>
        </p:nvGrpSpPr>
        <p:grpSpPr>
          <a:xfrm>
            <a:off x="0" y="502"/>
            <a:ext cx="6648191" cy="2201209"/>
            <a:chOff x="0" y="0"/>
            <a:chExt cx="4845195" cy="1676974"/>
          </a:xfrm>
        </p:grpSpPr>
        <p:sp>
          <p:nvSpPr>
            <p:cNvPr id="9" name="Freeform 9"/>
            <p:cNvSpPr/>
            <p:nvPr/>
          </p:nvSpPr>
          <p:spPr>
            <a:xfrm>
              <a:off x="0" y="0"/>
              <a:ext cx="4845195" cy="1676974"/>
            </a:xfrm>
            <a:custGeom>
              <a:avLst/>
              <a:gdLst/>
              <a:ahLst/>
              <a:cxnLst/>
              <a:rect l="l" t="t" r="r" b="b"/>
              <a:pathLst>
                <a:path w="4845195" h="1676974">
                  <a:moveTo>
                    <a:pt x="0" y="0"/>
                  </a:moveTo>
                  <a:lnTo>
                    <a:pt x="4845195" y="0"/>
                  </a:lnTo>
                  <a:lnTo>
                    <a:pt x="4845195" y="1676974"/>
                  </a:lnTo>
                  <a:lnTo>
                    <a:pt x="0" y="1676974"/>
                  </a:lnTo>
                  <a:close/>
                </a:path>
              </a:pathLst>
            </a:custGeom>
            <a:ln w="57150" cap="sq">
              <a:gradFill>
                <a:gsLst>
                  <a:gs pos="0">
                    <a:srgbClr val="3C67BF">
                      <a:alpha val="100000"/>
                    </a:srgbClr>
                  </a:gs>
                  <a:gs pos="50000">
                    <a:srgbClr val="6B4CAF">
                      <a:alpha val="57500"/>
                    </a:srgbClr>
                  </a:gs>
                  <a:gs pos="100000">
                    <a:srgbClr val="F7ACFF">
                      <a:alpha val="0"/>
                    </a:srgbClr>
                  </a:gs>
                </a:gsLst>
                <a:lin ang="0"/>
              </a:gradFill>
              <a:prstDash val="solid"/>
              <a:miter/>
            </a:ln>
          </p:spPr>
        </p:sp>
        <p:sp>
          <p:nvSpPr>
            <p:cNvPr id="10" name="TextBox 10"/>
            <p:cNvSpPr txBox="1"/>
            <p:nvPr/>
          </p:nvSpPr>
          <p:spPr>
            <a:xfrm>
              <a:off x="0" y="-38100"/>
              <a:ext cx="4845195" cy="1715074"/>
            </a:xfrm>
            <a:prstGeom prst="rect">
              <a:avLst/>
            </a:prstGeom>
          </p:spPr>
          <p:txBody>
            <a:bodyPr lIns="50800" tIns="50800" rIns="50800" bIns="50800" rtlCol="0" anchor="ctr"/>
            <a:lstStyle/>
            <a:p>
              <a:pPr marL="0" lvl="0" indent="0" algn="ctr">
                <a:lnSpc>
                  <a:spcPts val="2659"/>
                </a:lnSpc>
              </a:pPr>
              <a:endParaRPr/>
            </a:p>
          </p:txBody>
        </p:sp>
      </p:grpSp>
      <p:sp>
        <p:nvSpPr>
          <p:cNvPr id="11" name="Freeform 11"/>
          <p:cNvSpPr/>
          <p:nvPr/>
        </p:nvSpPr>
        <p:spPr>
          <a:xfrm>
            <a:off x="1349938" y="875473"/>
            <a:ext cx="490149" cy="403705"/>
          </a:xfrm>
          <a:custGeom>
            <a:avLst/>
            <a:gdLst/>
            <a:ahLst/>
            <a:cxnLst/>
            <a:rect l="l" t="t" r="r" b="b"/>
            <a:pathLst>
              <a:path w="490149" h="403705">
                <a:moveTo>
                  <a:pt x="0" y="0"/>
                </a:moveTo>
                <a:lnTo>
                  <a:pt x="490149" y="0"/>
                </a:lnTo>
                <a:lnTo>
                  <a:pt x="490149" y="403705"/>
                </a:lnTo>
                <a:lnTo>
                  <a:pt x="0" y="403705"/>
                </a:lnTo>
                <a:lnTo>
                  <a:pt x="0" y="0"/>
                </a:lnTo>
                <a:close/>
              </a:path>
            </a:pathLst>
          </a:custGeom>
          <a:blipFill>
            <a:blip>
              <a:extLst>
                <a:ext uri="{96DAC541-7B7A-43D3-8B79-37D633B846F1}">
                  <asvg:svgBlip xmlns:asvg="http://schemas.microsoft.com/office/drawing/2016/SVG/main" r:embed="rId3"/>
                </a:ext>
              </a:extLst>
            </a:blip>
            <a:stretch>
              <a:fillRect/>
            </a:stretch>
          </a:blipFill>
        </p:spPr>
      </p:sp>
      <p:grpSp>
        <p:nvGrpSpPr>
          <p:cNvPr id="12" name="Group 12"/>
          <p:cNvGrpSpPr/>
          <p:nvPr/>
        </p:nvGrpSpPr>
        <p:grpSpPr>
          <a:xfrm>
            <a:off x="1443958" y="4585518"/>
            <a:ext cx="1256320" cy="1256320"/>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C67BF">
                    <a:alpha val="96000"/>
                  </a:srgbClr>
                </a:gs>
                <a:gs pos="100000">
                  <a:srgbClr val="F7ACFF">
                    <a:alpha val="0"/>
                  </a:srgbClr>
                </a:gs>
              </a:gsLst>
              <a:lin ang="0"/>
            </a:gradFill>
          </p:spPr>
        </p:sp>
        <p:sp>
          <p:nvSpPr>
            <p:cNvPr id="14" name="TextBox 14"/>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pPr>
              <a:endParaRPr/>
            </a:p>
          </p:txBody>
        </p:sp>
      </p:grpSp>
      <p:grpSp>
        <p:nvGrpSpPr>
          <p:cNvPr id="15" name="Group 15"/>
          <p:cNvGrpSpPr/>
          <p:nvPr/>
        </p:nvGrpSpPr>
        <p:grpSpPr>
          <a:xfrm>
            <a:off x="6189589" y="2278752"/>
            <a:ext cx="1256320" cy="1256320"/>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C67BF">
                    <a:alpha val="96000"/>
                  </a:srgbClr>
                </a:gs>
                <a:gs pos="100000">
                  <a:srgbClr val="F7ACFF">
                    <a:alpha val="0"/>
                  </a:srgbClr>
                </a:gs>
              </a:gsLst>
              <a:lin ang="0"/>
            </a:gradFill>
          </p:spPr>
        </p:sp>
        <p:sp>
          <p:nvSpPr>
            <p:cNvPr id="17" name="TextBox 17"/>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pPr>
              <a:endParaRPr/>
            </a:p>
          </p:txBody>
        </p:sp>
      </p:grpSp>
      <p:grpSp>
        <p:nvGrpSpPr>
          <p:cNvPr id="18" name="Group 18"/>
          <p:cNvGrpSpPr/>
          <p:nvPr/>
        </p:nvGrpSpPr>
        <p:grpSpPr>
          <a:xfrm>
            <a:off x="15102279" y="279028"/>
            <a:ext cx="3185721" cy="3185721"/>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C67BF">
                    <a:alpha val="58000"/>
                  </a:srgbClr>
                </a:gs>
                <a:gs pos="100000">
                  <a:srgbClr val="F7ACFF">
                    <a:alpha val="0"/>
                  </a:srgbClr>
                </a:gs>
              </a:gsLst>
              <a:lin ang="0"/>
            </a:gradFill>
          </p:spPr>
        </p:sp>
        <p:sp>
          <p:nvSpPr>
            <p:cNvPr id="20" name="TextBox 20"/>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pPr>
              <a:endParaRPr/>
            </a:p>
          </p:txBody>
        </p:sp>
      </p:grpSp>
      <p:grpSp>
        <p:nvGrpSpPr>
          <p:cNvPr id="21" name="Group 21"/>
          <p:cNvGrpSpPr/>
          <p:nvPr/>
        </p:nvGrpSpPr>
        <p:grpSpPr>
          <a:xfrm>
            <a:off x="17403566" y="2464695"/>
            <a:ext cx="884434" cy="884434"/>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C67BF">
                    <a:alpha val="96000"/>
                  </a:srgbClr>
                </a:gs>
                <a:gs pos="100000">
                  <a:srgbClr val="F7ACFF">
                    <a:alpha val="96000"/>
                  </a:srgbClr>
                </a:gs>
              </a:gsLst>
              <a:lin ang="0"/>
            </a:gradFill>
          </p:spPr>
        </p:sp>
        <p:sp>
          <p:nvSpPr>
            <p:cNvPr id="23" name="TextBox 23"/>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pPr>
              <a:endParaRPr/>
            </a:p>
          </p:txBody>
        </p:sp>
      </p:grpSp>
      <p:sp>
        <p:nvSpPr>
          <p:cNvPr id="24" name="Freeform 24"/>
          <p:cNvSpPr/>
          <p:nvPr/>
        </p:nvSpPr>
        <p:spPr>
          <a:xfrm>
            <a:off x="1028700" y="9444450"/>
            <a:ext cx="415258" cy="415258"/>
          </a:xfrm>
          <a:custGeom>
            <a:avLst/>
            <a:gdLst/>
            <a:ahLst/>
            <a:cxnLst/>
            <a:rect l="l" t="t" r="r" b="b"/>
            <a:pathLst>
              <a:path w="415258" h="415258">
                <a:moveTo>
                  <a:pt x="0" y="0"/>
                </a:moveTo>
                <a:lnTo>
                  <a:pt x="415258" y="0"/>
                </a:lnTo>
                <a:lnTo>
                  <a:pt x="415258" y="415258"/>
                </a:lnTo>
                <a:lnTo>
                  <a:pt x="0" y="415258"/>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25" name="TextBox 25"/>
          <p:cNvSpPr txBox="1"/>
          <p:nvPr/>
        </p:nvSpPr>
        <p:spPr>
          <a:xfrm>
            <a:off x="1996708" y="835372"/>
            <a:ext cx="1194260" cy="405091"/>
          </a:xfrm>
          <a:prstGeom prst="rect">
            <a:avLst/>
          </a:prstGeom>
        </p:spPr>
        <p:txBody>
          <a:bodyPr lIns="0" tIns="0" rIns="0" bIns="0" rtlCol="0" anchor="t">
            <a:spAutoFit/>
          </a:bodyPr>
          <a:lstStyle/>
          <a:p>
            <a:pPr marL="0" lvl="0" indent="0" algn="l">
              <a:lnSpc>
                <a:spcPts val="1536"/>
              </a:lnSpc>
            </a:pPr>
            <a:r>
              <a:rPr lang="en-US" sz="1506" b="1">
                <a:solidFill>
                  <a:srgbClr val="240960"/>
                </a:solidFill>
                <a:latin typeface="Montserrat Bold"/>
                <a:ea typeface="Montserrat Bold"/>
                <a:cs typeface="Montserrat Bold"/>
                <a:sym typeface="Montserrat Bold"/>
              </a:rPr>
              <a:t>Raft Consensus</a:t>
            </a:r>
          </a:p>
        </p:txBody>
      </p:sp>
      <p:sp>
        <p:nvSpPr>
          <p:cNvPr id="26" name="TextBox 26"/>
          <p:cNvSpPr txBox="1"/>
          <p:nvPr/>
        </p:nvSpPr>
        <p:spPr>
          <a:xfrm>
            <a:off x="16050268" y="9473025"/>
            <a:ext cx="724046" cy="242707"/>
          </a:xfrm>
          <a:prstGeom prst="rect">
            <a:avLst/>
          </a:prstGeom>
        </p:spPr>
        <p:txBody>
          <a:bodyPr lIns="0" tIns="0" rIns="0" bIns="0" rtlCol="0" anchor="t">
            <a:spAutoFit/>
          </a:bodyPr>
          <a:lstStyle/>
          <a:p>
            <a:pPr marL="0" lvl="0" indent="0" algn="l">
              <a:lnSpc>
                <a:spcPts val="1857"/>
              </a:lnSpc>
            </a:pPr>
            <a:r>
              <a:rPr lang="en-US" sz="1821" b="1">
                <a:solidFill>
                  <a:srgbClr val="240960"/>
                </a:solidFill>
                <a:latin typeface="Montserrat Bold"/>
                <a:ea typeface="Montserrat Bold"/>
                <a:cs typeface="Montserrat Bold"/>
                <a:sym typeface="Montserrat Bold"/>
              </a:rPr>
              <a:t>Page</a:t>
            </a:r>
          </a:p>
        </p:txBody>
      </p:sp>
      <p:sp>
        <p:nvSpPr>
          <p:cNvPr id="27" name="TextBox 27"/>
          <p:cNvSpPr txBox="1"/>
          <p:nvPr/>
        </p:nvSpPr>
        <p:spPr>
          <a:xfrm>
            <a:off x="16774314" y="9507706"/>
            <a:ext cx="484986" cy="208026"/>
          </a:xfrm>
          <a:prstGeom prst="rect">
            <a:avLst/>
          </a:prstGeom>
        </p:spPr>
        <p:txBody>
          <a:bodyPr lIns="0" tIns="0" rIns="0" bIns="0" rtlCol="0" anchor="t">
            <a:spAutoFit/>
          </a:bodyPr>
          <a:lstStyle/>
          <a:p>
            <a:pPr marL="0" lvl="0" indent="0" algn="l">
              <a:lnSpc>
                <a:spcPts val="1631"/>
              </a:lnSpc>
            </a:pPr>
            <a:r>
              <a:rPr lang="en-US" sz="1599" dirty="0">
                <a:solidFill>
                  <a:srgbClr val="240960"/>
                </a:solidFill>
                <a:latin typeface="Montserrat"/>
                <a:ea typeface="Montserrat"/>
                <a:cs typeface="Montserrat"/>
                <a:sym typeface="Montserrat"/>
              </a:rPr>
              <a:t>05</a:t>
            </a:r>
          </a:p>
        </p:txBody>
      </p:sp>
      <p:sp>
        <p:nvSpPr>
          <p:cNvPr id="28" name="Freeform 28"/>
          <p:cNvSpPr/>
          <p:nvPr/>
        </p:nvSpPr>
        <p:spPr>
          <a:xfrm>
            <a:off x="7181662" y="5129257"/>
            <a:ext cx="4487970" cy="2199098"/>
          </a:xfrm>
          <a:custGeom>
            <a:avLst/>
            <a:gdLst/>
            <a:ahLst/>
            <a:cxnLst/>
            <a:rect l="l" t="t" r="r" b="b"/>
            <a:pathLst>
              <a:path w="4487970" h="2199098">
                <a:moveTo>
                  <a:pt x="0" y="0"/>
                </a:moveTo>
                <a:lnTo>
                  <a:pt x="4487970" y="0"/>
                </a:lnTo>
                <a:lnTo>
                  <a:pt x="4487970" y="2199098"/>
                </a:lnTo>
                <a:lnTo>
                  <a:pt x="0" y="2199098"/>
                </a:lnTo>
                <a:lnTo>
                  <a:pt x="0" y="0"/>
                </a:lnTo>
                <a:close/>
              </a:path>
            </a:pathLst>
          </a:custGeom>
          <a:blipFill>
            <a:blip>
              <a:extLst>
                <a:ext uri="{96DAC541-7B7A-43D3-8B79-37D633B846F1}">
                  <asvg:svgBlip xmlns:asvg="http://schemas.microsoft.com/office/drawing/2016/SVG/main" r:embed="rId5"/>
                </a:ext>
              </a:extLst>
            </a:blip>
            <a:stretch>
              <a:fillRect b="-104337"/>
            </a:stretch>
          </a:blipFill>
          <a:ln cap="sq">
            <a:noFill/>
            <a:prstDash val="solid"/>
            <a:miter/>
          </a:ln>
        </p:spPr>
      </p:sp>
      <p:sp>
        <p:nvSpPr>
          <p:cNvPr id="29" name="Freeform 29"/>
          <p:cNvSpPr/>
          <p:nvPr/>
        </p:nvSpPr>
        <p:spPr>
          <a:xfrm>
            <a:off x="11781994" y="5129257"/>
            <a:ext cx="4487970" cy="2199098"/>
          </a:xfrm>
          <a:custGeom>
            <a:avLst/>
            <a:gdLst/>
            <a:ahLst/>
            <a:cxnLst/>
            <a:rect l="l" t="t" r="r" b="b"/>
            <a:pathLst>
              <a:path w="4487970" h="2199098">
                <a:moveTo>
                  <a:pt x="0" y="0"/>
                </a:moveTo>
                <a:lnTo>
                  <a:pt x="4487971" y="0"/>
                </a:lnTo>
                <a:lnTo>
                  <a:pt x="4487971" y="2199098"/>
                </a:lnTo>
                <a:lnTo>
                  <a:pt x="0" y="2199098"/>
                </a:lnTo>
                <a:lnTo>
                  <a:pt x="0" y="0"/>
                </a:lnTo>
                <a:close/>
              </a:path>
            </a:pathLst>
          </a:custGeom>
          <a:blipFill>
            <a:blip>
              <a:extLst>
                <a:ext uri="{96DAC541-7B7A-43D3-8B79-37D633B846F1}">
                  <asvg:svgBlip xmlns:asvg="http://schemas.microsoft.com/office/drawing/2016/SVG/main" r:embed="rId6"/>
                </a:ext>
              </a:extLst>
            </a:blip>
            <a:stretch>
              <a:fillRect b="-104337"/>
            </a:stretch>
          </a:blipFill>
          <a:ln cap="sq">
            <a:noFill/>
            <a:prstDash val="solid"/>
            <a:miter/>
          </a:ln>
        </p:spPr>
      </p:sp>
      <p:grpSp>
        <p:nvGrpSpPr>
          <p:cNvPr id="30" name="Group 30"/>
          <p:cNvGrpSpPr/>
          <p:nvPr/>
        </p:nvGrpSpPr>
        <p:grpSpPr>
          <a:xfrm>
            <a:off x="7787190" y="6670995"/>
            <a:ext cx="1112995" cy="1112995"/>
            <a:chOff x="0" y="0"/>
            <a:chExt cx="688087" cy="688087"/>
          </a:xfrm>
        </p:grpSpPr>
        <p:sp>
          <p:nvSpPr>
            <p:cNvPr id="31" name="Freeform 31"/>
            <p:cNvSpPr/>
            <p:nvPr/>
          </p:nvSpPr>
          <p:spPr>
            <a:xfrm>
              <a:off x="0" y="0"/>
              <a:ext cx="688087" cy="688087"/>
            </a:xfrm>
            <a:custGeom>
              <a:avLst/>
              <a:gdLst/>
              <a:ahLst/>
              <a:cxnLst/>
              <a:rect l="l" t="t" r="r" b="b"/>
              <a:pathLst>
                <a:path w="688087" h="688087">
                  <a:moveTo>
                    <a:pt x="344044" y="0"/>
                  </a:moveTo>
                  <a:cubicBezTo>
                    <a:pt x="154034" y="0"/>
                    <a:pt x="0" y="154034"/>
                    <a:pt x="0" y="344044"/>
                  </a:cubicBezTo>
                  <a:cubicBezTo>
                    <a:pt x="0" y="534054"/>
                    <a:pt x="154034" y="688087"/>
                    <a:pt x="344044" y="688087"/>
                  </a:cubicBezTo>
                  <a:cubicBezTo>
                    <a:pt x="534054" y="688087"/>
                    <a:pt x="688087" y="534054"/>
                    <a:pt x="688087" y="344044"/>
                  </a:cubicBezTo>
                  <a:cubicBezTo>
                    <a:pt x="688087" y="154034"/>
                    <a:pt x="534054" y="0"/>
                    <a:pt x="344044" y="0"/>
                  </a:cubicBezTo>
                  <a:close/>
                </a:path>
              </a:pathLst>
            </a:custGeom>
            <a:solidFill>
              <a:srgbClr val="FFFFFF"/>
            </a:solidFill>
            <a:ln w="76200" cap="sq">
              <a:solidFill>
                <a:srgbClr val="2BC5CD"/>
              </a:solidFill>
              <a:prstDash val="solid"/>
              <a:miter/>
            </a:ln>
          </p:spPr>
        </p:sp>
        <p:sp>
          <p:nvSpPr>
            <p:cNvPr id="32" name="TextBox 32"/>
            <p:cNvSpPr txBox="1"/>
            <p:nvPr/>
          </p:nvSpPr>
          <p:spPr>
            <a:xfrm>
              <a:off x="64508" y="26408"/>
              <a:ext cx="559071" cy="597171"/>
            </a:xfrm>
            <a:prstGeom prst="rect">
              <a:avLst/>
            </a:prstGeom>
          </p:spPr>
          <p:txBody>
            <a:bodyPr lIns="50800" tIns="50800" rIns="50800" bIns="50800" rtlCol="0" anchor="ctr"/>
            <a:lstStyle/>
            <a:p>
              <a:pPr marL="0" lvl="0" indent="0" algn="ctr">
                <a:lnSpc>
                  <a:spcPts val="3359"/>
                </a:lnSpc>
                <a:spcBef>
                  <a:spcPct val="0"/>
                </a:spcBef>
              </a:pPr>
              <a:endParaRPr/>
            </a:p>
          </p:txBody>
        </p:sp>
      </p:grpSp>
      <p:grpSp>
        <p:nvGrpSpPr>
          <p:cNvPr id="33" name="Group 33"/>
          <p:cNvGrpSpPr/>
          <p:nvPr/>
        </p:nvGrpSpPr>
        <p:grpSpPr>
          <a:xfrm>
            <a:off x="9958141" y="4471897"/>
            <a:ext cx="1112995" cy="1112995"/>
            <a:chOff x="0" y="0"/>
            <a:chExt cx="688087" cy="688087"/>
          </a:xfrm>
        </p:grpSpPr>
        <p:sp>
          <p:nvSpPr>
            <p:cNvPr id="34" name="Freeform 34"/>
            <p:cNvSpPr/>
            <p:nvPr/>
          </p:nvSpPr>
          <p:spPr>
            <a:xfrm>
              <a:off x="0" y="0"/>
              <a:ext cx="688087" cy="688087"/>
            </a:xfrm>
            <a:custGeom>
              <a:avLst/>
              <a:gdLst/>
              <a:ahLst/>
              <a:cxnLst/>
              <a:rect l="l" t="t" r="r" b="b"/>
              <a:pathLst>
                <a:path w="688087" h="688087">
                  <a:moveTo>
                    <a:pt x="344044" y="0"/>
                  </a:moveTo>
                  <a:cubicBezTo>
                    <a:pt x="154034" y="0"/>
                    <a:pt x="0" y="154034"/>
                    <a:pt x="0" y="344044"/>
                  </a:cubicBezTo>
                  <a:cubicBezTo>
                    <a:pt x="0" y="534054"/>
                    <a:pt x="154034" y="688087"/>
                    <a:pt x="344044" y="688087"/>
                  </a:cubicBezTo>
                  <a:cubicBezTo>
                    <a:pt x="534054" y="688087"/>
                    <a:pt x="688087" y="534054"/>
                    <a:pt x="688087" y="344044"/>
                  </a:cubicBezTo>
                  <a:cubicBezTo>
                    <a:pt x="688087" y="154034"/>
                    <a:pt x="534054" y="0"/>
                    <a:pt x="344044" y="0"/>
                  </a:cubicBezTo>
                  <a:close/>
                </a:path>
              </a:pathLst>
            </a:custGeom>
            <a:solidFill>
              <a:srgbClr val="FFFFFF"/>
            </a:solidFill>
            <a:ln w="76200" cap="sq">
              <a:solidFill>
                <a:srgbClr val="2BC5CD"/>
              </a:solidFill>
              <a:prstDash val="solid"/>
              <a:miter/>
            </a:ln>
          </p:spPr>
        </p:sp>
        <p:sp>
          <p:nvSpPr>
            <p:cNvPr id="35" name="TextBox 35"/>
            <p:cNvSpPr txBox="1"/>
            <p:nvPr/>
          </p:nvSpPr>
          <p:spPr>
            <a:xfrm>
              <a:off x="64508" y="26408"/>
              <a:ext cx="559071" cy="597171"/>
            </a:xfrm>
            <a:prstGeom prst="rect">
              <a:avLst/>
            </a:prstGeom>
          </p:spPr>
          <p:txBody>
            <a:bodyPr lIns="50800" tIns="50800" rIns="50800" bIns="50800" rtlCol="0" anchor="ctr"/>
            <a:lstStyle/>
            <a:p>
              <a:pPr marL="0" lvl="0" indent="0" algn="ctr">
                <a:lnSpc>
                  <a:spcPts val="3359"/>
                </a:lnSpc>
                <a:spcBef>
                  <a:spcPct val="0"/>
                </a:spcBef>
              </a:pPr>
              <a:endParaRPr/>
            </a:p>
          </p:txBody>
        </p:sp>
      </p:grpSp>
      <p:grpSp>
        <p:nvGrpSpPr>
          <p:cNvPr id="36" name="Group 36"/>
          <p:cNvGrpSpPr/>
          <p:nvPr/>
        </p:nvGrpSpPr>
        <p:grpSpPr>
          <a:xfrm>
            <a:off x="12408664" y="6670995"/>
            <a:ext cx="1112995" cy="1112995"/>
            <a:chOff x="0" y="0"/>
            <a:chExt cx="688087" cy="688087"/>
          </a:xfrm>
        </p:grpSpPr>
        <p:sp>
          <p:nvSpPr>
            <p:cNvPr id="37" name="Freeform 37"/>
            <p:cNvSpPr/>
            <p:nvPr/>
          </p:nvSpPr>
          <p:spPr>
            <a:xfrm>
              <a:off x="0" y="0"/>
              <a:ext cx="688087" cy="688087"/>
            </a:xfrm>
            <a:custGeom>
              <a:avLst/>
              <a:gdLst/>
              <a:ahLst/>
              <a:cxnLst/>
              <a:rect l="l" t="t" r="r" b="b"/>
              <a:pathLst>
                <a:path w="688087" h="688087">
                  <a:moveTo>
                    <a:pt x="344044" y="0"/>
                  </a:moveTo>
                  <a:cubicBezTo>
                    <a:pt x="154034" y="0"/>
                    <a:pt x="0" y="154034"/>
                    <a:pt x="0" y="344044"/>
                  </a:cubicBezTo>
                  <a:cubicBezTo>
                    <a:pt x="0" y="534054"/>
                    <a:pt x="154034" y="688087"/>
                    <a:pt x="344044" y="688087"/>
                  </a:cubicBezTo>
                  <a:cubicBezTo>
                    <a:pt x="534054" y="688087"/>
                    <a:pt x="688087" y="534054"/>
                    <a:pt x="688087" y="344044"/>
                  </a:cubicBezTo>
                  <a:cubicBezTo>
                    <a:pt x="688087" y="154034"/>
                    <a:pt x="534054" y="0"/>
                    <a:pt x="344044" y="0"/>
                  </a:cubicBezTo>
                  <a:close/>
                </a:path>
              </a:pathLst>
            </a:custGeom>
            <a:solidFill>
              <a:srgbClr val="FFFFFF"/>
            </a:solidFill>
            <a:ln w="76200" cap="sq">
              <a:solidFill>
                <a:srgbClr val="77BF60"/>
              </a:solidFill>
              <a:prstDash val="solid"/>
              <a:miter/>
            </a:ln>
          </p:spPr>
        </p:sp>
        <p:sp>
          <p:nvSpPr>
            <p:cNvPr id="38" name="TextBox 38"/>
            <p:cNvSpPr txBox="1"/>
            <p:nvPr/>
          </p:nvSpPr>
          <p:spPr>
            <a:xfrm>
              <a:off x="64508" y="26408"/>
              <a:ext cx="559071" cy="597171"/>
            </a:xfrm>
            <a:prstGeom prst="rect">
              <a:avLst/>
            </a:prstGeom>
          </p:spPr>
          <p:txBody>
            <a:bodyPr lIns="50800" tIns="50800" rIns="50800" bIns="50800" rtlCol="0" anchor="ctr"/>
            <a:lstStyle/>
            <a:p>
              <a:pPr marL="0" lvl="0" indent="0" algn="ctr">
                <a:lnSpc>
                  <a:spcPts val="3359"/>
                </a:lnSpc>
                <a:spcBef>
                  <a:spcPct val="0"/>
                </a:spcBef>
              </a:pPr>
              <a:endParaRPr/>
            </a:p>
          </p:txBody>
        </p:sp>
      </p:grpSp>
      <p:grpSp>
        <p:nvGrpSpPr>
          <p:cNvPr id="39" name="Group 39"/>
          <p:cNvGrpSpPr/>
          <p:nvPr/>
        </p:nvGrpSpPr>
        <p:grpSpPr>
          <a:xfrm>
            <a:off x="14580992" y="4471897"/>
            <a:ext cx="1112995" cy="1112995"/>
            <a:chOff x="0" y="0"/>
            <a:chExt cx="688087" cy="688087"/>
          </a:xfrm>
        </p:grpSpPr>
        <p:sp>
          <p:nvSpPr>
            <p:cNvPr id="40" name="Freeform 40"/>
            <p:cNvSpPr/>
            <p:nvPr/>
          </p:nvSpPr>
          <p:spPr>
            <a:xfrm>
              <a:off x="0" y="0"/>
              <a:ext cx="688087" cy="688087"/>
            </a:xfrm>
            <a:custGeom>
              <a:avLst/>
              <a:gdLst/>
              <a:ahLst/>
              <a:cxnLst/>
              <a:rect l="l" t="t" r="r" b="b"/>
              <a:pathLst>
                <a:path w="688087" h="688087">
                  <a:moveTo>
                    <a:pt x="344044" y="0"/>
                  </a:moveTo>
                  <a:cubicBezTo>
                    <a:pt x="154034" y="0"/>
                    <a:pt x="0" y="154034"/>
                    <a:pt x="0" y="344044"/>
                  </a:cubicBezTo>
                  <a:cubicBezTo>
                    <a:pt x="0" y="534054"/>
                    <a:pt x="154034" y="688087"/>
                    <a:pt x="344044" y="688087"/>
                  </a:cubicBezTo>
                  <a:cubicBezTo>
                    <a:pt x="534054" y="688087"/>
                    <a:pt x="688087" y="534054"/>
                    <a:pt x="688087" y="344044"/>
                  </a:cubicBezTo>
                  <a:cubicBezTo>
                    <a:pt x="688087" y="154034"/>
                    <a:pt x="534054" y="0"/>
                    <a:pt x="344044" y="0"/>
                  </a:cubicBezTo>
                  <a:close/>
                </a:path>
              </a:pathLst>
            </a:custGeom>
            <a:solidFill>
              <a:srgbClr val="FFFFFF"/>
            </a:solidFill>
            <a:ln w="76200" cap="sq">
              <a:solidFill>
                <a:srgbClr val="77BF60"/>
              </a:solidFill>
              <a:prstDash val="solid"/>
              <a:miter/>
            </a:ln>
          </p:spPr>
        </p:sp>
        <p:sp>
          <p:nvSpPr>
            <p:cNvPr id="41" name="TextBox 41"/>
            <p:cNvSpPr txBox="1"/>
            <p:nvPr/>
          </p:nvSpPr>
          <p:spPr>
            <a:xfrm>
              <a:off x="64508" y="26408"/>
              <a:ext cx="559071" cy="597171"/>
            </a:xfrm>
            <a:prstGeom prst="rect">
              <a:avLst/>
            </a:prstGeom>
          </p:spPr>
          <p:txBody>
            <a:bodyPr lIns="50800" tIns="50800" rIns="50800" bIns="50800" rtlCol="0" anchor="ctr"/>
            <a:lstStyle/>
            <a:p>
              <a:pPr marL="0" lvl="0" indent="0" algn="ctr">
                <a:lnSpc>
                  <a:spcPts val="3359"/>
                </a:lnSpc>
                <a:spcBef>
                  <a:spcPct val="0"/>
                </a:spcBef>
              </a:pPr>
              <a:endParaRPr/>
            </a:p>
          </p:txBody>
        </p:sp>
      </p:grpSp>
      <p:grpSp>
        <p:nvGrpSpPr>
          <p:cNvPr id="42" name="Group 42"/>
          <p:cNvGrpSpPr/>
          <p:nvPr/>
        </p:nvGrpSpPr>
        <p:grpSpPr>
          <a:xfrm rot="5400000">
            <a:off x="16303569" y="5302739"/>
            <a:ext cx="2116726" cy="1852136"/>
            <a:chOff x="0" y="0"/>
            <a:chExt cx="812800" cy="711200"/>
          </a:xfrm>
        </p:grpSpPr>
        <p:sp>
          <p:nvSpPr>
            <p:cNvPr id="43" name="Freeform 43"/>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77BF60"/>
            </a:solidFill>
          </p:spPr>
        </p:sp>
        <p:sp>
          <p:nvSpPr>
            <p:cNvPr id="44" name="TextBox 44"/>
            <p:cNvSpPr txBox="1"/>
            <p:nvPr/>
          </p:nvSpPr>
          <p:spPr>
            <a:xfrm>
              <a:off x="127000" y="292100"/>
              <a:ext cx="558800" cy="368300"/>
            </a:xfrm>
            <a:prstGeom prst="rect">
              <a:avLst/>
            </a:prstGeom>
          </p:spPr>
          <p:txBody>
            <a:bodyPr lIns="50800" tIns="50800" rIns="50800" bIns="50800" rtlCol="0" anchor="ctr"/>
            <a:lstStyle/>
            <a:p>
              <a:pPr marL="0" lvl="0" indent="0" algn="ctr">
                <a:lnSpc>
                  <a:spcPts val="3359"/>
                </a:lnSpc>
              </a:pPr>
              <a:endParaRPr/>
            </a:p>
          </p:txBody>
        </p:sp>
      </p:grpSp>
      <p:grpSp>
        <p:nvGrpSpPr>
          <p:cNvPr id="45" name="Group 45"/>
          <p:cNvGrpSpPr/>
          <p:nvPr/>
        </p:nvGrpSpPr>
        <p:grpSpPr>
          <a:xfrm>
            <a:off x="0" y="5129257"/>
            <a:ext cx="2466909" cy="2199098"/>
            <a:chOff x="0" y="0"/>
            <a:chExt cx="594953" cy="530364"/>
          </a:xfrm>
        </p:grpSpPr>
        <p:sp>
          <p:nvSpPr>
            <p:cNvPr id="46" name="Freeform 46"/>
            <p:cNvSpPr/>
            <p:nvPr/>
          </p:nvSpPr>
          <p:spPr>
            <a:xfrm>
              <a:off x="0" y="0"/>
              <a:ext cx="594953" cy="530364"/>
            </a:xfrm>
            <a:custGeom>
              <a:avLst/>
              <a:gdLst/>
              <a:ahLst/>
              <a:cxnLst/>
              <a:rect l="l" t="t" r="r" b="b"/>
              <a:pathLst>
                <a:path w="594953" h="530364">
                  <a:moveTo>
                    <a:pt x="0" y="0"/>
                  </a:moveTo>
                  <a:lnTo>
                    <a:pt x="594953" y="0"/>
                  </a:lnTo>
                  <a:lnTo>
                    <a:pt x="594953" y="530364"/>
                  </a:lnTo>
                  <a:lnTo>
                    <a:pt x="0" y="530364"/>
                  </a:lnTo>
                  <a:close/>
                </a:path>
              </a:pathLst>
            </a:custGeom>
            <a:solidFill>
              <a:srgbClr val="1D8BC9"/>
            </a:solidFill>
          </p:spPr>
        </p:sp>
        <p:sp>
          <p:nvSpPr>
            <p:cNvPr id="47" name="TextBox 47"/>
            <p:cNvSpPr txBox="1"/>
            <p:nvPr/>
          </p:nvSpPr>
          <p:spPr>
            <a:xfrm>
              <a:off x="0" y="-38100"/>
              <a:ext cx="594953" cy="568464"/>
            </a:xfrm>
            <a:prstGeom prst="rect">
              <a:avLst/>
            </a:prstGeom>
          </p:spPr>
          <p:txBody>
            <a:bodyPr lIns="50800" tIns="50800" rIns="50800" bIns="50800" rtlCol="0" anchor="ctr"/>
            <a:lstStyle/>
            <a:p>
              <a:pPr marL="0" lvl="0" indent="0" algn="ctr">
                <a:lnSpc>
                  <a:spcPts val="3359"/>
                </a:lnSpc>
              </a:pPr>
              <a:endParaRPr/>
            </a:p>
          </p:txBody>
        </p:sp>
      </p:grpSp>
      <p:sp>
        <p:nvSpPr>
          <p:cNvPr id="48" name="Freeform 48"/>
          <p:cNvSpPr/>
          <p:nvPr/>
        </p:nvSpPr>
        <p:spPr>
          <a:xfrm>
            <a:off x="14930507" y="6448582"/>
            <a:ext cx="926581" cy="697726"/>
          </a:xfrm>
          <a:custGeom>
            <a:avLst/>
            <a:gdLst/>
            <a:ahLst/>
            <a:cxnLst/>
            <a:rect l="l" t="t" r="r" b="b"/>
            <a:pathLst>
              <a:path w="926581" h="697726">
                <a:moveTo>
                  <a:pt x="0" y="0"/>
                </a:moveTo>
                <a:lnTo>
                  <a:pt x="926580" y="0"/>
                </a:lnTo>
                <a:lnTo>
                  <a:pt x="926580" y="697726"/>
                </a:lnTo>
                <a:lnTo>
                  <a:pt x="0" y="697726"/>
                </a:lnTo>
                <a:lnTo>
                  <a:pt x="0" y="0"/>
                </a:lnTo>
                <a:close/>
              </a:path>
            </a:pathLst>
          </a:custGeom>
          <a:blipFill>
            <a:blip r:embed="rId7"/>
            <a:stretch>
              <a:fillRect/>
            </a:stretch>
          </a:blipFill>
        </p:spPr>
      </p:sp>
      <p:sp>
        <p:nvSpPr>
          <p:cNvPr id="49" name="Freeform 49"/>
          <p:cNvSpPr/>
          <p:nvPr/>
        </p:nvSpPr>
        <p:spPr>
          <a:xfrm>
            <a:off x="6253403" y="6555053"/>
            <a:ext cx="595573" cy="595573"/>
          </a:xfrm>
          <a:custGeom>
            <a:avLst/>
            <a:gdLst/>
            <a:ahLst/>
            <a:cxnLst/>
            <a:rect l="l" t="t" r="r" b="b"/>
            <a:pathLst>
              <a:path w="595573" h="595573">
                <a:moveTo>
                  <a:pt x="0" y="0"/>
                </a:moveTo>
                <a:lnTo>
                  <a:pt x="595573" y="0"/>
                </a:lnTo>
                <a:lnTo>
                  <a:pt x="595573" y="595572"/>
                </a:lnTo>
                <a:lnTo>
                  <a:pt x="0" y="595572"/>
                </a:lnTo>
                <a:lnTo>
                  <a:pt x="0" y="0"/>
                </a:lnTo>
                <a:close/>
              </a:path>
            </a:pathLst>
          </a:custGeom>
          <a:blipFill>
            <a:blip r:embed="rId8"/>
            <a:stretch>
              <a:fillRect/>
            </a:stretch>
          </a:blipFill>
        </p:spPr>
      </p:sp>
      <p:sp>
        <p:nvSpPr>
          <p:cNvPr id="50" name="Freeform 50"/>
          <p:cNvSpPr/>
          <p:nvPr/>
        </p:nvSpPr>
        <p:spPr>
          <a:xfrm>
            <a:off x="7380673" y="5378876"/>
            <a:ext cx="691333" cy="476892"/>
          </a:xfrm>
          <a:custGeom>
            <a:avLst/>
            <a:gdLst/>
            <a:ahLst/>
            <a:cxnLst/>
            <a:rect l="l" t="t" r="r" b="b"/>
            <a:pathLst>
              <a:path w="691333" h="476892">
                <a:moveTo>
                  <a:pt x="0" y="0"/>
                </a:moveTo>
                <a:lnTo>
                  <a:pt x="691333" y="0"/>
                </a:lnTo>
                <a:lnTo>
                  <a:pt x="691333" y="476892"/>
                </a:lnTo>
                <a:lnTo>
                  <a:pt x="0" y="476892"/>
                </a:lnTo>
                <a:lnTo>
                  <a:pt x="0" y="0"/>
                </a:lnTo>
                <a:close/>
              </a:path>
            </a:pathLst>
          </a:custGeom>
          <a:blipFill>
            <a:blip r:embed="rId9"/>
            <a:stretch>
              <a:fillRect/>
            </a:stretch>
          </a:blipFill>
        </p:spPr>
      </p:sp>
      <p:sp>
        <p:nvSpPr>
          <p:cNvPr id="51" name="Freeform 51"/>
          <p:cNvSpPr/>
          <p:nvPr/>
        </p:nvSpPr>
        <p:spPr>
          <a:xfrm>
            <a:off x="12069576" y="5216604"/>
            <a:ext cx="600099" cy="695518"/>
          </a:xfrm>
          <a:custGeom>
            <a:avLst/>
            <a:gdLst/>
            <a:ahLst/>
            <a:cxnLst/>
            <a:rect l="l" t="t" r="r" b="b"/>
            <a:pathLst>
              <a:path w="600099" h="695518">
                <a:moveTo>
                  <a:pt x="0" y="0"/>
                </a:moveTo>
                <a:lnTo>
                  <a:pt x="600099" y="0"/>
                </a:lnTo>
                <a:lnTo>
                  <a:pt x="600099" y="695518"/>
                </a:lnTo>
                <a:lnTo>
                  <a:pt x="0" y="695518"/>
                </a:lnTo>
                <a:lnTo>
                  <a:pt x="0" y="0"/>
                </a:lnTo>
                <a:close/>
              </a:path>
            </a:pathLst>
          </a:custGeom>
          <a:blipFill>
            <a:blip r:embed="rId10"/>
            <a:stretch>
              <a:fillRect/>
            </a:stretch>
          </a:blipFill>
        </p:spPr>
      </p:sp>
      <p:sp>
        <p:nvSpPr>
          <p:cNvPr id="52" name="Freeform 52"/>
          <p:cNvSpPr/>
          <p:nvPr/>
        </p:nvSpPr>
        <p:spPr>
          <a:xfrm>
            <a:off x="10670580" y="6454633"/>
            <a:ext cx="807428" cy="808891"/>
          </a:xfrm>
          <a:custGeom>
            <a:avLst/>
            <a:gdLst/>
            <a:ahLst/>
            <a:cxnLst/>
            <a:rect l="l" t="t" r="r" b="b"/>
            <a:pathLst>
              <a:path w="807428" h="808891">
                <a:moveTo>
                  <a:pt x="0" y="0"/>
                </a:moveTo>
                <a:lnTo>
                  <a:pt x="807429" y="0"/>
                </a:lnTo>
                <a:lnTo>
                  <a:pt x="807429" y="808891"/>
                </a:lnTo>
                <a:lnTo>
                  <a:pt x="0" y="808891"/>
                </a:lnTo>
                <a:lnTo>
                  <a:pt x="0" y="0"/>
                </a:lnTo>
                <a:close/>
              </a:path>
            </a:pathLst>
          </a:custGeom>
          <a:blipFill>
            <a:blip r:embed="rId11"/>
            <a:stretch>
              <a:fillRect/>
            </a:stretch>
          </a:blipFill>
        </p:spPr>
      </p:sp>
      <p:sp>
        <p:nvSpPr>
          <p:cNvPr id="53" name="TextBox 53"/>
          <p:cNvSpPr txBox="1"/>
          <p:nvPr/>
        </p:nvSpPr>
        <p:spPr>
          <a:xfrm>
            <a:off x="4549989" y="8157548"/>
            <a:ext cx="2267760" cy="233654"/>
          </a:xfrm>
          <a:prstGeom prst="rect">
            <a:avLst/>
          </a:prstGeom>
        </p:spPr>
        <p:txBody>
          <a:bodyPr lIns="0" tIns="0" rIns="0" bIns="0" rtlCol="0" anchor="t">
            <a:spAutoFit/>
          </a:bodyPr>
          <a:lstStyle/>
          <a:p>
            <a:pPr marL="0" lvl="0" indent="0" algn="ctr">
              <a:lnSpc>
                <a:spcPts val="1834"/>
              </a:lnSpc>
            </a:pPr>
            <a:r>
              <a:rPr lang="en-US" sz="1310" b="1">
                <a:solidFill>
                  <a:srgbClr val="1F0A49"/>
                </a:solidFill>
                <a:latin typeface="Canva Sans Bold"/>
                <a:ea typeface="Canva Sans Bold"/>
                <a:cs typeface="Canva Sans Bold"/>
                <a:sym typeface="Canva Sans Bold"/>
              </a:rPr>
              <a:t>Passage Candidate</a:t>
            </a:r>
          </a:p>
        </p:txBody>
      </p:sp>
      <p:sp>
        <p:nvSpPr>
          <p:cNvPr id="54" name="TextBox 54"/>
          <p:cNvSpPr txBox="1"/>
          <p:nvPr/>
        </p:nvSpPr>
        <p:spPr>
          <a:xfrm>
            <a:off x="7695849" y="3214451"/>
            <a:ext cx="1262684" cy="462494"/>
          </a:xfrm>
          <a:prstGeom prst="rect">
            <a:avLst/>
          </a:prstGeom>
        </p:spPr>
        <p:txBody>
          <a:bodyPr lIns="0" tIns="0" rIns="0" bIns="0" rtlCol="0" anchor="t">
            <a:spAutoFit/>
          </a:bodyPr>
          <a:lstStyle/>
          <a:p>
            <a:pPr marL="0" lvl="0" indent="0" algn="ctr">
              <a:lnSpc>
                <a:spcPts val="1834"/>
              </a:lnSpc>
            </a:pPr>
            <a:r>
              <a:rPr lang="en-US" sz="1310" b="1">
                <a:solidFill>
                  <a:srgbClr val="1F0A49"/>
                </a:solidFill>
                <a:latin typeface="Canva Sans Bold"/>
                <a:ea typeface="Canva Sans Bold"/>
                <a:cs typeface="Canva Sans Bold"/>
                <a:sym typeface="Canva Sans Bold"/>
              </a:rPr>
              <a:t>RequestVote RPC</a:t>
            </a:r>
          </a:p>
        </p:txBody>
      </p:sp>
      <p:sp>
        <p:nvSpPr>
          <p:cNvPr id="55" name="TextBox 55"/>
          <p:cNvSpPr txBox="1"/>
          <p:nvPr/>
        </p:nvSpPr>
        <p:spPr>
          <a:xfrm>
            <a:off x="9526991" y="8157030"/>
            <a:ext cx="2003001" cy="233654"/>
          </a:xfrm>
          <a:prstGeom prst="rect">
            <a:avLst/>
          </a:prstGeom>
        </p:spPr>
        <p:txBody>
          <a:bodyPr lIns="0" tIns="0" rIns="0" bIns="0" rtlCol="0" anchor="t">
            <a:spAutoFit/>
          </a:bodyPr>
          <a:lstStyle/>
          <a:p>
            <a:pPr marL="0" lvl="0" indent="0" algn="ctr">
              <a:lnSpc>
                <a:spcPts val="1834"/>
              </a:lnSpc>
            </a:pPr>
            <a:r>
              <a:rPr lang="en-US" sz="1310" b="1">
                <a:solidFill>
                  <a:srgbClr val="1F0A49"/>
                </a:solidFill>
                <a:latin typeface="Canva Sans Bold"/>
                <a:ea typeface="Canva Sans Bold"/>
                <a:cs typeface="Canva Sans Bold"/>
                <a:sym typeface="Canva Sans Bold"/>
              </a:rPr>
              <a:t>Réception votes</a:t>
            </a:r>
          </a:p>
        </p:txBody>
      </p:sp>
      <p:sp>
        <p:nvSpPr>
          <p:cNvPr id="56" name="TextBox 56"/>
          <p:cNvSpPr txBox="1"/>
          <p:nvPr/>
        </p:nvSpPr>
        <p:spPr>
          <a:xfrm>
            <a:off x="4004868" y="8430295"/>
            <a:ext cx="3358001" cy="691334"/>
          </a:xfrm>
          <a:prstGeom prst="rect">
            <a:avLst/>
          </a:prstGeom>
        </p:spPr>
        <p:txBody>
          <a:bodyPr lIns="0" tIns="0" rIns="0" bIns="0" rtlCol="0" anchor="t">
            <a:spAutoFit/>
          </a:bodyPr>
          <a:lstStyle/>
          <a:p>
            <a:pPr marL="0" lvl="0" indent="0" algn="ctr">
              <a:lnSpc>
                <a:spcPts val="1834"/>
              </a:lnSpc>
            </a:pPr>
            <a:r>
              <a:rPr lang="en-US" sz="1310">
                <a:solidFill>
                  <a:srgbClr val="575757"/>
                </a:solidFill>
                <a:latin typeface="Canva Sans"/>
                <a:ea typeface="Canva Sans"/>
                <a:cs typeface="Canva Sans"/>
                <a:sym typeface="Canva Sans"/>
              </a:rPr>
              <a:t>Le nœud incrémente son terme, vote pour lui-même et passe en état Candidate.</a:t>
            </a:r>
          </a:p>
        </p:txBody>
      </p:sp>
      <p:sp>
        <p:nvSpPr>
          <p:cNvPr id="57" name="TextBox 57"/>
          <p:cNvSpPr txBox="1"/>
          <p:nvPr/>
        </p:nvSpPr>
        <p:spPr>
          <a:xfrm>
            <a:off x="8835638" y="8430295"/>
            <a:ext cx="3358001" cy="462494"/>
          </a:xfrm>
          <a:prstGeom prst="rect">
            <a:avLst/>
          </a:prstGeom>
        </p:spPr>
        <p:txBody>
          <a:bodyPr lIns="0" tIns="0" rIns="0" bIns="0" rtlCol="0" anchor="t">
            <a:spAutoFit/>
          </a:bodyPr>
          <a:lstStyle/>
          <a:p>
            <a:pPr marL="0" lvl="0" indent="0" algn="ctr">
              <a:lnSpc>
                <a:spcPts val="1834"/>
              </a:lnSpc>
            </a:pPr>
            <a:r>
              <a:rPr lang="en-US" sz="1310">
                <a:solidFill>
                  <a:srgbClr val="575757"/>
                </a:solidFill>
                <a:latin typeface="Canva Sans"/>
                <a:ea typeface="Canva Sans"/>
                <a:cs typeface="Canva Sans"/>
                <a:sym typeface="Canva Sans"/>
              </a:rPr>
              <a:t>Les followers accordent leur vote si le terme est valide et le log à jour.</a:t>
            </a:r>
          </a:p>
        </p:txBody>
      </p:sp>
      <p:sp>
        <p:nvSpPr>
          <p:cNvPr id="58" name="TextBox 58"/>
          <p:cNvSpPr txBox="1"/>
          <p:nvPr/>
        </p:nvSpPr>
        <p:spPr>
          <a:xfrm>
            <a:off x="6648191" y="3648557"/>
            <a:ext cx="3358001" cy="691334"/>
          </a:xfrm>
          <a:prstGeom prst="rect">
            <a:avLst/>
          </a:prstGeom>
        </p:spPr>
        <p:txBody>
          <a:bodyPr lIns="0" tIns="0" rIns="0" bIns="0" rtlCol="0" anchor="t">
            <a:spAutoFit/>
          </a:bodyPr>
          <a:lstStyle/>
          <a:p>
            <a:pPr marL="0" lvl="0" indent="0" algn="ctr">
              <a:lnSpc>
                <a:spcPts val="1834"/>
              </a:lnSpc>
            </a:pPr>
            <a:r>
              <a:rPr lang="en-US" sz="1310">
                <a:solidFill>
                  <a:srgbClr val="575757"/>
                </a:solidFill>
                <a:latin typeface="Canva Sans"/>
                <a:ea typeface="Canva Sans"/>
                <a:cs typeface="Canva Sans"/>
                <a:sym typeface="Canva Sans"/>
              </a:rPr>
              <a:t>Envoi de RequestVote(term, candidateId, lastLogIndex, lastLogTerm) aux autres nœuds.</a:t>
            </a:r>
          </a:p>
        </p:txBody>
      </p:sp>
      <p:sp>
        <p:nvSpPr>
          <p:cNvPr id="59" name="TextBox 59"/>
          <p:cNvSpPr txBox="1"/>
          <p:nvPr/>
        </p:nvSpPr>
        <p:spPr>
          <a:xfrm>
            <a:off x="12577082" y="3399195"/>
            <a:ext cx="1263821" cy="233654"/>
          </a:xfrm>
          <a:prstGeom prst="rect">
            <a:avLst/>
          </a:prstGeom>
        </p:spPr>
        <p:txBody>
          <a:bodyPr lIns="0" tIns="0" rIns="0" bIns="0" rtlCol="0" anchor="t">
            <a:spAutoFit/>
          </a:bodyPr>
          <a:lstStyle/>
          <a:p>
            <a:pPr marL="0" lvl="0" indent="0" algn="ctr">
              <a:lnSpc>
                <a:spcPts val="1834"/>
              </a:lnSpc>
            </a:pPr>
            <a:r>
              <a:rPr lang="en-US" sz="1310" b="1">
                <a:solidFill>
                  <a:srgbClr val="1F0A49"/>
                </a:solidFill>
                <a:latin typeface="Canva Sans Bold"/>
                <a:ea typeface="Canva Sans Bold"/>
                <a:cs typeface="Canva Sans Bold"/>
                <a:sym typeface="Canva Sans Bold"/>
              </a:rPr>
              <a:t>Majorité ⌈N/2⌉</a:t>
            </a:r>
          </a:p>
        </p:txBody>
      </p:sp>
      <p:sp>
        <p:nvSpPr>
          <p:cNvPr id="60" name="TextBox 60"/>
          <p:cNvSpPr txBox="1"/>
          <p:nvPr/>
        </p:nvSpPr>
        <p:spPr>
          <a:xfrm>
            <a:off x="14066375" y="8157030"/>
            <a:ext cx="1433014" cy="233654"/>
          </a:xfrm>
          <a:prstGeom prst="rect">
            <a:avLst/>
          </a:prstGeom>
        </p:spPr>
        <p:txBody>
          <a:bodyPr lIns="0" tIns="0" rIns="0" bIns="0" rtlCol="0" anchor="t">
            <a:spAutoFit/>
          </a:bodyPr>
          <a:lstStyle/>
          <a:p>
            <a:pPr marL="0" lvl="0" indent="0" algn="ctr">
              <a:lnSpc>
                <a:spcPts val="1834"/>
              </a:lnSpc>
            </a:pPr>
            <a:r>
              <a:rPr lang="en-US" sz="1310" b="1">
                <a:solidFill>
                  <a:srgbClr val="1F0A49"/>
                </a:solidFill>
                <a:latin typeface="Canva Sans Bold"/>
                <a:ea typeface="Canva Sans Bold"/>
                <a:cs typeface="Canva Sans Bold"/>
                <a:sym typeface="Canva Sans Bold"/>
              </a:rPr>
              <a:t>Devenir Leader</a:t>
            </a:r>
          </a:p>
        </p:txBody>
      </p:sp>
      <p:sp>
        <p:nvSpPr>
          <p:cNvPr id="61" name="TextBox 61"/>
          <p:cNvSpPr txBox="1"/>
          <p:nvPr/>
        </p:nvSpPr>
        <p:spPr>
          <a:xfrm>
            <a:off x="3442342" y="7031004"/>
            <a:ext cx="562526" cy="250521"/>
          </a:xfrm>
          <a:prstGeom prst="rect">
            <a:avLst/>
          </a:prstGeom>
        </p:spPr>
        <p:txBody>
          <a:bodyPr lIns="0" tIns="0" rIns="0" bIns="0" rtlCol="0" anchor="t">
            <a:spAutoFit/>
          </a:bodyPr>
          <a:lstStyle/>
          <a:p>
            <a:pPr marL="0" lvl="0" indent="0" algn="ctr">
              <a:lnSpc>
                <a:spcPts val="2096"/>
              </a:lnSpc>
            </a:pPr>
            <a:r>
              <a:rPr lang="en-US" sz="1747" b="1">
                <a:solidFill>
                  <a:srgbClr val="1D8BC9"/>
                </a:solidFill>
                <a:latin typeface="Canva Sans Bold"/>
                <a:ea typeface="Canva Sans Bold"/>
                <a:cs typeface="Canva Sans Bold"/>
                <a:sym typeface="Canva Sans Bold"/>
              </a:rPr>
              <a:t>01</a:t>
            </a:r>
          </a:p>
        </p:txBody>
      </p:sp>
      <p:grpSp>
        <p:nvGrpSpPr>
          <p:cNvPr id="62" name="Group 62"/>
          <p:cNvGrpSpPr/>
          <p:nvPr/>
        </p:nvGrpSpPr>
        <p:grpSpPr>
          <a:xfrm>
            <a:off x="1766389" y="3375824"/>
            <a:ext cx="5302911" cy="4467399"/>
            <a:chOff x="0" y="0"/>
            <a:chExt cx="7070547" cy="5956532"/>
          </a:xfrm>
        </p:grpSpPr>
        <p:sp>
          <p:nvSpPr>
            <p:cNvPr id="63" name="Freeform 63"/>
            <p:cNvSpPr/>
            <p:nvPr/>
          </p:nvSpPr>
          <p:spPr>
            <a:xfrm>
              <a:off x="1086587" y="2337911"/>
              <a:ext cx="5983961" cy="2932130"/>
            </a:xfrm>
            <a:custGeom>
              <a:avLst/>
              <a:gdLst/>
              <a:ahLst/>
              <a:cxnLst/>
              <a:rect l="l" t="t" r="r" b="b"/>
              <a:pathLst>
                <a:path w="5983961" h="2932130">
                  <a:moveTo>
                    <a:pt x="0" y="0"/>
                  </a:moveTo>
                  <a:lnTo>
                    <a:pt x="5983960" y="0"/>
                  </a:lnTo>
                  <a:lnTo>
                    <a:pt x="5983960" y="2932131"/>
                  </a:lnTo>
                  <a:lnTo>
                    <a:pt x="0" y="2932131"/>
                  </a:lnTo>
                  <a:lnTo>
                    <a:pt x="0" y="0"/>
                  </a:lnTo>
                  <a:close/>
                </a:path>
              </a:pathLst>
            </a:custGeom>
            <a:blipFill>
              <a:blip>
                <a:extLst>
                  <a:ext uri="{96DAC541-7B7A-43D3-8B79-37D633B846F1}">
                    <asvg:svgBlip xmlns:asvg="http://schemas.microsoft.com/office/drawing/2016/SVG/main" r:embed="rId12"/>
                  </a:ext>
                </a:extLst>
              </a:blip>
              <a:stretch>
                <a:fillRect b="-104337"/>
              </a:stretch>
            </a:blipFill>
          </p:spPr>
          <p:txBody>
            <a:bodyPr/>
            <a:lstStyle/>
            <a:p>
              <a:endParaRPr lang="fr-FR" dirty="0"/>
            </a:p>
          </p:txBody>
        </p:sp>
        <p:grpSp>
          <p:nvGrpSpPr>
            <p:cNvPr id="64" name="Group 64"/>
            <p:cNvGrpSpPr/>
            <p:nvPr/>
          </p:nvGrpSpPr>
          <p:grpSpPr>
            <a:xfrm>
              <a:off x="1867625" y="4472539"/>
              <a:ext cx="1483993" cy="1483993"/>
              <a:chOff x="0" y="0"/>
              <a:chExt cx="812152" cy="812152"/>
            </a:xfrm>
          </p:grpSpPr>
          <p:sp>
            <p:nvSpPr>
              <p:cNvPr id="65" name="Freeform 65"/>
              <p:cNvSpPr/>
              <p:nvPr/>
            </p:nvSpPr>
            <p:spPr>
              <a:xfrm>
                <a:off x="0" y="0"/>
                <a:ext cx="812152" cy="812152"/>
              </a:xfrm>
              <a:custGeom>
                <a:avLst/>
                <a:gdLst/>
                <a:ahLst/>
                <a:cxnLst/>
                <a:rect l="l" t="t" r="r" b="b"/>
                <a:pathLst>
                  <a:path w="812152" h="812152">
                    <a:moveTo>
                      <a:pt x="406076" y="0"/>
                    </a:moveTo>
                    <a:cubicBezTo>
                      <a:pt x="181806" y="0"/>
                      <a:pt x="0" y="181806"/>
                      <a:pt x="0" y="406076"/>
                    </a:cubicBezTo>
                    <a:cubicBezTo>
                      <a:pt x="0" y="630345"/>
                      <a:pt x="181806" y="812152"/>
                      <a:pt x="406076" y="812152"/>
                    </a:cubicBezTo>
                    <a:cubicBezTo>
                      <a:pt x="630345" y="812152"/>
                      <a:pt x="812152" y="630345"/>
                      <a:pt x="812152" y="406076"/>
                    </a:cubicBezTo>
                    <a:cubicBezTo>
                      <a:pt x="812152" y="181806"/>
                      <a:pt x="630345" y="0"/>
                      <a:pt x="406076" y="0"/>
                    </a:cubicBezTo>
                    <a:close/>
                  </a:path>
                </a:pathLst>
              </a:custGeom>
              <a:solidFill>
                <a:srgbClr val="FFFFFF"/>
              </a:solidFill>
              <a:ln w="76200" cap="sq">
                <a:solidFill>
                  <a:srgbClr val="1D8BC9"/>
                </a:solidFill>
                <a:prstDash val="solid"/>
                <a:miter/>
              </a:ln>
            </p:spPr>
          </p:sp>
          <p:sp>
            <p:nvSpPr>
              <p:cNvPr id="66" name="TextBox 66"/>
              <p:cNvSpPr txBox="1"/>
              <p:nvPr/>
            </p:nvSpPr>
            <p:spPr>
              <a:xfrm>
                <a:off x="76139" y="38039"/>
                <a:ext cx="659873" cy="697973"/>
              </a:xfrm>
              <a:prstGeom prst="rect">
                <a:avLst/>
              </a:prstGeom>
            </p:spPr>
            <p:txBody>
              <a:bodyPr lIns="50800" tIns="50800" rIns="50800" bIns="50800" rtlCol="0" anchor="ctr"/>
              <a:lstStyle/>
              <a:p>
                <a:pPr marL="0" lvl="0" indent="0" algn="ctr">
                  <a:lnSpc>
                    <a:spcPts val="3359"/>
                  </a:lnSpc>
                  <a:spcBef>
                    <a:spcPct val="0"/>
                  </a:spcBef>
                </a:pPr>
                <a:endParaRPr/>
              </a:p>
            </p:txBody>
          </p:sp>
        </p:grpSp>
        <p:grpSp>
          <p:nvGrpSpPr>
            <p:cNvPr id="67" name="Group 67"/>
            <p:cNvGrpSpPr/>
            <p:nvPr/>
          </p:nvGrpSpPr>
          <p:grpSpPr>
            <a:xfrm>
              <a:off x="4768111" y="1650829"/>
              <a:ext cx="1483993" cy="1483993"/>
              <a:chOff x="0" y="0"/>
              <a:chExt cx="688087" cy="688087"/>
            </a:xfrm>
          </p:grpSpPr>
          <p:sp>
            <p:nvSpPr>
              <p:cNvPr id="68" name="Freeform 68"/>
              <p:cNvSpPr/>
              <p:nvPr/>
            </p:nvSpPr>
            <p:spPr>
              <a:xfrm>
                <a:off x="0" y="0"/>
                <a:ext cx="688087" cy="688087"/>
              </a:xfrm>
              <a:custGeom>
                <a:avLst/>
                <a:gdLst/>
                <a:ahLst/>
                <a:cxnLst/>
                <a:rect l="l" t="t" r="r" b="b"/>
                <a:pathLst>
                  <a:path w="688087" h="688087">
                    <a:moveTo>
                      <a:pt x="344044" y="0"/>
                    </a:moveTo>
                    <a:cubicBezTo>
                      <a:pt x="154034" y="0"/>
                      <a:pt x="0" y="154034"/>
                      <a:pt x="0" y="344044"/>
                    </a:cubicBezTo>
                    <a:cubicBezTo>
                      <a:pt x="0" y="534054"/>
                      <a:pt x="154034" y="688087"/>
                      <a:pt x="344044" y="688087"/>
                    </a:cubicBezTo>
                    <a:cubicBezTo>
                      <a:pt x="534054" y="688087"/>
                      <a:pt x="688087" y="534054"/>
                      <a:pt x="688087" y="344044"/>
                    </a:cubicBezTo>
                    <a:cubicBezTo>
                      <a:pt x="688087" y="154034"/>
                      <a:pt x="534054" y="0"/>
                      <a:pt x="344044" y="0"/>
                    </a:cubicBezTo>
                    <a:close/>
                  </a:path>
                </a:pathLst>
              </a:custGeom>
              <a:solidFill>
                <a:srgbClr val="FFFFFF"/>
              </a:solidFill>
              <a:ln w="76200" cap="sq">
                <a:solidFill>
                  <a:srgbClr val="1D8BC9"/>
                </a:solidFill>
                <a:prstDash val="solid"/>
                <a:miter/>
              </a:ln>
            </p:spPr>
          </p:sp>
          <p:sp>
            <p:nvSpPr>
              <p:cNvPr id="69" name="TextBox 69"/>
              <p:cNvSpPr txBox="1"/>
              <p:nvPr/>
            </p:nvSpPr>
            <p:spPr>
              <a:xfrm>
                <a:off x="64508" y="26408"/>
                <a:ext cx="559071" cy="597171"/>
              </a:xfrm>
              <a:prstGeom prst="rect">
                <a:avLst/>
              </a:prstGeom>
            </p:spPr>
            <p:txBody>
              <a:bodyPr lIns="50800" tIns="50800" rIns="50800" bIns="50800" rtlCol="0" anchor="ctr"/>
              <a:lstStyle/>
              <a:p>
                <a:pPr marL="0" lvl="0" indent="0" algn="ctr">
                  <a:lnSpc>
                    <a:spcPts val="3359"/>
                  </a:lnSpc>
                  <a:spcBef>
                    <a:spcPct val="0"/>
                  </a:spcBef>
                </a:pPr>
                <a:endParaRPr/>
              </a:p>
            </p:txBody>
          </p:sp>
        </p:grpSp>
        <p:sp>
          <p:nvSpPr>
            <p:cNvPr id="70" name="Freeform 70"/>
            <p:cNvSpPr/>
            <p:nvPr/>
          </p:nvSpPr>
          <p:spPr>
            <a:xfrm>
              <a:off x="1446289" y="2601063"/>
              <a:ext cx="847248" cy="906437"/>
            </a:xfrm>
            <a:custGeom>
              <a:avLst/>
              <a:gdLst/>
              <a:ahLst/>
              <a:cxnLst/>
              <a:rect l="l" t="t" r="r" b="b"/>
              <a:pathLst>
                <a:path w="847248" h="906437">
                  <a:moveTo>
                    <a:pt x="0" y="0"/>
                  </a:moveTo>
                  <a:lnTo>
                    <a:pt x="847248" y="0"/>
                  </a:lnTo>
                  <a:lnTo>
                    <a:pt x="847248" y="906437"/>
                  </a:lnTo>
                  <a:lnTo>
                    <a:pt x="0" y="906437"/>
                  </a:lnTo>
                  <a:lnTo>
                    <a:pt x="0" y="0"/>
                  </a:lnTo>
                  <a:close/>
                </a:path>
              </a:pathLst>
            </a:custGeom>
            <a:blipFill>
              <a:blip r:embed="rId13"/>
              <a:stretch>
                <a:fillRect/>
              </a:stretch>
            </a:blipFill>
          </p:spPr>
          <p:txBody>
            <a:bodyPr/>
            <a:lstStyle/>
            <a:p>
              <a:endParaRPr lang="fr-FR" dirty="0"/>
            </a:p>
          </p:txBody>
        </p:sp>
        <p:sp>
          <p:nvSpPr>
            <p:cNvPr id="71" name="TextBox 71"/>
            <p:cNvSpPr txBox="1"/>
            <p:nvPr/>
          </p:nvSpPr>
          <p:spPr>
            <a:xfrm>
              <a:off x="426041" y="-38100"/>
              <a:ext cx="3625252" cy="298839"/>
            </a:xfrm>
            <a:prstGeom prst="rect">
              <a:avLst/>
            </a:prstGeom>
          </p:spPr>
          <p:txBody>
            <a:bodyPr lIns="0" tIns="0" rIns="0" bIns="0" rtlCol="0" anchor="t">
              <a:spAutoFit/>
            </a:bodyPr>
            <a:lstStyle/>
            <a:p>
              <a:pPr marL="0" lvl="0" indent="0" algn="ctr">
                <a:lnSpc>
                  <a:spcPts val="1834"/>
                </a:lnSpc>
              </a:pPr>
              <a:r>
                <a:rPr lang="en-US" sz="1310" b="1">
                  <a:solidFill>
                    <a:srgbClr val="1F0A49"/>
                  </a:solidFill>
                  <a:latin typeface="Canva Sans Bold"/>
                  <a:ea typeface="Canva Sans Bold"/>
                  <a:cs typeface="Canva Sans Bold"/>
                  <a:sym typeface="Canva Sans Bold"/>
                </a:rPr>
                <a:t>Timeout aléatoire</a:t>
              </a:r>
            </a:p>
          </p:txBody>
        </p:sp>
        <p:sp>
          <p:nvSpPr>
            <p:cNvPr id="72" name="TextBox 72"/>
            <p:cNvSpPr txBox="1"/>
            <p:nvPr/>
          </p:nvSpPr>
          <p:spPr>
            <a:xfrm>
              <a:off x="0" y="376344"/>
              <a:ext cx="4477335" cy="909079"/>
            </a:xfrm>
            <a:prstGeom prst="rect">
              <a:avLst/>
            </a:prstGeom>
          </p:spPr>
          <p:txBody>
            <a:bodyPr lIns="0" tIns="0" rIns="0" bIns="0" rtlCol="0" anchor="t">
              <a:spAutoFit/>
            </a:bodyPr>
            <a:lstStyle/>
            <a:p>
              <a:pPr marL="0" lvl="0" indent="0" algn="ctr">
                <a:lnSpc>
                  <a:spcPts val="1834"/>
                </a:lnSpc>
              </a:pPr>
              <a:r>
                <a:rPr lang="en-US" sz="1310" dirty="0">
                  <a:solidFill>
                    <a:srgbClr val="575757"/>
                  </a:solidFill>
                  <a:latin typeface="Canva Sans"/>
                  <a:ea typeface="Canva Sans"/>
                  <a:cs typeface="Canva Sans"/>
                  <a:sym typeface="Canva Sans"/>
                </a:rPr>
                <a:t>Le follower </a:t>
              </a:r>
              <a:r>
                <a:rPr lang="en-US" sz="1310" dirty="0" err="1">
                  <a:solidFill>
                    <a:srgbClr val="575757"/>
                  </a:solidFill>
                  <a:latin typeface="Canva Sans"/>
                  <a:ea typeface="Canva Sans"/>
                  <a:cs typeface="Canva Sans"/>
                  <a:sym typeface="Canva Sans"/>
                </a:rPr>
                <a:t>détecte</a:t>
              </a:r>
              <a:r>
                <a:rPr lang="en-US" sz="1310" dirty="0">
                  <a:solidFill>
                    <a:srgbClr val="575757"/>
                  </a:solidFill>
                  <a:latin typeface="Canva Sans"/>
                  <a:ea typeface="Canva Sans"/>
                  <a:cs typeface="Canva Sans"/>
                  <a:sym typeface="Canva Sans"/>
                </a:rPr>
                <a:t> </a:t>
              </a:r>
              <a:r>
                <a:rPr lang="en-US" sz="1310" dirty="0" err="1">
                  <a:solidFill>
                    <a:srgbClr val="575757"/>
                  </a:solidFill>
                  <a:latin typeface="Canva Sans"/>
                  <a:ea typeface="Canva Sans"/>
                  <a:cs typeface="Canva Sans"/>
                  <a:sym typeface="Canva Sans"/>
                </a:rPr>
                <a:t>l'absence</a:t>
              </a:r>
              <a:r>
                <a:rPr lang="en-US" sz="1310" dirty="0">
                  <a:solidFill>
                    <a:srgbClr val="575757"/>
                  </a:solidFill>
                  <a:latin typeface="Canva Sans"/>
                  <a:ea typeface="Canva Sans"/>
                  <a:cs typeface="Canva Sans"/>
                  <a:sym typeface="Canva Sans"/>
                </a:rPr>
                <a:t> de heartbeat après un </a:t>
              </a:r>
              <a:r>
                <a:rPr lang="en-US" sz="1310" dirty="0" err="1">
                  <a:solidFill>
                    <a:srgbClr val="575757"/>
                  </a:solidFill>
                  <a:latin typeface="Canva Sans"/>
                  <a:ea typeface="Canva Sans"/>
                  <a:cs typeface="Canva Sans"/>
                  <a:sym typeface="Canva Sans"/>
                </a:rPr>
                <a:t>délai</a:t>
              </a:r>
              <a:r>
                <a:rPr lang="en-US" sz="1310" dirty="0">
                  <a:solidFill>
                    <a:srgbClr val="575757"/>
                  </a:solidFill>
                  <a:latin typeface="Canva Sans"/>
                  <a:ea typeface="Canva Sans"/>
                  <a:cs typeface="Canva Sans"/>
                  <a:sym typeface="Canva Sans"/>
                </a:rPr>
                <a:t> </a:t>
              </a:r>
              <a:r>
                <a:rPr lang="en-US" sz="1310" dirty="0" err="1">
                  <a:solidFill>
                    <a:srgbClr val="575757"/>
                  </a:solidFill>
                  <a:latin typeface="Canva Sans"/>
                  <a:ea typeface="Canva Sans"/>
                  <a:cs typeface="Canva Sans"/>
                  <a:sym typeface="Canva Sans"/>
                </a:rPr>
                <a:t>aléatoire</a:t>
              </a:r>
              <a:r>
                <a:rPr lang="en-US" sz="1310" dirty="0">
                  <a:solidFill>
                    <a:srgbClr val="575757"/>
                  </a:solidFill>
                  <a:latin typeface="Canva Sans"/>
                  <a:ea typeface="Canva Sans"/>
                  <a:cs typeface="Canva Sans"/>
                  <a:sym typeface="Canva Sans"/>
                </a:rPr>
                <a:t> (150-300ms).</a:t>
              </a:r>
            </a:p>
          </p:txBody>
        </p:sp>
        <p:sp>
          <p:nvSpPr>
            <p:cNvPr id="73" name="TextBox 73"/>
            <p:cNvSpPr txBox="1"/>
            <p:nvPr/>
          </p:nvSpPr>
          <p:spPr>
            <a:xfrm>
              <a:off x="5135090" y="2048689"/>
              <a:ext cx="750035" cy="337202"/>
            </a:xfrm>
            <a:prstGeom prst="rect">
              <a:avLst/>
            </a:prstGeom>
          </p:spPr>
          <p:txBody>
            <a:bodyPr lIns="0" tIns="0" rIns="0" bIns="0" rtlCol="0" anchor="t">
              <a:spAutoFit/>
            </a:bodyPr>
            <a:lstStyle/>
            <a:p>
              <a:pPr marL="0" lvl="0" indent="0" algn="ctr">
                <a:lnSpc>
                  <a:spcPts val="2096"/>
                </a:lnSpc>
              </a:pPr>
              <a:r>
                <a:rPr lang="en-US" sz="1747" b="1">
                  <a:solidFill>
                    <a:srgbClr val="1D8BC9"/>
                  </a:solidFill>
                  <a:latin typeface="Canva Sans Bold"/>
                  <a:ea typeface="Canva Sans Bold"/>
                  <a:cs typeface="Canva Sans Bold"/>
                  <a:sym typeface="Canva Sans Bold"/>
                </a:rPr>
                <a:t>02</a:t>
              </a:r>
            </a:p>
          </p:txBody>
        </p:sp>
      </p:grpSp>
      <p:sp>
        <p:nvSpPr>
          <p:cNvPr id="74" name="TextBox 74"/>
          <p:cNvSpPr txBox="1"/>
          <p:nvPr/>
        </p:nvSpPr>
        <p:spPr>
          <a:xfrm>
            <a:off x="7721382" y="6971771"/>
            <a:ext cx="1244611" cy="250521"/>
          </a:xfrm>
          <a:prstGeom prst="rect">
            <a:avLst/>
          </a:prstGeom>
        </p:spPr>
        <p:txBody>
          <a:bodyPr lIns="0" tIns="0" rIns="0" bIns="0" rtlCol="0" anchor="t">
            <a:spAutoFit/>
          </a:bodyPr>
          <a:lstStyle/>
          <a:p>
            <a:pPr marL="0" lvl="0" indent="0" algn="ctr">
              <a:lnSpc>
                <a:spcPts val="2096"/>
              </a:lnSpc>
            </a:pPr>
            <a:r>
              <a:rPr lang="en-US" sz="1747" b="1">
                <a:solidFill>
                  <a:srgbClr val="2BC5CD"/>
                </a:solidFill>
                <a:latin typeface="Canva Sans Bold"/>
                <a:ea typeface="Canva Sans Bold"/>
                <a:cs typeface="Canva Sans Bold"/>
                <a:sym typeface="Canva Sans Bold"/>
              </a:rPr>
              <a:t>03</a:t>
            </a:r>
          </a:p>
        </p:txBody>
      </p:sp>
      <p:sp>
        <p:nvSpPr>
          <p:cNvPr id="75" name="TextBox 75"/>
          <p:cNvSpPr txBox="1"/>
          <p:nvPr/>
        </p:nvSpPr>
        <p:spPr>
          <a:xfrm>
            <a:off x="9954073" y="4772674"/>
            <a:ext cx="1121129" cy="250521"/>
          </a:xfrm>
          <a:prstGeom prst="rect">
            <a:avLst/>
          </a:prstGeom>
        </p:spPr>
        <p:txBody>
          <a:bodyPr lIns="0" tIns="0" rIns="0" bIns="0" rtlCol="0" anchor="t">
            <a:spAutoFit/>
          </a:bodyPr>
          <a:lstStyle/>
          <a:p>
            <a:pPr marL="0" lvl="0" indent="0" algn="ctr">
              <a:lnSpc>
                <a:spcPts val="2096"/>
              </a:lnSpc>
            </a:pPr>
            <a:r>
              <a:rPr lang="en-US" sz="1747" b="1">
                <a:solidFill>
                  <a:srgbClr val="2BC5CD"/>
                </a:solidFill>
                <a:latin typeface="Canva Sans Bold"/>
                <a:ea typeface="Canva Sans Bold"/>
                <a:cs typeface="Canva Sans Bold"/>
                <a:sym typeface="Canva Sans Bold"/>
              </a:rPr>
              <a:t>04</a:t>
            </a:r>
          </a:p>
        </p:txBody>
      </p:sp>
      <p:sp>
        <p:nvSpPr>
          <p:cNvPr id="76" name="TextBox 76"/>
          <p:cNvSpPr txBox="1"/>
          <p:nvPr/>
        </p:nvSpPr>
        <p:spPr>
          <a:xfrm>
            <a:off x="12408664" y="6971771"/>
            <a:ext cx="1112995" cy="250521"/>
          </a:xfrm>
          <a:prstGeom prst="rect">
            <a:avLst/>
          </a:prstGeom>
        </p:spPr>
        <p:txBody>
          <a:bodyPr lIns="0" tIns="0" rIns="0" bIns="0" rtlCol="0" anchor="t">
            <a:spAutoFit/>
          </a:bodyPr>
          <a:lstStyle/>
          <a:p>
            <a:pPr marL="0" lvl="0" indent="0" algn="ctr">
              <a:lnSpc>
                <a:spcPts val="2096"/>
              </a:lnSpc>
            </a:pPr>
            <a:r>
              <a:rPr lang="en-US" sz="1747" b="1">
                <a:solidFill>
                  <a:srgbClr val="77BF60"/>
                </a:solidFill>
                <a:latin typeface="Canva Sans Bold"/>
                <a:ea typeface="Canva Sans Bold"/>
                <a:cs typeface="Canva Sans Bold"/>
                <a:sym typeface="Canva Sans Bold"/>
              </a:rPr>
              <a:t>05</a:t>
            </a:r>
          </a:p>
        </p:txBody>
      </p:sp>
      <p:sp>
        <p:nvSpPr>
          <p:cNvPr id="77" name="TextBox 77"/>
          <p:cNvSpPr txBox="1"/>
          <p:nvPr/>
        </p:nvSpPr>
        <p:spPr>
          <a:xfrm>
            <a:off x="14580992" y="4772674"/>
            <a:ext cx="1112995" cy="250521"/>
          </a:xfrm>
          <a:prstGeom prst="rect">
            <a:avLst/>
          </a:prstGeom>
        </p:spPr>
        <p:txBody>
          <a:bodyPr lIns="0" tIns="0" rIns="0" bIns="0" rtlCol="0" anchor="t">
            <a:spAutoFit/>
          </a:bodyPr>
          <a:lstStyle/>
          <a:p>
            <a:pPr marL="0" lvl="0" indent="0" algn="ctr">
              <a:lnSpc>
                <a:spcPts val="2096"/>
              </a:lnSpc>
            </a:pPr>
            <a:r>
              <a:rPr lang="en-US" sz="1747" b="1">
                <a:solidFill>
                  <a:srgbClr val="77BF60"/>
                </a:solidFill>
                <a:latin typeface="Canva Sans Bold"/>
                <a:ea typeface="Canva Sans Bold"/>
                <a:cs typeface="Canva Sans Bold"/>
                <a:sym typeface="Canva Sans Bold"/>
              </a:rPr>
              <a:t>06</a:t>
            </a:r>
          </a:p>
        </p:txBody>
      </p:sp>
      <p:sp>
        <p:nvSpPr>
          <p:cNvPr id="78" name="TextBox 78"/>
          <p:cNvSpPr txBox="1"/>
          <p:nvPr/>
        </p:nvSpPr>
        <p:spPr>
          <a:xfrm>
            <a:off x="11529992" y="3648557"/>
            <a:ext cx="3358001" cy="462494"/>
          </a:xfrm>
          <a:prstGeom prst="rect">
            <a:avLst/>
          </a:prstGeom>
        </p:spPr>
        <p:txBody>
          <a:bodyPr lIns="0" tIns="0" rIns="0" bIns="0" rtlCol="0" anchor="t">
            <a:spAutoFit/>
          </a:bodyPr>
          <a:lstStyle/>
          <a:p>
            <a:pPr marL="0" lvl="0" indent="0" algn="ctr">
              <a:lnSpc>
                <a:spcPts val="1834"/>
              </a:lnSpc>
            </a:pPr>
            <a:r>
              <a:rPr lang="en-US" sz="1310">
                <a:solidFill>
                  <a:srgbClr val="575757"/>
                </a:solidFill>
                <a:latin typeface="Canva Sans"/>
                <a:ea typeface="Canva Sans"/>
                <a:cs typeface="Canva Sans"/>
                <a:sym typeface="Canva Sans"/>
              </a:rPr>
              <a:t>Le candidat obtient la majorité des votes : ⌈N/2⌉+1 sur N nœuds.</a:t>
            </a:r>
          </a:p>
        </p:txBody>
      </p:sp>
      <p:sp>
        <p:nvSpPr>
          <p:cNvPr id="79" name="TextBox 79"/>
          <p:cNvSpPr txBox="1"/>
          <p:nvPr/>
        </p:nvSpPr>
        <p:spPr>
          <a:xfrm>
            <a:off x="13103881" y="8430295"/>
            <a:ext cx="3358001" cy="462494"/>
          </a:xfrm>
          <a:prstGeom prst="rect">
            <a:avLst/>
          </a:prstGeom>
        </p:spPr>
        <p:txBody>
          <a:bodyPr lIns="0" tIns="0" rIns="0" bIns="0" rtlCol="0" anchor="t">
            <a:spAutoFit/>
          </a:bodyPr>
          <a:lstStyle/>
          <a:p>
            <a:pPr marL="0" lvl="0" indent="0" algn="ctr">
              <a:lnSpc>
                <a:spcPts val="1834"/>
              </a:lnSpc>
            </a:pPr>
            <a:r>
              <a:rPr lang="en-US" sz="1310">
                <a:solidFill>
                  <a:srgbClr val="575757"/>
                </a:solidFill>
                <a:latin typeface="Canva Sans"/>
                <a:ea typeface="Canva Sans"/>
                <a:cs typeface="Canva Sans"/>
                <a:sym typeface="Canva Sans"/>
              </a:rPr>
              <a:t>Le candidat devient Leader et envoie des heartbeats AppendEntries vides.</a:t>
            </a:r>
          </a:p>
        </p:txBody>
      </p:sp>
      <p:sp>
        <p:nvSpPr>
          <p:cNvPr id="80" name="TextBox 80"/>
          <p:cNvSpPr txBox="1"/>
          <p:nvPr/>
        </p:nvSpPr>
        <p:spPr>
          <a:xfrm>
            <a:off x="3442342" y="6971771"/>
            <a:ext cx="562526" cy="250521"/>
          </a:xfrm>
          <a:prstGeom prst="rect">
            <a:avLst/>
          </a:prstGeom>
        </p:spPr>
        <p:txBody>
          <a:bodyPr lIns="0" tIns="0" rIns="0" bIns="0" rtlCol="0" anchor="t">
            <a:spAutoFit/>
          </a:bodyPr>
          <a:lstStyle/>
          <a:p>
            <a:pPr marL="0" lvl="0" indent="0" algn="ctr">
              <a:lnSpc>
                <a:spcPts val="2096"/>
              </a:lnSpc>
            </a:pPr>
            <a:r>
              <a:rPr lang="en-US" sz="1747" b="1">
                <a:solidFill>
                  <a:srgbClr val="1D8BC9"/>
                </a:solidFill>
                <a:latin typeface="Canva Sans Bold"/>
                <a:ea typeface="Canva Sans Bold"/>
                <a:cs typeface="Canva Sans Bold"/>
                <a:sym typeface="Canva Sans Bold"/>
              </a:rPr>
              <a:t>01</a:t>
            </a:r>
          </a:p>
        </p:txBody>
      </p:sp>
      <p:sp>
        <p:nvSpPr>
          <p:cNvPr id="81" name="TextBox 81"/>
          <p:cNvSpPr txBox="1"/>
          <p:nvPr/>
        </p:nvSpPr>
        <p:spPr>
          <a:xfrm>
            <a:off x="4688234" y="1154177"/>
            <a:ext cx="7310908" cy="772149"/>
          </a:xfrm>
          <a:prstGeom prst="rect">
            <a:avLst/>
          </a:prstGeom>
        </p:spPr>
        <p:txBody>
          <a:bodyPr lIns="0" tIns="0" rIns="0" bIns="0" rtlCol="0" anchor="t">
            <a:spAutoFit/>
          </a:bodyPr>
          <a:lstStyle/>
          <a:p>
            <a:pPr marL="0" lvl="0" indent="0" algn="l">
              <a:lnSpc>
                <a:spcPts val="5463"/>
              </a:lnSpc>
            </a:pPr>
            <a:r>
              <a:rPr lang="en-US" sz="6828" b="1" dirty="0">
                <a:solidFill>
                  <a:srgbClr val="240960"/>
                </a:solidFill>
                <a:latin typeface="Montserrat Bold"/>
                <a:ea typeface="Montserrat Bold"/>
                <a:cs typeface="Montserrat Bold"/>
                <a:sym typeface="Montserrat Bold"/>
              </a:rPr>
              <a:t>Election</a:t>
            </a:r>
          </a:p>
        </p:txBody>
      </p:sp>
      <p:sp>
        <p:nvSpPr>
          <p:cNvPr id="82" name="TextBox 82"/>
          <p:cNvSpPr txBox="1"/>
          <p:nvPr/>
        </p:nvSpPr>
        <p:spPr>
          <a:xfrm>
            <a:off x="7015126" y="1933696"/>
            <a:ext cx="7310908" cy="772149"/>
          </a:xfrm>
          <a:prstGeom prst="rect">
            <a:avLst/>
          </a:prstGeom>
        </p:spPr>
        <p:txBody>
          <a:bodyPr lIns="0" tIns="0" rIns="0" bIns="0" rtlCol="0" anchor="t">
            <a:spAutoFit/>
          </a:bodyPr>
          <a:lstStyle/>
          <a:p>
            <a:pPr marL="0" lvl="0" indent="0" algn="l">
              <a:lnSpc>
                <a:spcPts val="5463"/>
              </a:lnSpc>
            </a:pPr>
            <a:r>
              <a:rPr lang="en-US" sz="6828">
                <a:solidFill>
                  <a:srgbClr val="240960"/>
                </a:solidFill>
                <a:latin typeface="Montserrat"/>
                <a:ea typeface="Montserrat"/>
                <a:cs typeface="Montserrat"/>
                <a:sym typeface="Montserrat"/>
              </a:rPr>
              <a:t>du leader</a:t>
            </a:r>
          </a:p>
        </p:txBody>
      </p:sp>
      <p:pic>
        <p:nvPicPr>
          <p:cNvPr id="84" name="Graphique 83" descr="Questions avec un remplissage uni">
            <a:extLst>
              <a:ext uri="{FF2B5EF4-FFF2-40B4-BE49-F238E27FC236}">
                <a16:creationId xmlns:a16="http://schemas.microsoft.com/office/drawing/2014/main" id="{96744F50-F163-4A21-796A-E39ECF942830}"/>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6162919" y="6433502"/>
            <a:ext cx="914400" cy="9144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bg>
      <p:bgPr>
        <a:solidFill>
          <a:srgbClr val="EDE5FF"/>
        </a:solidFill>
        <a:effectLst/>
      </p:bgPr>
    </p:bg>
    <p:spTree>
      <p:nvGrpSpPr>
        <p:cNvPr id="1" name=""/>
        <p:cNvGrpSpPr/>
        <p:nvPr/>
      </p:nvGrpSpPr>
      <p:grpSpPr>
        <a:xfrm>
          <a:off x="0" y="0"/>
          <a:ext cx="0" cy="0"/>
          <a:chOff x="0" y="0"/>
          <a:chExt cx="0" cy="0"/>
        </a:xfrm>
      </p:grpSpPr>
      <p:sp>
        <p:nvSpPr>
          <p:cNvPr id="2" name="Freeform 2"/>
          <p:cNvSpPr/>
          <p:nvPr/>
        </p:nvSpPr>
        <p:spPr>
          <a:xfrm>
            <a:off x="1349938" y="875473"/>
            <a:ext cx="490149" cy="403705"/>
          </a:xfrm>
          <a:custGeom>
            <a:avLst/>
            <a:gdLst/>
            <a:ahLst/>
            <a:cxnLst/>
            <a:rect l="l" t="t" r="r" b="b"/>
            <a:pathLst>
              <a:path w="490149" h="403705">
                <a:moveTo>
                  <a:pt x="0" y="0"/>
                </a:moveTo>
                <a:lnTo>
                  <a:pt x="490149" y="0"/>
                </a:lnTo>
                <a:lnTo>
                  <a:pt x="490149" y="403705"/>
                </a:lnTo>
                <a:lnTo>
                  <a:pt x="0" y="403705"/>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TextBox 3"/>
          <p:cNvSpPr txBox="1"/>
          <p:nvPr/>
        </p:nvSpPr>
        <p:spPr>
          <a:xfrm>
            <a:off x="1996708" y="844897"/>
            <a:ext cx="1194260" cy="426539"/>
          </a:xfrm>
          <a:prstGeom prst="rect">
            <a:avLst/>
          </a:prstGeom>
        </p:spPr>
        <p:txBody>
          <a:bodyPr lIns="0" tIns="0" rIns="0" bIns="0" rtlCol="0" anchor="t">
            <a:spAutoFit/>
          </a:bodyPr>
          <a:lstStyle/>
          <a:p>
            <a:pPr marL="0" lvl="0" indent="0" algn="l">
              <a:lnSpc>
                <a:spcPts val="1676"/>
              </a:lnSpc>
            </a:pPr>
            <a:r>
              <a:rPr lang="en-US" sz="1643" b="1">
                <a:solidFill>
                  <a:srgbClr val="240960"/>
                </a:solidFill>
                <a:latin typeface="Montserrat Bold"/>
                <a:ea typeface="Montserrat Bold"/>
                <a:cs typeface="Montserrat Bold"/>
                <a:sym typeface="Montserrat Bold"/>
              </a:rPr>
              <a:t>Raft Consensus</a:t>
            </a:r>
          </a:p>
        </p:txBody>
      </p:sp>
      <p:grpSp>
        <p:nvGrpSpPr>
          <p:cNvPr id="4" name="Group 4"/>
          <p:cNvGrpSpPr/>
          <p:nvPr/>
        </p:nvGrpSpPr>
        <p:grpSpPr>
          <a:xfrm>
            <a:off x="1349938" y="2009691"/>
            <a:ext cx="6573048" cy="6267619"/>
            <a:chOff x="0" y="0"/>
            <a:chExt cx="1018337" cy="971018"/>
          </a:xfrm>
        </p:grpSpPr>
        <p:sp>
          <p:nvSpPr>
            <p:cNvPr id="5" name="Freeform 5"/>
            <p:cNvSpPr/>
            <p:nvPr/>
          </p:nvSpPr>
          <p:spPr>
            <a:xfrm>
              <a:off x="0" y="0"/>
              <a:ext cx="1018337" cy="971018"/>
            </a:xfrm>
            <a:custGeom>
              <a:avLst/>
              <a:gdLst/>
              <a:ahLst/>
              <a:cxnLst/>
              <a:rect l="l" t="t" r="r" b="b"/>
              <a:pathLst>
                <a:path w="1018337" h="971018">
                  <a:moveTo>
                    <a:pt x="0" y="0"/>
                  </a:moveTo>
                  <a:lnTo>
                    <a:pt x="1018337" y="0"/>
                  </a:lnTo>
                  <a:lnTo>
                    <a:pt x="1018337" y="971018"/>
                  </a:lnTo>
                  <a:lnTo>
                    <a:pt x="0" y="971018"/>
                  </a:lnTo>
                  <a:close/>
                </a:path>
              </a:pathLst>
            </a:custGeom>
            <a:blipFill>
              <a:blip r:embed="rId3"/>
              <a:stretch>
                <a:fillRect t="-2436" b="-2436"/>
              </a:stretch>
            </a:blipFill>
          </p:spPr>
        </p:sp>
      </p:grpSp>
      <p:grpSp>
        <p:nvGrpSpPr>
          <p:cNvPr id="6" name="Group 6"/>
          <p:cNvGrpSpPr/>
          <p:nvPr/>
        </p:nvGrpSpPr>
        <p:grpSpPr>
          <a:xfrm>
            <a:off x="0" y="5920447"/>
            <a:ext cx="8384711" cy="2735500"/>
            <a:chOff x="0" y="0"/>
            <a:chExt cx="2208319" cy="720461"/>
          </a:xfrm>
        </p:grpSpPr>
        <p:sp>
          <p:nvSpPr>
            <p:cNvPr id="7" name="Freeform 7"/>
            <p:cNvSpPr/>
            <p:nvPr/>
          </p:nvSpPr>
          <p:spPr>
            <a:xfrm>
              <a:off x="0" y="0"/>
              <a:ext cx="2208319" cy="720461"/>
            </a:xfrm>
            <a:custGeom>
              <a:avLst/>
              <a:gdLst/>
              <a:ahLst/>
              <a:cxnLst/>
              <a:rect l="l" t="t" r="r" b="b"/>
              <a:pathLst>
                <a:path w="2208319" h="720461">
                  <a:moveTo>
                    <a:pt x="0" y="0"/>
                  </a:moveTo>
                  <a:lnTo>
                    <a:pt x="2208319" y="0"/>
                  </a:lnTo>
                  <a:lnTo>
                    <a:pt x="2208319" y="720461"/>
                  </a:lnTo>
                  <a:lnTo>
                    <a:pt x="0" y="720461"/>
                  </a:lnTo>
                  <a:close/>
                </a:path>
              </a:pathLst>
            </a:custGeom>
            <a:gradFill rotWithShape="1">
              <a:gsLst>
                <a:gs pos="0">
                  <a:srgbClr val="3C67BF">
                    <a:alpha val="79000"/>
                  </a:srgbClr>
                </a:gs>
                <a:gs pos="100000">
                  <a:srgbClr val="F7ACFF">
                    <a:alpha val="79000"/>
                  </a:srgbClr>
                </a:gs>
              </a:gsLst>
              <a:lin ang="0"/>
            </a:gradFill>
          </p:spPr>
        </p:sp>
        <p:sp>
          <p:nvSpPr>
            <p:cNvPr id="8" name="TextBox 8"/>
            <p:cNvSpPr txBox="1"/>
            <p:nvPr/>
          </p:nvSpPr>
          <p:spPr>
            <a:xfrm>
              <a:off x="0" y="-38100"/>
              <a:ext cx="2208319" cy="758561"/>
            </a:xfrm>
            <a:prstGeom prst="rect">
              <a:avLst/>
            </a:prstGeom>
          </p:spPr>
          <p:txBody>
            <a:bodyPr lIns="50800" tIns="50800" rIns="50800" bIns="50800" rtlCol="0" anchor="ctr"/>
            <a:lstStyle/>
            <a:p>
              <a:pPr marL="0" lvl="0" indent="0" algn="ctr">
                <a:lnSpc>
                  <a:spcPts val="2659"/>
                </a:lnSpc>
              </a:pPr>
              <a:endParaRPr/>
            </a:p>
          </p:txBody>
        </p:sp>
      </p:grpSp>
      <p:grpSp>
        <p:nvGrpSpPr>
          <p:cNvPr id="9" name="Group 9"/>
          <p:cNvGrpSpPr/>
          <p:nvPr/>
        </p:nvGrpSpPr>
        <p:grpSpPr>
          <a:xfrm>
            <a:off x="9029177" y="2339407"/>
            <a:ext cx="1256320" cy="1256320"/>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C67BF">
                    <a:alpha val="96000"/>
                  </a:srgbClr>
                </a:gs>
                <a:gs pos="100000">
                  <a:srgbClr val="F7ACFF">
                    <a:alpha val="0"/>
                  </a:srgbClr>
                </a:gs>
              </a:gsLst>
              <a:lin ang="0"/>
            </a:gradFill>
          </p:spPr>
        </p:sp>
        <p:sp>
          <p:nvSpPr>
            <p:cNvPr id="11" name="TextBox 11"/>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pPr>
              <a:endParaRPr/>
            </a:p>
          </p:txBody>
        </p:sp>
      </p:grpSp>
      <p:sp>
        <p:nvSpPr>
          <p:cNvPr id="12" name="TextBox 12"/>
          <p:cNvSpPr txBox="1"/>
          <p:nvPr/>
        </p:nvSpPr>
        <p:spPr>
          <a:xfrm>
            <a:off x="9463406" y="2872563"/>
            <a:ext cx="7310908" cy="772149"/>
          </a:xfrm>
          <a:prstGeom prst="rect">
            <a:avLst/>
          </a:prstGeom>
        </p:spPr>
        <p:txBody>
          <a:bodyPr lIns="0" tIns="0" rIns="0" bIns="0" rtlCol="0" anchor="t">
            <a:spAutoFit/>
          </a:bodyPr>
          <a:lstStyle/>
          <a:p>
            <a:pPr marL="0" lvl="0" indent="0" algn="l">
              <a:lnSpc>
                <a:spcPts val="5463"/>
              </a:lnSpc>
            </a:pPr>
            <a:r>
              <a:rPr lang="en-US" sz="6828" b="1">
                <a:solidFill>
                  <a:srgbClr val="240960"/>
                </a:solidFill>
                <a:latin typeface="Montserrat Bold"/>
                <a:ea typeface="Montserrat Bold"/>
                <a:cs typeface="Montserrat Bold"/>
                <a:sym typeface="Montserrat Bold"/>
              </a:rPr>
              <a:t>Réplication</a:t>
            </a:r>
          </a:p>
        </p:txBody>
      </p:sp>
      <p:sp>
        <p:nvSpPr>
          <p:cNvPr id="13" name="TextBox 13"/>
          <p:cNvSpPr txBox="1"/>
          <p:nvPr/>
        </p:nvSpPr>
        <p:spPr>
          <a:xfrm>
            <a:off x="9425306" y="3601942"/>
            <a:ext cx="7310908" cy="772149"/>
          </a:xfrm>
          <a:prstGeom prst="rect">
            <a:avLst/>
          </a:prstGeom>
        </p:spPr>
        <p:txBody>
          <a:bodyPr lIns="0" tIns="0" rIns="0" bIns="0" rtlCol="0" anchor="t">
            <a:spAutoFit/>
          </a:bodyPr>
          <a:lstStyle/>
          <a:p>
            <a:pPr marL="0" lvl="0" indent="0" algn="l">
              <a:lnSpc>
                <a:spcPts val="5463"/>
              </a:lnSpc>
            </a:pPr>
            <a:r>
              <a:rPr lang="en-US" sz="6828">
                <a:solidFill>
                  <a:srgbClr val="240960"/>
                </a:solidFill>
                <a:latin typeface="Montserrat"/>
                <a:ea typeface="Montserrat"/>
                <a:cs typeface="Montserrat"/>
                <a:sym typeface="Montserrat"/>
              </a:rPr>
              <a:t>du log</a:t>
            </a:r>
          </a:p>
        </p:txBody>
      </p:sp>
      <p:sp>
        <p:nvSpPr>
          <p:cNvPr id="14" name="TextBox 14"/>
          <p:cNvSpPr txBox="1"/>
          <p:nvPr/>
        </p:nvSpPr>
        <p:spPr>
          <a:xfrm>
            <a:off x="10118806" y="4907322"/>
            <a:ext cx="6574791" cy="481881"/>
          </a:xfrm>
          <a:prstGeom prst="rect">
            <a:avLst/>
          </a:prstGeom>
        </p:spPr>
        <p:txBody>
          <a:bodyPr lIns="0" tIns="0" rIns="0" bIns="0" rtlCol="0" anchor="t">
            <a:spAutoFit/>
          </a:bodyPr>
          <a:lstStyle/>
          <a:p>
            <a:pPr marL="0" lvl="0" indent="0" algn="l">
              <a:lnSpc>
                <a:spcPts val="1908"/>
              </a:lnSpc>
            </a:pPr>
            <a:r>
              <a:rPr lang="en-US" sz="1673">
                <a:solidFill>
                  <a:srgbClr val="240960"/>
                </a:solidFill>
                <a:latin typeface="Montserrat"/>
                <a:ea typeface="Montserrat"/>
                <a:cs typeface="Montserrat"/>
                <a:sym typeface="Montserrat"/>
              </a:rPr>
              <a:t>Le leader reçoit les commandes des clients et les ajoute à son log local avant de les distribuer aux autres nœuds du cluster.</a:t>
            </a:r>
          </a:p>
        </p:txBody>
      </p:sp>
      <p:sp>
        <p:nvSpPr>
          <p:cNvPr id="15" name="TextBox 15"/>
          <p:cNvSpPr txBox="1"/>
          <p:nvPr/>
        </p:nvSpPr>
        <p:spPr>
          <a:xfrm>
            <a:off x="10161422" y="5947903"/>
            <a:ext cx="6574791" cy="721206"/>
          </a:xfrm>
          <a:prstGeom prst="rect">
            <a:avLst/>
          </a:prstGeom>
        </p:spPr>
        <p:txBody>
          <a:bodyPr lIns="0" tIns="0" rIns="0" bIns="0" rtlCol="0" anchor="t">
            <a:spAutoFit/>
          </a:bodyPr>
          <a:lstStyle/>
          <a:p>
            <a:pPr marL="0" lvl="0" indent="0" algn="l">
              <a:lnSpc>
                <a:spcPts val="1908"/>
              </a:lnSpc>
            </a:pPr>
            <a:r>
              <a:rPr lang="en-US" sz="1673">
                <a:solidFill>
                  <a:srgbClr val="240960"/>
                </a:solidFill>
                <a:latin typeface="Montserrat"/>
                <a:ea typeface="Montserrat"/>
                <a:cs typeface="Montserrat"/>
                <a:sym typeface="Montserrat"/>
              </a:rPr>
              <a:t>AppendEntries : le leader envoie les nouvelles entrées aux followers qui les répliquent. Une entrée est committée quand la majorité confirme.</a:t>
            </a:r>
          </a:p>
        </p:txBody>
      </p:sp>
      <p:sp>
        <p:nvSpPr>
          <p:cNvPr id="16" name="TextBox 16"/>
          <p:cNvSpPr txBox="1"/>
          <p:nvPr/>
        </p:nvSpPr>
        <p:spPr>
          <a:xfrm>
            <a:off x="10118806" y="7135295"/>
            <a:ext cx="6574791" cy="721206"/>
          </a:xfrm>
          <a:prstGeom prst="rect">
            <a:avLst/>
          </a:prstGeom>
        </p:spPr>
        <p:txBody>
          <a:bodyPr lIns="0" tIns="0" rIns="0" bIns="0" rtlCol="0" anchor="t">
            <a:spAutoFit/>
          </a:bodyPr>
          <a:lstStyle/>
          <a:p>
            <a:pPr marL="0" lvl="0" indent="0" algn="l">
              <a:lnSpc>
                <a:spcPts val="1908"/>
              </a:lnSpc>
            </a:pPr>
            <a:r>
              <a:rPr lang="en-US" sz="1673">
                <a:solidFill>
                  <a:srgbClr val="240960"/>
                </a:solidFill>
                <a:latin typeface="Montserrat"/>
                <a:ea typeface="Montserrat"/>
                <a:cs typeface="Montserrat"/>
                <a:sym typeface="Montserrat"/>
              </a:rPr>
              <a:t>Après le commit par majorité, l'entrée est appliquée à la machine à états de chaque nœud, garantissant la cohérence du système distribué.</a:t>
            </a:r>
          </a:p>
        </p:txBody>
      </p:sp>
      <p:grpSp>
        <p:nvGrpSpPr>
          <p:cNvPr id="17" name="Group 17"/>
          <p:cNvGrpSpPr/>
          <p:nvPr/>
        </p:nvGrpSpPr>
        <p:grpSpPr>
          <a:xfrm>
            <a:off x="9526317" y="5012481"/>
            <a:ext cx="262038" cy="262038"/>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5B45B5">
                    <a:alpha val="96000"/>
                  </a:srgbClr>
                </a:gs>
                <a:gs pos="100000">
                  <a:srgbClr val="8875D7">
                    <a:alpha val="96000"/>
                  </a:srgbClr>
                </a:gs>
              </a:gsLst>
              <a:lin ang="0"/>
            </a:gradFill>
          </p:spPr>
        </p:sp>
        <p:sp>
          <p:nvSpPr>
            <p:cNvPr id="19" name="TextBox 19"/>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pPr>
              <a:endParaRPr/>
            </a:p>
          </p:txBody>
        </p:sp>
      </p:grpSp>
      <p:grpSp>
        <p:nvGrpSpPr>
          <p:cNvPr id="20" name="Group 20"/>
          <p:cNvGrpSpPr/>
          <p:nvPr/>
        </p:nvGrpSpPr>
        <p:grpSpPr>
          <a:xfrm>
            <a:off x="9526317" y="6210555"/>
            <a:ext cx="262038" cy="262038"/>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5B45B5">
                    <a:alpha val="96000"/>
                  </a:srgbClr>
                </a:gs>
                <a:gs pos="100000">
                  <a:srgbClr val="8875D7">
                    <a:alpha val="96000"/>
                  </a:srgbClr>
                </a:gs>
              </a:gsLst>
              <a:lin ang="0"/>
            </a:gradFill>
          </p:spPr>
        </p:sp>
        <p:sp>
          <p:nvSpPr>
            <p:cNvPr id="22" name="TextBox 22"/>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pPr>
              <a:endParaRPr/>
            </a:p>
          </p:txBody>
        </p:sp>
      </p:grpSp>
      <p:grpSp>
        <p:nvGrpSpPr>
          <p:cNvPr id="23" name="Group 23"/>
          <p:cNvGrpSpPr/>
          <p:nvPr/>
        </p:nvGrpSpPr>
        <p:grpSpPr>
          <a:xfrm>
            <a:off x="9526317" y="7408628"/>
            <a:ext cx="262038" cy="262038"/>
            <a:chOff x="0" y="0"/>
            <a:chExt cx="812800" cy="812800"/>
          </a:xfrm>
        </p:grpSpPr>
        <p:sp>
          <p:nvSpPr>
            <p:cNvPr id="24" name="Freeform 2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5B45B5">
                    <a:alpha val="96000"/>
                  </a:srgbClr>
                </a:gs>
                <a:gs pos="100000">
                  <a:srgbClr val="8875D7">
                    <a:alpha val="96000"/>
                  </a:srgbClr>
                </a:gs>
              </a:gsLst>
              <a:lin ang="0"/>
            </a:gradFill>
          </p:spPr>
        </p:sp>
        <p:sp>
          <p:nvSpPr>
            <p:cNvPr id="25" name="TextBox 25"/>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pPr>
              <a:endParaRPr/>
            </a:p>
          </p:txBody>
        </p:sp>
      </p:grpSp>
      <p:grpSp>
        <p:nvGrpSpPr>
          <p:cNvPr id="26" name="Group 26"/>
          <p:cNvGrpSpPr/>
          <p:nvPr/>
        </p:nvGrpSpPr>
        <p:grpSpPr>
          <a:xfrm>
            <a:off x="429600" y="2555251"/>
            <a:ext cx="2028716" cy="2080953"/>
            <a:chOff x="0" y="0"/>
            <a:chExt cx="534312" cy="548070"/>
          </a:xfrm>
        </p:grpSpPr>
        <p:sp>
          <p:nvSpPr>
            <p:cNvPr id="27" name="Freeform 27"/>
            <p:cNvSpPr/>
            <p:nvPr/>
          </p:nvSpPr>
          <p:spPr>
            <a:xfrm>
              <a:off x="0" y="0"/>
              <a:ext cx="534312" cy="548070"/>
            </a:xfrm>
            <a:custGeom>
              <a:avLst/>
              <a:gdLst/>
              <a:ahLst/>
              <a:cxnLst/>
              <a:rect l="l" t="t" r="r" b="b"/>
              <a:pathLst>
                <a:path w="534312" h="548070">
                  <a:moveTo>
                    <a:pt x="0" y="0"/>
                  </a:moveTo>
                  <a:lnTo>
                    <a:pt x="534312" y="0"/>
                  </a:lnTo>
                  <a:lnTo>
                    <a:pt x="534312" y="548070"/>
                  </a:lnTo>
                  <a:lnTo>
                    <a:pt x="0" y="548070"/>
                  </a:lnTo>
                  <a:close/>
                </a:path>
              </a:pathLst>
            </a:custGeom>
            <a:gradFill rotWithShape="1">
              <a:gsLst>
                <a:gs pos="0">
                  <a:srgbClr val="3C67BF">
                    <a:alpha val="79000"/>
                  </a:srgbClr>
                </a:gs>
                <a:gs pos="100000">
                  <a:srgbClr val="F7ACFF">
                    <a:alpha val="79000"/>
                  </a:srgbClr>
                </a:gs>
              </a:gsLst>
              <a:lin ang="0"/>
            </a:gradFill>
          </p:spPr>
        </p:sp>
        <p:sp>
          <p:nvSpPr>
            <p:cNvPr id="28" name="TextBox 28"/>
            <p:cNvSpPr txBox="1"/>
            <p:nvPr/>
          </p:nvSpPr>
          <p:spPr>
            <a:xfrm>
              <a:off x="0" y="-38100"/>
              <a:ext cx="534312" cy="586170"/>
            </a:xfrm>
            <a:prstGeom prst="rect">
              <a:avLst/>
            </a:prstGeom>
          </p:spPr>
          <p:txBody>
            <a:bodyPr lIns="50800" tIns="50800" rIns="50800" bIns="50800" rtlCol="0" anchor="ctr"/>
            <a:lstStyle/>
            <a:p>
              <a:pPr marL="0" lvl="0" indent="0" algn="ctr">
                <a:lnSpc>
                  <a:spcPts val="2659"/>
                </a:lnSpc>
              </a:pPr>
              <a:endParaRPr/>
            </a:p>
          </p:txBody>
        </p:sp>
      </p:grpSp>
      <p:sp>
        <p:nvSpPr>
          <p:cNvPr id="29" name="Freeform 29"/>
          <p:cNvSpPr/>
          <p:nvPr/>
        </p:nvSpPr>
        <p:spPr>
          <a:xfrm>
            <a:off x="1028700" y="9444450"/>
            <a:ext cx="415258" cy="415258"/>
          </a:xfrm>
          <a:custGeom>
            <a:avLst/>
            <a:gdLst/>
            <a:ahLst/>
            <a:cxnLst/>
            <a:rect l="l" t="t" r="r" b="b"/>
            <a:pathLst>
              <a:path w="415258" h="415258">
                <a:moveTo>
                  <a:pt x="0" y="0"/>
                </a:moveTo>
                <a:lnTo>
                  <a:pt x="415258" y="0"/>
                </a:lnTo>
                <a:lnTo>
                  <a:pt x="415258" y="415258"/>
                </a:lnTo>
                <a:lnTo>
                  <a:pt x="0" y="415258"/>
                </a:lnTo>
                <a:lnTo>
                  <a:pt x="0" y="0"/>
                </a:lnTo>
                <a:close/>
              </a:path>
            </a:pathLst>
          </a:custGeom>
          <a:blipFill>
            <a:blip>
              <a:extLst>
                <a:ext uri="{96DAC541-7B7A-43D3-8B79-37D633B846F1}">
                  <asvg:svgBlip xmlns:asvg="http://schemas.microsoft.com/office/drawing/2016/SVG/main" r:embed="rId4"/>
                </a:ext>
              </a:extLst>
            </a:blip>
            <a:stretch>
              <a:fillRect/>
            </a:stretch>
          </a:blipFill>
        </p:spPr>
      </p:sp>
      <p:grpSp>
        <p:nvGrpSpPr>
          <p:cNvPr id="30" name="Group 30"/>
          <p:cNvGrpSpPr/>
          <p:nvPr/>
        </p:nvGrpSpPr>
        <p:grpSpPr>
          <a:xfrm>
            <a:off x="1729360" y="5938378"/>
            <a:ext cx="2494991" cy="2717569"/>
            <a:chOff x="0" y="0"/>
            <a:chExt cx="1018337" cy="1109183"/>
          </a:xfrm>
        </p:grpSpPr>
        <p:sp>
          <p:nvSpPr>
            <p:cNvPr id="31" name="Freeform 31"/>
            <p:cNvSpPr/>
            <p:nvPr/>
          </p:nvSpPr>
          <p:spPr>
            <a:xfrm>
              <a:off x="0" y="0"/>
              <a:ext cx="1018337" cy="1109183"/>
            </a:xfrm>
            <a:custGeom>
              <a:avLst/>
              <a:gdLst/>
              <a:ahLst/>
              <a:cxnLst/>
              <a:rect l="l" t="t" r="r" b="b"/>
              <a:pathLst>
                <a:path w="1018337" h="1109183">
                  <a:moveTo>
                    <a:pt x="0" y="0"/>
                  </a:moveTo>
                  <a:lnTo>
                    <a:pt x="1018337" y="0"/>
                  </a:lnTo>
                  <a:lnTo>
                    <a:pt x="1018337" y="1109183"/>
                  </a:lnTo>
                  <a:lnTo>
                    <a:pt x="0" y="1109183"/>
                  </a:lnTo>
                  <a:close/>
                </a:path>
              </a:pathLst>
            </a:custGeom>
            <a:blipFill>
              <a:blip r:embed="rId5"/>
              <a:stretch>
                <a:fillRect l="-4460" r="-4460"/>
              </a:stretch>
            </a:blipFill>
          </p:spPr>
        </p:sp>
      </p:grpSp>
      <p:grpSp>
        <p:nvGrpSpPr>
          <p:cNvPr id="32" name="Group 32"/>
          <p:cNvGrpSpPr/>
          <p:nvPr/>
        </p:nvGrpSpPr>
        <p:grpSpPr>
          <a:xfrm>
            <a:off x="4971743" y="5938378"/>
            <a:ext cx="2494991" cy="2736677"/>
            <a:chOff x="0" y="0"/>
            <a:chExt cx="1018337" cy="1116982"/>
          </a:xfrm>
        </p:grpSpPr>
        <p:sp>
          <p:nvSpPr>
            <p:cNvPr id="33" name="Freeform 33"/>
            <p:cNvSpPr/>
            <p:nvPr/>
          </p:nvSpPr>
          <p:spPr>
            <a:xfrm>
              <a:off x="0" y="0"/>
              <a:ext cx="1018337" cy="1116982"/>
            </a:xfrm>
            <a:custGeom>
              <a:avLst/>
              <a:gdLst/>
              <a:ahLst/>
              <a:cxnLst/>
              <a:rect l="l" t="t" r="r" b="b"/>
              <a:pathLst>
                <a:path w="1018337" h="1116982">
                  <a:moveTo>
                    <a:pt x="0" y="0"/>
                  </a:moveTo>
                  <a:lnTo>
                    <a:pt x="1018337" y="0"/>
                  </a:lnTo>
                  <a:lnTo>
                    <a:pt x="1018337" y="1116982"/>
                  </a:lnTo>
                  <a:lnTo>
                    <a:pt x="0" y="1116982"/>
                  </a:lnTo>
                  <a:close/>
                </a:path>
              </a:pathLst>
            </a:custGeom>
            <a:blipFill>
              <a:blip r:embed="rId6"/>
              <a:stretch>
                <a:fillRect l="-4843" r="-4843"/>
              </a:stretch>
            </a:blipFill>
          </p:spPr>
        </p:sp>
      </p:grpSp>
      <p:grpSp>
        <p:nvGrpSpPr>
          <p:cNvPr id="34" name="Group 34"/>
          <p:cNvGrpSpPr/>
          <p:nvPr/>
        </p:nvGrpSpPr>
        <p:grpSpPr>
          <a:xfrm>
            <a:off x="15568629" y="-318954"/>
            <a:ext cx="2249937" cy="2249937"/>
            <a:chOff x="0" y="0"/>
            <a:chExt cx="812800" cy="812800"/>
          </a:xfrm>
        </p:grpSpPr>
        <p:sp>
          <p:nvSpPr>
            <p:cNvPr id="35" name="Freeform 3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C67BF">
                    <a:alpha val="58000"/>
                  </a:srgbClr>
                </a:gs>
                <a:gs pos="100000">
                  <a:srgbClr val="F7ACFF">
                    <a:alpha val="58000"/>
                  </a:srgbClr>
                </a:gs>
              </a:gsLst>
              <a:lin ang="0"/>
            </a:gradFill>
          </p:spPr>
        </p:sp>
        <p:sp>
          <p:nvSpPr>
            <p:cNvPr id="36" name="TextBox 36"/>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pPr>
              <a:endParaRPr/>
            </a:p>
          </p:txBody>
        </p:sp>
      </p:grpSp>
      <p:grpSp>
        <p:nvGrpSpPr>
          <p:cNvPr id="37" name="Group 37"/>
          <p:cNvGrpSpPr/>
          <p:nvPr/>
        </p:nvGrpSpPr>
        <p:grpSpPr>
          <a:xfrm>
            <a:off x="17128905" y="1279178"/>
            <a:ext cx="1256320" cy="1256320"/>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C67BF">
                    <a:alpha val="96000"/>
                  </a:srgbClr>
                </a:gs>
                <a:gs pos="100000">
                  <a:srgbClr val="F7ACFF">
                    <a:alpha val="0"/>
                  </a:srgbClr>
                </a:gs>
              </a:gsLst>
              <a:lin ang="0"/>
            </a:gradFill>
          </p:spPr>
        </p:sp>
        <p:sp>
          <p:nvSpPr>
            <p:cNvPr id="39" name="TextBox 39"/>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pPr>
              <a:endParaRPr/>
            </a:p>
          </p:txBody>
        </p:sp>
      </p:grpSp>
      <p:sp>
        <p:nvSpPr>
          <p:cNvPr id="40" name="TextBox 40"/>
          <p:cNvSpPr txBox="1"/>
          <p:nvPr/>
        </p:nvSpPr>
        <p:spPr>
          <a:xfrm>
            <a:off x="16050268" y="9473025"/>
            <a:ext cx="724046" cy="242707"/>
          </a:xfrm>
          <a:prstGeom prst="rect">
            <a:avLst/>
          </a:prstGeom>
        </p:spPr>
        <p:txBody>
          <a:bodyPr lIns="0" tIns="0" rIns="0" bIns="0" rtlCol="0" anchor="t">
            <a:spAutoFit/>
          </a:bodyPr>
          <a:lstStyle/>
          <a:p>
            <a:pPr marL="0" lvl="0" indent="0" algn="l">
              <a:lnSpc>
                <a:spcPts val="1857"/>
              </a:lnSpc>
            </a:pPr>
            <a:r>
              <a:rPr lang="en-US" sz="1821" b="1">
                <a:solidFill>
                  <a:srgbClr val="240960"/>
                </a:solidFill>
                <a:latin typeface="Montserrat Bold"/>
                <a:ea typeface="Montserrat Bold"/>
                <a:cs typeface="Montserrat Bold"/>
                <a:sym typeface="Montserrat Bold"/>
              </a:rPr>
              <a:t>Page</a:t>
            </a:r>
          </a:p>
        </p:txBody>
      </p:sp>
      <p:sp>
        <p:nvSpPr>
          <p:cNvPr id="41" name="TextBox 41"/>
          <p:cNvSpPr txBox="1"/>
          <p:nvPr/>
        </p:nvSpPr>
        <p:spPr>
          <a:xfrm>
            <a:off x="16774314" y="9507706"/>
            <a:ext cx="484986" cy="208026"/>
          </a:xfrm>
          <a:prstGeom prst="rect">
            <a:avLst/>
          </a:prstGeom>
        </p:spPr>
        <p:txBody>
          <a:bodyPr lIns="0" tIns="0" rIns="0" bIns="0" rtlCol="0" anchor="t">
            <a:spAutoFit/>
          </a:bodyPr>
          <a:lstStyle/>
          <a:p>
            <a:pPr marL="0" lvl="0" indent="0" algn="l">
              <a:lnSpc>
                <a:spcPts val="1631"/>
              </a:lnSpc>
            </a:pPr>
            <a:r>
              <a:rPr lang="en-US" sz="1599">
                <a:solidFill>
                  <a:srgbClr val="240960"/>
                </a:solidFill>
                <a:latin typeface="Montserrat"/>
                <a:ea typeface="Montserrat"/>
                <a:cs typeface="Montserrat"/>
                <a:sym typeface="Montserrat"/>
              </a:rPr>
              <a:t>06</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DE5FF"/>
        </a:solidFill>
        <a:effectLst/>
      </p:bgPr>
    </p:bg>
    <p:spTree>
      <p:nvGrpSpPr>
        <p:cNvPr id="1" name=""/>
        <p:cNvGrpSpPr/>
        <p:nvPr/>
      </p:nvGrpSpPr>
      <p:grpSpPr>
        <a:xfrm>
          <a:off x="0" y="0"/>
          <a:ext cx="0" cy="0"/>
          <a:chOff x="0" y="0"/>
          <a:chExt cx="0" cy="0"/>
        </a:xfrm>
      </p:grpSpPr>
      <p:grpSp>
        <p:nvGrpSpPr>
          <p:cNvPr id="2" name="Group 2"/>
          <p:cNvGrpSpPr/>
          <p:nvPr/>
        </p:nvGrpSpPr>
        <p:grpSpPr>
          <a:xfrm rot="-9199303">
            <a:off x="11471833" y="8815521"/>
            <a:ext cx="1256320" cy="1256320"/>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C67BF">
                    <a:alpha val="96000"/>
                  </a:srgbClr>
                </a:gs>
                <a:gs pos="100000">
                  <a:srgbClr val="F7ACFF">
                    <a:alpha val="0"/>
                  </a:srgbClr>
                </a:gs>
              </a:gsLst>
              <a:lin ang="0"/>
            </a:gradFill>
          </p:spPr>
        </p:sp>
        <p:sp>
          <p:nvSpPr>
            <p:cNvPr id="4" name="TextBox 4"/>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pPr>
              <a:endParaRPr/>
            </a:p>
          </p:txBody>
        </p:sp>
      </p:grpSp>
      <p:sp>
        <p:nvSpPr>
          <p:cNvPr id="5" name="Freeform 5"/>
          <p:cNvSpPr/>
          <p:nvPr/>
        </p:nvSpPr>
        <p:spPr>
          <a:xfrm>
            <a:off x="1349938" y="875473"/>
            <a:ext cx="490149" cy="403705"/>
          </a:xfrm>
          <a:custGeom>
            <a:avLst/>
            <a:gdLst/>
            <a:ahLst/>
            <a:cxnLst/>
            <a:rect l="l" t="t" r="r" b="b"/>
            <a:pathLst>
              <a:path w="490149" h="403705">
                <a:moveTo>
                  <a:pt x="0" y="0"/>
                </a:moveTo>
                <a:lnTo>
                  <a:pt x="490149" y="0"/>
                </a:lnTo>
                <a:lnTo>
                  <a:pt x="490149" y="403705"/>
                </a:lnTo>
                <a:lnTo>
                  <a:pt x="0" y="403705"/>
                </a:lnTo>
                <a:lnTo>
                  <a:pt x="0" y="0"/>
                </a:lnTo>
                <a:close/>
              </a:path>
            </a:pathLst>
          </a:custGeom>
          <a:blipFill>
            <a:blip>
              <a:extLst>
                <a:ext uri="{96DAC541-7B7A-43D3-8B79-37D633B846F1}">
                  <asvg:svgBlip xmlns:asvg="http://schemas.microsoft.com/office/drawing/2016/SVG/main" r:embed="rId3"/>
                </a:ext>
              </a:extLst>
            </a:blip>
            <a:stretch>
              <a:fillRect/>
            </a:stretch>
          </a:blipFill>
        </p:spPr>
      </p:sp>
      <p:grpSp>
        <p:nvGrpSpPr>
          <p:cNvPr id="6" name="Group 6"/>
          <p:cNvGrpSpPr/>
          <p:nvPr/>
        </p:nvGrpSpPr>
        <p:grpSpPr>
          <a:xfrm>
            <a:off x="1443958" y="4585518"/>
            <a:ext cx="1256320" cy="1256320"/>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C67BF">
                    <a:alpha val="96000"/>
                  </a:srgbClr>
                </a:gs>
                <a:gs pos="100000">
                  <a:srgbClr val="F7ACFF">
                    <a:alpha val="0"/>
                  </a:srgbClr>
                </a:gs>
              </a:gsLst>
              <a:lin ang="0"/>
            </a:gradFill>
          </p:spPr>
        </p:sp>
        <p:sp>
          <p:nvSpPr>
            <p:cNvPr id="8" name="TextBox 8"/>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pPr>
              <a:endParaRPr/>
            </a:p>
          </p:txBody>
        </p:sp>
      </p:grpSp>
      <p:grpSp>
        <p:nvGrpSpPr>
          <p:cNvPr id="9" name="Group 9"/>
          <p:cNvGrpSpPr/>
          <p:nvPr/>
        </p:nvGrpSpPr>
        <p:grpSpPr>
          <a:xfrm>
            <a:off x="6189589" y="2278752"/>
            <a:ext cx="1256320" cy="1256320"/>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C67BF">
                    <a:alpha val="96000"/>
                  </a:srgbClr>
                </a:gs>
                <a:gs pos="100000">
                  <a:srgbClr val="F7ACFF">
                    <a:alpha val="0"/>
                  </a:srgbClr>
                </a:gs>
              </a:gsLst>
              <a:lin ang="0"/>
            </a:gradFill>
          </p:spPr>
        </p:sp>
        <p:sp>
          <p:nvSpPr>
            <p:cNvPr id="11" name="TextBox 11"/>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pPr>
              <a:endParaRPr/>
            </a:p>
          </p:txBody>
        </p:sp>
      </p:grpSp>
      <p:grpSp>
        <p:nvGrpSpPr>
          <p:cNvPr id="12" name="Group 12"/>
          <p:cNvGrpSpPr/>
          <p:nvPr/>
        </p:nvGrpSpPr>
        <p:grpSpPr>
          <a:xfrm>
            <a:off x="15102279" y="279028"/>
            <a:ext cx="3185721" cy="3185721"/>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C67BF">
                    <a:alpha val="58000"/>
                  </a:srgbClr>
                </a:gs>
                <a:gs pos="100000">
                  <a:srgbClr val="F7ACFF">
                    <a:alpha val="0"/>
                  </a:srgbClr>
                </a:gs>
              </a:gsLst>
              <a:lin ang="0"/>
            </a:gradFill>
          </p:spPr>
        </p:sp>
        <p:sp>
          <p:nvSpPr>
            <p:cNvPr id="14" name="TextBox 14"/>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pPr>
              <a:endParaRPr/>
            </a:p>
          </p:txBody>
        </p:sp>
      </p:grpSp>
      <p:grpSp>
        <p:nvGrpSpPr>
          <p:cNvPr id="15" name="Group 15"/>
          <p:cNvGrpSpPr/>
          <p:nvPr/>
        </p:nvGrpSpPr>
        <p:grpSpPr>
          <a:xfrm>
            <a:off x="17403566" y="2464695"/>
            <a:ext cx="884434" cy="884434"/>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C67BF">
                    <a:alpha val="96000"/>
                  </a:srgbClr>
                </a:gs>
                <a:gs pos="100000">
                  <a:srgbClr val="F7ACFF">
                    <a:alpha val="96000"/>
                  </a:srgbClr>
                </a:gs>
              </a:gsLst>
              <a:lin ang="0"/>
            </a:gradFill>
          </p:spPr>
        </p:sp>
        <p:sp>
          <p:nvSpPr>
            <p:cNvPr id="17" name="TextBox 17"/>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pPr>
              <a:endParaRPr/>
            </a:p>
          </p:txBody>
        </p:sp>
      </p:grpSp>
      <p:sp>
        <p:nvSpPr>
          <p:cNvPr id="18" name="Freeform 18"/>
          <p:cNvSpPr/>
          <p:nvPr/>
        </p:nvSpPr>
        <p:spPr>
          <a:xfrm>
            <a:off x="1028700" y="9444450"/>
            <a:ext cx="415258" cy="415258"/>
          </a:xfrm>
          <a:custGeom>
            <a:avLst/>
            <a:gdLst/>
            <a:ahLst/>
            <a:cxnLst/>
            <a:rect l="l" t="t" r="r" b="b"/>
            <a:pathLst>
              <a:path w="415258" h="415258">
                <a:moveTo>
                  <a:pt x="0" y="0"/>
                </a:moveTo>
                <a:lnTo>
                  <a:pt x="415258" y="0"/>
                </a:lnTo>
                <a:lnTo>
                  <a:pt x="415258" y="415258"/>
                </a:lnTo>
                <a:lnTo>
                  <a:pt x="0" y="415258"/>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19" name="TextBox 19"/>
          <p:cNvSpPr txBox="1"/>
          <p:nvPr/>
        </p:nvSpPr>
        <p:spPr>
          <a:xfrm>
            <a:off x="1996708" y="835372"/>
            <a:ext cx="1194260" cy="405091"/>
          </a:xfrm>
          <a:prstGeom prst="rect">
            <a:avLst/>
          </a:prstGeom>
        </p:spPr>
        <p:txBody>
          <a:bodyPr lIns="0" tIns="0" rIns="0" bIns="0" rtlCol="0" anchor="t">
            <a:spAutoFit/>
          </a:bodyPr>
          <a:lstStyle/>
          <a:p>
            <a:pPr marL="0" lvl="0" indent="0" algn="l">
              <a:lnSpc>
                <a:spcPts val="1536"/>
              </a:lnSpc>
            </a:pPr>
            <a:r>
              <a:rPr lang="en-US" sz="1506" b="1">
                <a:solidFill>
                  <a:srgbClr val="240960"/>
                </a:solidFill>
                <a:latin typeface="Montserrat Bold"/>
                <a:ea typeface="Montserrat Bold"/>
                <a:cs typeface="Montserrat Bold"/>
                <a:sym typeface="Montserrat Bold"/>
              </a:rPr>
              <a:t>Raft Consensus</a:t>
            </a:r>
          </a:p>
        </p:txBody>
      </p:sp>
      <p:sp>
        <p:nvSpPr>
          <p:cNvPr id="20" name="TextBox 20"/>
          <p:cNvSpPr txBox="1"/>
          <p:nvPr/>
        </p:nvSpPr>
        <p:spPr>
          <a:xfrm>
            <a:off x="16050268" y="9473025"/>
            <a:ext cx="724046" cy="242707"/>
          </a:xfrm>
          <a:prstGeom prst="rect">
            <a:avLst/>
          </a:prstGeom>
        </p:spPr>
        <p:txBody>
          <a:bodyPr lIns="0" tIns="0" rIns="0" bIns="0" rtlCol="0" anchor="t">
            <a:spAutoFit/>
          </a:bodyPr>
          <a:lstStyle/>
          <a:p>
            <a:pPr marL="0" lvl="0" indent="0" algn="l">
              <a:lnSpc>
                <a:spcPts val="1857"/>
              </a:lnSpc>
            </a:pPr>
            <a:r>
              <a:rPr lang="en-US" sz="1821" b="1">
                <a:solidFill>
                  <a:srgbClr val="240960"/>
                </a:solidFill>
                <a:latin typeface="Montserrat Bold"/>
                <a:ea typeface="Montserrat Bold"/>
                <a:cs typeface="Montserrat Bold"/>
                <a:sym typeface="Montserrat Bold"/>
              </a:rPr>
              <a:t>Page</a:t>
            </a:r>
          </a:p>
        </p:txBody>
      </p:sp>
      <p:sp>
        <p:nvSpPr>
          <p:cNvPr id="21" name="TextBox 21"/>
          <p:cNvSpPr txBox="1"/>
          <p:nvPr/>
        </p:nvSpPr>
        <p:spPr>
          <a:xfrm>
            <a:off x="16774314" y="9507706"/>
            <a:ext cx="484986" cy="208026"/>
          </a:xfrm>
          <a:prstGeom prst="rect">
            <a:avLst/>
          </a:prstGeom>
        </p:spPr>
        <p:txBody>
          <a:bodyPr lIns="0" tIns="0" rIns="0" bIns="0" rtlCol="0" anchor="t">
            <a:spAutoFit/>
          </a:bodyPr>
          <a:lstStyle/>
          <a:p>
            <a:pPr marL="0" lvl="0" indent="0" algn="l">
              <a:lnSpc>
                <a:spcPts val="1631"/>
              </a:lnSpc>
            </a:pPr>
            <a:r>
              <a:rPr lang="en-US" sz="1599" dirty="0">
                <a:solidFill>
                  <a:srgbClr val="240960"/>
                </a:solidFill>
                <a:latin typeface="Montserrat"/>
                <a:ea typeface="Montserrat"/>
                <a:cs typeface="Montserrat"/>
                <a:sym typeface="Montserrat"/>
              </a:rPr>
              <a:t>06</a:t>
            </a:r>
          </a:p>
        </p:txBody>
      </p:sp>
      <p:sp>
        <p:nvSpPr>
          <p:cNvPr id="22" name="Freeform 22"/>
          <p:cNvSpPr/>
          <p:nvPr/>
        </p:nvSpPr>
        <p:spPr>
          <a:xfrm rot="2824719">
            <a:off x="4927486" y="2838859"/>
            <a:ext cx="4086224" cy="6999955"/>
          </a:xfrm>
          <a:custGeom>
            <a:avLst/>
            <a:gdLst/>
            <a:ahLst/>
            <a:cxnLst/>
            <a:rect l="l" t="t" r="r" b="b"/>
            <a:pathLst>
              <a:path w="4086224" h="6999955">
                <a:moveTo>
                  <a:pt x="0" y="0"/>
                </a:moveTo>
                <a:lnTo>
                  <a:pt x="4086223" y="0"/>
                </a:lnTo>
                <a:lnTo>
                  <a:pt x="4086223" y="6999955"/>
                </a:lnTo>
                <a:lnTo>
                  <a:pt x="0" y="6999955"/>
                </a:lnTo>
                <a:lnTo>
                  <a:pt x="0" y="0"/>
                </a:lnTo>
                <a:close/>
              </a:path>
            </a:pathLst>
          </a:custGeom>
          <a:blipFill>
            <a:blip r:embed="rId5"/>
            <a:stretch>
              <a:fillRect/>
            </a:stretch>
          </a:blipFill>
        </p:spPr>
      </p:sp>
      <p:sp>
        <p:nvSpPr>
          <p:cNvPr id="23" name="Freeform 23"/>
          <p:cNvSpPr/>
          <p:nvPr/>
        </p:nvSpPr>
        <p:spPr>
          <a:xfrm rot="2824719">
            <a:off x="10126846" y="2820659"/>
            <a:ext cx="3050066" cy="6305046"/>
          </a:xfrm>
          <a:custGeom>
            <a:avLst/>
            <a:gdLst/>
            <a:ahLst/>
            <a:cxnLst/>
            <a:rect l="l" t="t" r="r" b="b"/>
            <a:pathLst>
              <a:path w="3050066" h="6305046">
                <a:moveTo>
                  <a:pt x="0" y="0"/>
                </a:moveTo>
                <a:lnTo>
                  <a:pt x="3050066" y="0"/>
                </a:lnTo>
                <a:lnTo>
                  <a:pt x="3050066" y="6305046"/>
                </a:lnTo>
                <a:lnTo>
                  <a:pt x="0" y="6305046"/>
                </a:lnTo>
                <a:lnTo>
                  <a:pt x="0" y="0"/>
                </a:lnTo>
                <a:close/>
              </a:path>
            </a:pathLst>
          </a:custGeom>
          <a:blipFill>
            <a:blip r:embed="rId6"/>
            <a:stretch>
              <a:fillRect/>
            </a:stretch>
          </a:blipFill>
          <a:ln cap="sq">
            <a:noFill/>
            <a:prstDash val="solid"/>
            <a:miter/>
          </a:ln>
        </p:spPr>
      </p:sp>
      <p:sp>
        <p:nvSpPr>
          <p:cNvPr id="24" name="Freeform 24"/>
          <p:cNvSpPr/>
          <p:nvPr/>
        </p:nvSpPr>
        <p:spPr>
          <a:xfrm>
            <a:off x="5561298" y="7612104"/>
            <a:ext cx="749654" cy="1115295"/>
          </a:xfrm>
          <a:custGeom>
            <a:avLst/>
            <a:gdLst/>
            <a:ahLst/>
            <a:cxnLst/>
            <a:rect l="l" t="t" r="r" b="b"/>
            <a:pathLst>
              <a:path w="749654" h="1115295">
                <a:moveTo>
                  <a:pt x="0" y="0"/>
                </a:moveTo>
                <a:lnTo>
                  <a:pt x="749655" y="0"/>
                </a:lnTo>
                <a:lnTo>
                  <a:pt x="749655" y="1115295"/>
                </a:lnTo>
                <a:lnTo>
                  <a:pt x="0" y="1115295"/>
                </a:lnTo>
                <a:lnTo>
                  <a:pt x="0" y="0"/>
                </a:lnTo>
                <a:close/>
              </a:path>
            </a:pathLst>
          </a:custGeom>
          <a:blipFill>
            <a:blip r:embed="rId7"/>
            <a:stretch>
              <a:fillRect/>
            </a:stretch>
          </a:blipFill>
        </p:spPr>
      </p:sp>
      <p:sp>
        <p:nvSpPr>
          <p:cNvPr id="25" name="Freeform 25"/>
          <p:cNvSpPr/>
          <p:nvPr/>
        </p:nvSpPr>
        <p:spPr>
          <a:xfrm>
            <a:off x="5833038" y="5897603"/>
            <a:ext cx="903279" cy="814722"/>
          </a:xfrm>
          <a:custGeom>
            <a:avLst/>
            <a:gdLst/>
            <a:ahLst/>
            <a:cxnLst/>
            <a:rect l="l" t="t" r="r" b="b"/>
            <a:pathLst>
              <a:path w="903279" h="814722">
                <a:moveTo>
                  <a:pt x="0" y="0"/>
                </a:moveTo>
                <a:lnTo>
                  <a:pt x="903279" y="0"/>
                </a:lnTo>
                <a:lnTo>
                  <a:pt x="903279" y="814722"/>
                </a:lnTo>
                <a:lnTo>
                  <a:pt x="0" y="814722"/>
                </a:lnTo>
                <a:lnTo>
                  <a:pt x="0" y="0"/>
                </a:lnTo>
                <a:close/>
              </a:path>
            </a:pathLst>
          </a:custGeom>
          <a:blipFill>
            <a:blip r:embed="rId8"/>
            <a:stretch>
              <a:fillRect/>
            </a:stretch>
          </a:blipFill>
          <a:ln cap="sq">
            <a:noFill/>
            <a:prstDash val="solid"/>
            <a:miter/>
          </a:ln>
        </p:spPr>
      </p:sp>
      <p:sp>
        <p:nvSpPr>
          <p:cNvPr id="26" name="Freeform 26"/>
          <p:cNvSpPr/>
          <p:nvPr/>
        </p:nvSpPr>
        <p:spPr>
          <a:xfrm>
            <a:off x="7892535" y="4884558"/>
            <a:ext cx="902305" cy="658239"/>
          </a:xfrm>
          <a:custGeom>
            <a:avLst/>
            <a:gdLst/>
            <a:ahLst/>
            <a:cxnLst/>
            <a:rect l="l" t="t" r="r" b="b"/>
            <a:pathLst>
              <a:path w="902305" h="658239">
                <a:moveTo>
                  <a:pt x="0" y="0"/>
                </a:moveTo>
                <a:lnTo>
                  <a:pt x="902306" y="0"/>
                </a:lnTo>
                <a:lnTo>
                  <a:pt x="902306" y="658240"/>
                </a:lnTo>
                <a:lnTo>
                  <a:pt x="0" y="658240"/>
                </a:lnTo>
                <a:lnTo>
                  <a:pt x="0" y="0"/>
                </a:lnTo>
                <a:close/>
              </a:path>
            </a:pathLst>
          </a:custGeom>
          <a:blipFill>
            <a:blip r:embed="rId9"/>
            <a:stretch>
              <a:fillRect/>
            </a:stretch>
          </a:blipFill>
          <a:ln cap="sq">
            <a:noFill/>
            <a:prstDash val="solid"/>
            <a:miter/>
          </a:ln>
        </p:spPr>
      </p:sp>
      <p:sp>
        <p:nvSpPr>
          <p:cNvPr id="27" name="Freeform 27"/>
          <p:cNvSpPr/>
          <p:nvPr/>
        </p:nvSpPr>
        <p:spPr>
          <a:xfrm>
            <a:off x="10138451" y="6527970"/>
            <a:ext cx="786489" cy="786489"/>
          </a:xfrm>
          <a:custGeom>
            <a:avLst/>
            <a:gdLst/>
            <a:ahLst/>
            <a:cxnLst/>
            <a:rect l="l" t="t" r="r" b="b"/>
            <a:pathLst>
              <a:path w="786489" h="786489">
                <a:moveTo>
                  <a:pt x="0" y="0"/>
                </a:moveTo>
                <a:lnTo>
                  <a:pt x="786489" y="0"/>
                </a:lnTo>
                <a:lnTo>
                  <a:pt x="786489" y="786489"/>
                </a:lnTo>
                <a:lnTo>
                  <a:pt x="0" y="786489"/>
                </a:lnTo>
                <a:lnTo>
                  <a:pt x="0" y="0"/>
                </a:lnTo>
                <a:close/>
              </a:path>
            </a:pathLst>
          </a:custGeom>
          <a:blipFill>
            <a:blip r:embed="rId10"/>
            <a:stretch>
              <a:fillRect/>
            </a:stretch>
          </a:blipFill>
          <a:ln cap="sq">
            <a:noFill/>
            <a:prstDash val="solid"/>
            <a:miter/>
          </a:ln>
        </p:spPr>
      </p:sp>
      <p:sp>
        <p:nvSpPr>
          <p:cNvPr id="28" name="Freeform 28"/>
          <p:cNvSpPr/>
          <p:nvPr/>
        </p:nvSpPr>
        <p:spPr>
          <a:xfrm>
            <a:off x="11660373" y="6023798"/>
            <a:ext cx="637578" cy="897417"/>
          </a:xfrm>
          <a:custGeom>
            <a:avLst/>
            <a:gdLst/>
            <a:ahLst/>
            <a:cxnLst/>
            <a:rect l="l" t="t" r="r" b="b"/>
            <a:pathLst>
              <a:path w="637578" h="897417">
                <a:moveTo>
                  <a:pt x="0" y="0"/>
                </a:moveTo>
                <a:lnTo>
                  <a:pt x="637578" y="0"/>
                </a:lnTo>
                <a:lnTo>
                  <a:pt x="637578" y="897417"/>
                </a:lnTo>
                <a:lnTo>
                  <a:pt x="0" y="897417"/>
                </a:lnTo>
                <a:lnTo>
                  <a:pt x="0" y="0"/>
                </a:lnTo>
                <a:close/>
              </a:path>
            </a:pathLst>
          </a:custGeom>
          <a:blipFill>
            <a:blip r:embed="rId11"/>
            <a:stretch>
              <a:fillRect/>
            </a:stretch>
          </a:blipFill>
          <a:ln cap="sq">
            <a:noFill/>
            <a:prstDash val="solid"/>
            <a:miter/>
          </a:ln>
        </p:spPr>
      </p:sp>
      <p:sp>
        <p:nvSpPr>
          <p:cNvPr id="29" name="Freeform 29"/>
          <p:cNvSpPr/>
          <p:nvPr/>
        </p:nvSpPr>
        <p:spPr>
          <a:xfrm>
            <a:off x="12238436" y="4173767"/>
            <a:ext cx="754781" cy="759412"/>
          </a:xfrm>
          <a:custGeom>
            <a:avLst/>
            <a:gdLst/>
            <a:ahLst/>
            <a:cxnLst/>
            <a:rect l="l" t="t" r="r" b="b"/>
            <a:pathLst>
              <a:path w="754781" h="759412">
                <a:moveTo>
                  <a:pt x="0" y="0"/>
                </a:moveTo>
                <a:lnTo>
                  <a:pt x="754781" y="0"/>
                </a:lnTo>
                <a:lnTo>
                  <a:pt x="754781" y="759411"/>
                </a:lnTo>
                <a:lnTo>
                  <a:pt x="0" y="759411"/>
                </a:lnTo>
                <a:lnTo>
                  <a:pt x="0" y="0"/>
                </a:lnTo>
                <a:close/>
              </a:path>
            </a:pathLst>
          </a:custGeom>
          <a:blipFill>
            <a:blip r:embed="rId12"/>
            <a:stretch>
              <a:fillRect/>
            </a:stretch>
          </a:blipFill>
          <a:ln cap="sq">
            <a:noFill/>
            <a:prstDash val="solid"/>
            <a:miter/>
          </a:ln>
        </p:spPr>
      </p:sp>
      <p:sp>
        <p:nvSpPr>
          <p:cNvPr id="30" name="TextBox 30"/>
          <p:cNvSpPr txBox="1"/>
          <p:nvPr/>
        </p:nvSpPr>
        <p:spPr>
          <a:xfrm>
            <a:off x="1018646" y="7754594"/>
            <a:ext cx="2551927" cy="274947"/>
          </a:xfrm>
          <a:prstGeom prst="rect">
            <a:avLst/>
          </a:prstGeom>
        </p:spPr>
        <p:txBody>
          <a:bodyPr lIns="0" tIns="0" rIns="0" bIns="0" rtlCol="0" anchor="t">
            <a:spAutoFit/>
          </a:bodyPr>
          <a:lstStyle/>
          <a:p>
            <a:pPr marL="0" lvl="0" indent="0" algn="r">
              <a:lnSpc>
                <a:spcPts val="2207"/>
              </a:lnSpc>
            </a:pPr>
            <a:r>
              <a:rPr lang="en-US" sz="1839" b="1">
                <a:solidFill>
                  <a:srgbClr val="1F0A49"/>
                </a:solidFill>
                <a:latin typeface="Canva Sans Bold"/>
                <a:ea typeface="Canva Sans Bold"/>
                <a:cs typeface="Canva Sans Bold"/>
                <a:sym typeface="Canva Sans Bold"/>
              </a:rPr>
              <a:t>Réception Commande</a:t>
            </a:r>
          </a:p>
        </p:txBody>
      </p:sp>
      <p:sp>
        <p:nvSpPr>
          <p:cNvPr id="31" name="TextBox 31"/>
          <p:cNvSpPr txBox="1"/>
          <p:nvPr/>
        </p:nvSpPr>
        <p:spPr>
          <a:xfrm>
            <a:off x="9223207" y="8539250"/>
            <a:ext cx="2982154" cy="274947"/>
          </a:xfrm>
          <a:prstGeom prst="rect">
            <a:avLst/>
          </a:prstGeom>
        </p:spPr>
        <p:txBody>
          <a:bodyPr lIns="0" tIns="0" rIns="0" bIns="0" rtlCol="0" anchor="t">
            <a:spAutoFit/>
          </a:bodyPr>
          <a:lstStyle/>
          <a:p>
            <a:pPr marL="0" lvl="0" indent="0" algn="l">
              <a:lnSpc>
                <a:spcPts val="2207"/>
              </a:lnSpc>
            </a:pPr>
            <a:r>
              <a:rPr lang="en-US" sz="1839" b="1">
                <a:solidFill>
                  <a:srgbClr val="1F0A49"/>
                </a:solidFill>
                <a:latin typeface="Canva Sans Bold"/>
                <a:ea typeface="Canva Sans Bold"/>
                <a:cs typeface="Canva Sans Bold"/>
                <a:sym typeface="Canva Sans Bold"/>
              </a:rPr>
              <a:t>Commit Majoritaire</a:t>
            </a:r>
          </a:p>
        </p:txBody>
      </p:sp>
      <p:sp>
        <p:nvSpPr>
          <p:cNvPr id="32" name="TextBox 32"/>
          <p:cNvSpPr txBox="1"/>
          <p:nvPr/>
        </p:nvSpPr>
        <p:spPr>
          <a:xfrm>
            <a:off x="12915665" y="6712325"/>
            <a:ext cx="2551927" cy="274947"/>
          </a:xfrm>
          <a:prstGeom prst="rect">
            <a:avLst/>
          </a:prstGeom>
        </p:spPr>
        <p:txBody>
          <a:bodyPr lIns="0" tIns="0" rIns="0" bIns="0" rtlCol="0" anchor="t">
            <a:spAutoFit/>
          </a:bodyPr>
          <a:lstStyle/>
          <a:p>
            <a:pPr marL="0" lvl="0" indent="0" algn="l">
              <a:lnSpc>
                <a:spcPts val="2207"/>
              </a:lnSpc>
            </a:pPr>
            <a:r>
              <a:rPr lang="en-US" sz="1839" b="1">
                <a:solidFill>
                  <a:srgbClr val="1F0A49"/>
                </a:solidFill>
                <a:latin typeface="Canva Sans Bold"/>
                <a:ea typeface="Canva Sans Bold"/>
                <a:cs typeface="Canva Sans Bold"/>
                <a:sym typeface="Canva Sans Bold"/>
              </a:rPr>
              <a:t>Application État</a:t>
            </a:r>
          </a:p>
        </p:txBody>
      </p:sp>
      <p:sp>
        <p:nvSpPr>
          <p:cNvPr id="33" name="TextBox 33"/>
          <p:cNvSpPr txBox="1"/>
          <p:nvPr/>
        </p:nvSpPr>
        <p:spPr>
          <a:xfrm>
            <a:off x="14079512" y="3397598"/>
            <a:ext cx="2551927" cy="274947"/>
          </a:xfrm>
          <a:prstGeom prst="rect">
            <a:avLst/>
          </a:prstGeom>
        </p:spPr>
        <p:txBody>
          <a:bodyPr lIns="0" tIns="0" rIns="0" bIns="0" rtlCol="0" anchor="t">
            <a:spAutoFit/>
          </a:bodyPr>
          <a:lstStyle/>
          <a:p>
            <a:pPr marL="0" lvl="0" indent="0" algn="l">
              <a:lnSpc>
                <a:spcPts val="2207"/>
              </a:lnSpc>
            </a:pPr>
            <a:r>
              <a:rPr lang="en-US" sz="1839" b="1">
                <a:solidFill>
                  <a:srgbClr val="1F0A49"/>
                </a:solidFill>
                <a:latin typeface="Canva Sans Bold"/>
                <a:ea typeface="Canva Sans Bold"/>
                <a:cs typeface="Canva Sans Bold"/>
                <a:sym typeface="Canva Sans Bold"/>
              </a:rPr>
              <a:t>Machine à États</a:t>
            </a:r>
          </a:p>
        </p:txBody>
      </p:sp>
      <p:sp>
        <p:nvSpPr>
          <p:cNvPr id="34" name="TextBox 34"/>
          <p:cNvSpPr txBox="1"/>
          <p:nvPr/>
        </p:nvSpPr>
        <p:spPr>
          <a:xfrm>
            <a:off x="2072118" y="4795705"/>
            <a:ext cx="2973516" cy="274947"/>
          </a:xfrm>
          <a:prstGeom prst="rect">
            <a:avLst/>
          </a:prstGeom>
        </p:spPr>
        <p:txBody>
          <a:bodyPr lIns="0" tIns="0" rIns="0" bIns="0" rtlCol="0" anchor="t">
            <a:spAutoFit/>
          </a:bodyPr>
          <a:lstStyle/>
          <a:p>
            <a:pPr marL="0" lvl="0" indent="0" algn="r">
              <a:lnSpc>
                <a:spcPts val="2207"/>
              </a:lnSpc>
            </a:pPr>
            <a:r>
              <a:rPr lang="en-US" sz="1839" b="1">
                <a:solidFill>
                  <a:srgbClr val="1F0A49"/>
                </a:solidFill>
                <a:latin typeface="Canva Sans Bold"/>
                <a:ea typeface="Canva Sans Bold"/>
                <a:cs typeface="Canva Sans Bold"/>
                <a:sym typeface="Canva Sans Bold"/>
              </a:rPr>
              <a:t>Confirmation Followers</a:t>
            </a:r>
          </a:p>
        </p:txBody>
      </p:sp>
      <p:sp>
        <p:nvSpPr>
          <p:cNvPr id="35" name="TextBox 35"/>
          <p:cNvSpPr txBox="1"/>
          <p:nvPr/>
        </p:nvSpPr>
        <p:spPr>
          <a:xfrm>
            <a:off x="7584307" y="2978932"/>
            <a:ext cx="2551927" cy="274947"/>
          </a:xfrm>
          <a:prstGeom prst="rect">
            <a:avLst/>
          </a:prstGeom>
        </p:spPr>
        <p:txBody>
          <a:bodyPr lIns="0" tIns="0" rIns="0" bIns="0" rtlCol="0" anchor="t">
            <a:spAutoFit/>
          </a:bodyPr>
          <a:lstStyle/>
          <a:p>
            <a:pPr marL="0" lvl="0" indent="0" algn="r">
              <a:lnSpc>
                <a:spcPts val="2207"/>
              </a:lnSpc>
            </a:pPr>
            <a:r>
              <a:rPr lang="en-US" sz="1839" b="1">
                <a:solidFill>
                  <a:srgbClr val="1F0A49"/>
                </a:solidFill>
                <a:latin typeface="Canva Sans Bold"/>
                <a:ea typeface="Canva Sans Bold"/>
                <a:cs typeface="Canva Sans Bold"/>
                <a:sym typeface="Canva Sans Bold"/>
              </a:rPr>
              <a:t>AppendEntries RPC</a:t>
            </a:r>
          </a:p>
        </p:txBody>
      </p:sp>
      <p:sp>
        <p:nvSpPr>
          <p:cNvPr id="36" name="TextBox 36"/>
          <p:cNvSpPr txBox="1"/>
          <p:nvPr/>
        </p:nvSpPr>
        <p:spPr>
          <a:xfrm>
            <a:off x="1530830" y="8034721"/>
            <a:ext cx="2338895" cy="692678"/>
          </a:xfrm>
          <a:prstGeom prst="rect">
            <a:avLst/>
          </a:prstGeom>
        </p:spPr>
        <p:txBody>
          <a:bodyPr lIns="0" tIns="0" rIns="0" bIns="0" rtlCol="0" anchor="t">
            <a:spAutoFit/>
          </a:bodyPr>
          <a:lstStyle/>
          <a:p>
            <a:pPr marL="0" lvl="0" indent="0" algn="r">
              <a:lnSpc>
                <a:spcPts val="1865"/>
              </a:lnSpc>
            </a:pPr>
            <a:r>
              <a:rPr lang="en-US" sz="1332">
                <a:solidFill>
                  <a:srgbClr val="575757"/>
                </a:solidFill>
                <a:latin typeface="Canva Sans"/>
                <a:ea typeface="Canva Sans"/>
                <a:cs typeface="Canva Sans"/>
                <a:sym typeface="Canva Sans"/>
              </a:rPr>
              <a:t>Le leader reçoit les requêtes clients et les ajoute à son log local.</a:t>
            </a:r>
          </a:p>
        </p:txBody>
      </p:sp>
      <p:sp>
        <p:nvSpPr>
          <p:cNvPr id="37" name="TextBox 37"/>
          <p:cNvSpPr txBox="1"/>
          <p:nvPr/>
        </p:nvSpPr>
        <p:spPr>
          <a:xfrm>
            <a:off x="9223207" y="8876169"/>
            <a:ext cx="2514459" cy="692678"/>
          </a:xfrm>
          <a:prstGeom prst="rect">
            <a:avLst/>
          </a:prstGeom>
        </p:spPr>
        <p:txBody>
          <a:bodyPr lIns="0" tIns="0" rIns="0" bIns="0" rtlCol="0" anchor="t">
            <a:spAutoFit/>
          </a:bodyPr>
          <a:lstStyle/>
          <a:p>
            <a:pPr marL="0" lvl="0" indent="0" algn="l">
              <a:lnSpc>
                <a:spcPts val="1865"/>
              </a:lnSpc>
            </a:pPr>
            <a:r>
              <a:rPr lang="en-US" sz="1332">
                <a:solidFill>
                  <a:srgbClr val="575757"/>
                </a:solidFill>
                <a:latin typeface="Canva Sans"/>
                <a:ea typeface="Canva Sans"/>
                <a:cs typeface="Canva Sans"/>
                <a:sym typeface="Canva Sans"/>
              </a:rPr>
              <a:t>L'entrée est committée quand ⌈N/2⌉ nœuds l'ont répliquée (majorité).</a:t>
            </a:r>
          </a:p>
        </p:txBody>
      </p:sp>
      <p:sp>
        <p:nvSpPr>
          <p:cNvPr id="38" name="TextBox 38"/>
          <p:cNvSpPr txBox="1"/>
          <p:nvPr/>
        </p:nvSpPr>
        <p:spPr>
          <a:xfrm>
            <a:off x="12910064" y="7061917"/>
            <a:ext cx="2338895" cy="692678"/>
          </a:xfrm>
          <a:prstGeom prst="rect">
            <a:avLst/>
          </a:prstGeom>
        </p:spPr>
        <p:txBody>
          <a:bodyPr lIns="0" tIns="0" rIns="0" bIns="0" rtlCol="0" anchor="t">
            <a:spAutoFit/>
          </a:bodyPr>
          <a:lstStyle/>
          <a:p>
            <a:pPr marL="0" lvl="0" indent="0" algn="l">
              <a:lnSpc>
                <a:spcPts val="1865"/>
              </a:lnSpc>
            </a:pPr>
            <a:r>
              <a:rPr lang="en-US" sz="1332">
                <a:solidFill>
                  <a:srgbClr val="575757"/>
                </a:solidFill>
                <a:latin typeface="Canva Sans"/>
                <a:ea typeface="Canva Sans"/>
                <a:cs typeface="Canva Sans"/>
                <a:sym typeface="Canva Sans"/>
              </a:rPr>
              <a:t>Après commit, l'entrée est appliquée à la machine à états répliquée.</a:t>
            </a:r>
          </a:p>
        </p:txBody>
      </p:sp>
      <p:sp>
        <p:nvSpPr>
          <p:cNvPr id="39" name="TextBox 39"/>
          <p:cNvSpPr txBox="1"/>
          <p:nvPr/>
        </p:nvSpPr>
        <p:spPr>
          <a:xfrm>
            <a:off x="14079512" y="3801980"/>
            <a:ext cx="2338895" cy="692678"/>
          </a:xfrm>
          <a:prstGeom prst="rect">
            <a:avLst/>
          </a:prstGeom>
        </p:spPr>
        <p:txBody>
          <a:bodyPr lIns="0" tIns="0" rIns="0" bIns="0" rtlCol="0" anchor="t">
            <a:spAutoFit/>
          </a:bodyPr>
          <a:lstStyle/>
          <a:p>
            <a:pPr marL="0" lvl="0" indent="0" algn="l">
              <a:lnSpc>
                <a:spcPts val="1865"/>
              </a:lnSpc>
            </a:pPr>
            <a:r>
              <a:rPr lang="en-US" sz="1332">
                <a:solidFill>
                  <a:srgbClr val="575757"/>
                </a:solidFill>
                <a:latin typeface="Canva Sans"/>
                <a:ea typeface="Canva Sans"/>
                <a:cs typeface="Canva Sans"/>
                <a:sym typeface="Canva Sans"/>
              </a:rPr>
              <a:t>L'état cohérent est maintenu sur tous les nœuds du cluster Raft.</a:t>
            </a:r>
          </a:p>
        </p:txBody>
      </p:sp>
      <p:sp>
        <p:nvSpPr>
          <p:cNvPr id="40" name="TextBox 40"/>
          <p:cNvSpPr txBox="1"/>
          <p:nvPr/>
        </p:nvSpPr>
        <p:spPr>
          <a:xfrm>
            <a:off x="2531175" y="5204925"/>
            <a:ext cx="2514459" cy="692678"/>
          </a:xfrm>
          <a:prstGeom prst="rect">
            <a:avLst/>
          </a:prstGeom>
        </p:spPr>
        <p:txBody>
          <a:bodyPr lIns="0" tIns="0" rIns="0" bIns="0" rtlCol="0" anchor="t">
            <a:spAutoFit/>
          </a:bodyPr>
          <a:lstStyle/>
          <a:p>
            <a:pPr marL="0" lvl="0" indent="0" algn="r">
              <a:lnSpc>
                <a:spcPts val="1865"/>
              </a:lnSpc>
            </a:pPr>
            <a:r>
              <a:rPr lang="en-US" sz="1332">
                <a:solidFill>
                  <a:srgbClr val="575757"/>
                </a:solidFill>
                <a:latin typeface="Canva Sans"/>
                <a:ea typeface="Canva Sans"/>
                <a:cs typeface="Canva Sans"/>
                <a:sym typeface="Canva Sans"/>
              </a:rPr>
              <a:t>Les followers répliquent l'entrée et envoient une confirmation au leader.</a:t>
            </a:r>
          </a:p>
        </p:txBody>
      </p:sp>
      <p:sp>
        <p:nvSpPr>
          <p:cNvPr id="41" name="TextBox 41"/>
          <p:cNvSpPr txBox="1"/>
          <p:nvPr/>
        </p:nvSpPr>
        <p:spPr>
          <a:xfrm>
            <a:off x="7794516" y="3320554"/>
            <a:ext cx="2338895" cy="925325"/>
          </a:xfrm>
          <a:prstGeom prst="rect">
            <a:avLst/>
          </a:prstGeom>
        </p:spPr>
        <p:txBody>
          <a:bodyPr lIns="0" tIns="0" rIns="0" bIns="0" rtlCol="0" anchor="t">
            <a:spAutoFit/>
          </a:bodyPr>
          <a:lstStyle/>
          <a:p>
            <a:pPr marL="0" lvl="0" indent="0" algn="r">
              <a:lnSpc>
                <a:spcPts val="1865"/>
              </a:lnSpc>
            </a:pPr>
            <a:r>
              <a:rPr lang="en-US" sz="1332">
                <a:solidFill>
                  <a:srgbClr val="575757"/>
                </a:solidFill>
                <a:latin typeface="Canva Sans"/>
                <a:ea typeface="Canva Sans"/>
                <a:cs typeface="Canva Sans"/>
                <a:sym typeface="Canva Sans"/>
              </a:rPr>
              <a:t>Le leader envoie AppendEntries RPC avec les nouvelles entrées aux followers.</a:t>
            </a:r>
          </a:p>
        </p:txBody>
      </p:sp>
      <p:sp>
        <p:nvSpPr>
          <p:cNvPr id="42" name="TextBox 42"/>
          <p:cNvSpPr txBox="1"/>
          <p:nvPr/>
        </p:nvSpPr>
        <p:spPr>
          <a:xfrm>
            <a:off x="4688234" y="1154177"/>
            <a:ext cx="7310908" cy="772149"/>
          </a:xfrm>
          <a:prstGeom prst="rect">
            <a:avLst/>
          </a:prstGeom>
        </p:spPr>
        <p:txBody>
          <a:bodyPr lIns="0" tIns="0" rIns="0" bIns="0" rtlCol="0" anchor="t">
            <a:spAutoFit/>
          </a:bodyPr>
          <a:lstStyle/>
          <a:p>
            <a:pPr marL="0" lvl="0" indent="0" algn="l">
              <a:lnSpc>
                <a:spcPts val="5463"/>
              </a:lnSpc>
            </a:pPr>
            <a:r>
              <a:rPr lang="en-US" sz="6828" b="1">
                <a:solidFill>
                  <a:srgbClr val="240960"/>
                </a:solidFill>
                <a:latin typeface="Montserrat Bold"/>
                <a:ea typeface="Montserrat Bold"/>
                <a:cs typeface="Montserrat Bold"/>
                <a:sym typeface="Montserrat Bold"/>
              </a:rPr>
              <a:t>Réplication</a:t>
            </a:r>
          </a:p>
        </p:txBody>
      </p:sp>
      <p:sp>
        <p:nvSpPr>
          <p:cNvPr id="43" name="TextBox 43"/>
          <p:cNvSpPr txBox="1"/>
          <p:nvPr/>
        </p:nvSpPr>
        <p:spPr>
          <a:xfrm>
            <a:off x="7015126" y="1933696"/>
            <a:ext cx="7310908" cy="772149"/>
          </a:xfrm>
          <a:prstGeom prst="rect">
            <a:avLst/>
          </a:prstGeom>
        </p:spPr>
        <p:txBody>
          <a:bodyPr lIns="0" tIns="0" rIns="0" bIns="0" rtlCol="0" anchor="t">
            <a:spAutoFit/>
          </a:bodyPr>
          <a:lstStyle/>
          <a:p>
            <a:pPr marL="0" lvl="0" indent="0" algn="l">
              <a:lnSpc>
                <a:spcPts val="5463"/>
              </a:lnSpc>
            </a:pPr>
            <a:r>
              <a:rPr lang="en-US" sz="6828">
                <a:solidFill>
                  <a:srgbClr val="240960"/>
                </a:solidFill>
                <a:latin typeface="Montserrat"/>
                <a:ea typeface="Montserrat"/>
                <a:cs typeface="Montserrat"/>
                <a:sym typeface="Montserrat"/>
              </a:rPr>
              <a:t>du log</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DE5FF"/>
        </a:solidFill>
        <a:effectLst/>
      </p:bgPr>
    </p:bg>
    <p:spTree>
      <p:nvGrpSpPr>
        <p:cNvPr id="1" name=""/>
        <p:cNvGrpSpPr/>
        <p:nvPr/>
      </p:nvGrpSpPr>
      <p:grpSpPr>
        <a:xfrm>
          <a:off x="0" y="0"/>
          <a:ext cx="0" cy="0"/>
          <a:chOff x="0" y="0"/>
          <a:chExt cx="0" cy="0"/>
        </a:xfrm>
      </p:grpSpPr>
      <p:grpSp>
        <p:nvGrpSpPr>
          <p:cNvPr id="2" name="Group 2"/>
          <p:cNvGrpSpPr/>
          <p:nvPr/>
        </p:nvGrpSpPr>
        <p:grpSpPr>
          <a:xfrm>
            <a:off x="7275947" y="-496215"/>
            <a:ext cx="11264060" cy="11375654"/>
            <a:chOff x="0" y="0"/>
            <a:chExt cx="2966666" cy="2996057"/>
          </a:xfrm>
        </p:grpSpPr>
        <p:sp>
          <p:nvSpPr>
            <p:cNvPr id="3" name="Freeform 3"/>
            <p:cNvSpPr/>
            <p:nvPr/>
          </p:nvSpPr>
          <p:spPr>
            <a:xfrm>
              <a:off x="0" y="0"/>
              <a:ext cx="2966666" cy="2996057"/>
            </a:xfrm>
            <a:custGeom>
              <a:avLst/>
              <a:gdLst/>
              <a:ahLst/>
              <a:cxnLst/>
              <a:rect l="l" t="t" r="r" b="b"/>
              <a:pathLst>
                <a:path w="2966666" h="2996057">
                  <a:moveTo>
                    <a:pt x="0" y="0"/>
                  </a:moveTo>
                  <a:lnTo>
                    <a:pt x="2966666" y="0"/>
                  </a:lnTo>
                  <a:lnTo>
                    <a:pt x="2966666" y="2996057"/>
                  </a:lnTo>
                  <a:lnTo>
                    <a:pt x="0" y="2996057"/>
                  </a:lnTo>
                  <a:close/>
                </a:path>
              </a:pathLst>
            </a:custGeom>
            <a:gradFill rotWithShape="1">
              <a:gsLst>
                <a:gs pos="0">
                  <a:srgbClr val="F7ACFF">
                    <a:alpha val="0"/>
                  </a:srgbClr>
                </a:gs>
                <a:gs pos="50000">
                  <a:srgbClr val="6B4CAF">
                    <a:alpha val="13225"/>
                  </a:srgbClr>
                </a:gs>
                <a:gs pos="100000">
                  <a:srgbClr val="3C67BF">
                    <a:alpha val="23000"/>
                  </a:srgbClr>
                </a:gs>
              </a:gsLst>
              <a:lin ang="0"/>
            </a:gradFill>
          </p:spPr>
        </p:sp>
        <p:sp>
          <p:nvSpPr>
            <p:cNvPr id="4" name="TextBox 4"/>
            <p:cNvSpPr txBox="1"/>
            <p:nvPr/>
          </p:nvSpPr>
          <p:spPr>
            <a:xfrm>
              <a:off x="0" y="-38100"/>
              <a:ext cx="2966666" cy="3034157"/>
            </a:xfrm>
            <a:prstGeom prst="rect">
              <a:avLst/>
            </a:prstGeom>
          </p:spPr>
          <p:txBody>
            <a:bodyPr lIns="50800" tIns="50800" rIns="50800" bIns="50800" rtlCol="0" anchor="ctr"/>
            <a:lstStyle/>
            <a:p>
              <a:pPr marL="0" lvl="0" indent="0" algn="ctr">
                <a:lnSpc>
                  <a:spcPts val="2659"/>
                </a:lnSpc>
              </a:pPr>
              <a:endParaRPr/>
            </a:p>
          </p:txBody>
        </p:sp>
      </p:grpSp>
      <p:grpSp>
        <p:nvGrpSpPr>
          <p:cNvPr id="5" name="Group 5"/>
          <p:cNvGrpSpPr/>
          <p:nvPr/>
        </p:nvGrpSpPr>
        <p:grpSpPr>
          <a:xfrm>
            <a:off x="-1154546" y="-1328013"/>
            <a:ext cx="5214383" cy="521438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C67BF">
                    <a:alpha val="58000"/>
                  </a:srgbClr>
                </a:gs>
                <a:gs pos="100000">
                  <a:srgbClr val="F7ACFF">
                    <a:alpha val="58000"/>
                  </a:srgbClr>
                </a:gs>
              </a:gsLst>
              <a:lin ang="0"/>
            </a:gradFill>
          </p:spPr>
        </p:sp>
        <p:sp>
          <p:nvSpPr>
            <p:cNvPr id="7" name="TextBox 7"/>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pPr>
              <a:endParaRPr/>
            </a:p>
          </p:txBody>
        </p:sp>
      </p:grpSp>
      <p:sp>
        <p:nvSpPr>
          <p:cNvPr id="8" name="Freeform 8"/>
          <p:cNvSpPr/>
          <p:nvPr/>
        </p:nvSpPr>
        <p:spPr>
          <a:xfrm>
            <a:off x="1349938" y="875473"/>
            <a:ext cx="490149" cy="403705"/>
          </a:xfrm>
          <a:custGeom>
            <a:avLst/>
            <a:gdLst/>
            <a:ahLst/>
            <a:cxnLst/>
            <a:rect l="l" t="t" r="r" b="b"/>
            <a:pathLst>
              <a:path w="490149" h="403705">
                <a:moveTo>
                  <a:pt x="0" y="0"/>
                </a:moveTo>
                <a:lnTo>
                  <a:pt x="490149" y="0"/>
                </a:lnTo>
                <a:lnTo>
                  <a:pt x="490149" y="403705"/>
                </a:lnTo>
                <a:lnTo>
                  <a:pt x="0" y="403705"/>
                </a:lnTo>
                <a:lnTo>
                  <a:pt x="0" y="0"/>
                </a:lnTo>
                <a:close/>
              </a:path>
            </a:pathLst>
          </a:custGeom>
          <a:blipFill>
            <a:blip>
              <a:extLst>
                <a:ext uri="{96DAC541-7B7A-43D3-8B79-37D633B846F1}">
                  <asvg:svgBlip xmlns:asvg="http://schemas.microsoft.com/office/drawing/2016/SVG/main" r:embed="rId3"/>
                </a:ext>
              </a:extLst>
            </a:blip>
            <a:stretch>
              <a:fillRect/>
            </a:stretch>
          </a:blipFill>
        </p:spPr>
      </p:sp>
      <p:grpSp>
        <p:nvGrpSpPr>
          <p:cNvPr id="9" name="Group 9"/>
          <p:cNvGrpSpPr>
            <a:grpSpLocks noChangeAspect="1"/>
          </p:cNvGrpSpPr>
          <p:nvPr/>
        </p:nvGrpSpPr>
        <p:grpSpPr>
          <a:xfrm>
            <a:off x="2300919" y="2671455"/>
            <a:ext cx="6136420" cy="6136420"/>
            <a:chOff x="0" y="0"/>
            <a:chExt cx="14840029" cy="14840029"/>
          </a:xfrm>
        </p:grpSpPr>
        <p:sp>
          <p:nvSpPr>
            <p:cNvPr id="10" name="Freeform 10"/>
            <p:cNvSpPr/>
            <p:nvPr/>
          </p:nvSpPr>
          <p:spPr>
            <a:xfrm>
              <a:off x="-33258" y="-75"/>
              <a:ext cx="14906544" cy="14840178"/>
            </a:xfrm>
            <a:custGeom>
              <a:avLst/>
              <a:gdLst/>
              <a:ahLst/>
              <a:cxnLst/>
              <a:rect l="l" t="t" r="r" b="b"/>
              <a:pathLst>
                <a:path w="14906544" h="14840178">
                  <a:moveTo>
                    <a:pt x="7453273" y="75"/>
                  </a:moveTo>
                  <a:cubicBezTo>
                    <a:pt x="4794451" y="-11816"/>
                    <a:pt x="2332496" y="1399825"/>
                    <a:pt x="999642" y="3700470"/>
                  </a:cubicBezTo>
                  <a:cubicBezTo>
                    <a:pt x="-333213" y="6001115"/>
                    <a:pt x="-333213" y="8839064"/>
                    <a:pt x="999642" y="11139709"/>
                  </a:cubicBezTo>
                  <a:cubicBezTo>
                    <a:pt x="2332496" y="13440354"/>
                    <a:pt x="4794451" y="14851995"/>
                    <a:pt x="7453273" y="14840104"/>
                  </a:cubicBezTo>
                  <a:cubicBezTo>
                    <a:pt x="10112093" y="14851995"/>
                    <a:pt x="12574049" y="13440354"/>
                    <a:pt x="13906904" y="11139709"/>
                  </a:cubicBezTo>
                  <a:cubicBezTo>
                    <a:pt x="15239758" y="8839064"/>
                    <a:pt x="15239758" y="6001115"/>
                    <a:pt x="13906904" y="3700470"/>
                  </a:cubicBezTo>
                  <a:cubicBezTo>
                    <a:pt x="12574049" y="1399825"/>
                    <a:pt x="10112093" y="-11816"/>
                    <a:pt x="7453273" y="75"/>
                  </a:cubicBezTo>
                  <a:close/>
                </a:path>
              </a:pathLst>
            </a:custGeom>
            <a:gradFill rotWithShape="1">
              <a:gsLst>
                <a:gs pos="0">
                  <a:srgbClr val="5B45B5">
                    <a:alpha val="100000"/>
                  </a:srgbClr>
                </a:gs>
                <a:gs pos="100000">
                  <a:srgbClr val="8875D7">
                    <a:alpha val="100000"/>
                  </a:srgbClr>
                </a:gs>
              </a:gsLst>
              <a:lin ang="0"/>
            </a:gradFill>
          </p:spPr>
        </p:sp>
        <p:sp>
          <p:nvSpPr>
            <p:cNvPr id="11" name="Freeform 11"/>
            <p:cNvSpPr/>
            <p:nvPr/>
          </p:nvSpPr>
          <p:spPr>
            <a:xfrm>
              <a:off x="168022" y="200309"/>
              <a:ext cx="14503985" cy="14439411"/>
            </a:xfrm>
            <a:custGeom>
              <a:avLst/>
              <a:gdLst/>
              <a:ahLst/>
              <a:cxnLst/>
              <a:rect l="l" t="t" r="r" b="b"/>
              <a:pathLst>
                <a:path w="14503985" h="14439411">
                  <a:moveTo>
                    <a:pt x="7251993" y="73"/>
                  </a:moveTo>
                  <a:cubicBezTo>
                    <a:pt x="4664974" y="-11497"/>
                    <a:pt x="2269506" y="1362022"/>
                    <a:pt x="972645" y="3600537"/>
                  </a:cubicBezTo>
                  <a:cubicBezTo>
                    <a:pt x="-324215" y="5839051"/>
                    <a:pt x="-324215" y="8600360"/>
                    <a:pt x="972645" y="10838875"/>
                  </a:cubicBezTo>
                  <a:cubicBezTo>
                    <a:pt x="2269506" y="13077389"/>
                    <a:pt x="4664974" y="14450908"/>
                    <a:pt x="7251993" y="14439338"/>
                  </a:cubicBezTo>
                  <a:cubicBezTo>
                    <a:pt x="9839011" y="14450908"/>
                    <a:pt x="12234479" y="13077389"/>
                    <a:pt x="13531340" y="10838875"/>
                  </a:cubicBezTo>
                  <a:cubicBezTo>
                    <a:pt x="14828201" y="8600360"/>
                    <a:pt x="14828201" y="5839051"/>
                    <a:pt x="13531340" y="3600537"/>
                  </a:cubicBezTo>
                  <a:cubicBezTo>
                    <a:pt x="12234479" y="1362022"/>
                    <a:pt x="9839011" y="-11497"/>
                    <a:pt x="7251993" y="73"/>
                  </a:cubicBezTo>
                  <a:close/>
                </a:path>
              </a:pathLst>
            </a:custGeom>
            <a:solidFill>
              <a:srgbClr val="FFFFFF"/>
            </a:solidFill>
          </p:spPr>
        </p:sp>
        <p:sp>
          <p:nvSpPr>
            <p:cNvPr id="12" name="Freeform 12"/>
            <p:cNvSpPr/>
            <p:nvPr/>
          </p:nvSpPr>
          <p:spPr>
            <a:xfrm>
              <a:off x="531276" y="561946"/>
              <a:ext cx="13777477" cy="13716137"/>
            </a:xfrm>
            <a:custGeom>
              <a:avLst/>
              <a:gdLst/>
              <a:ahLst/>
              <a:cxnLst/>
              <a:rect l="l" t="t" r="r" b="b"/>
              <a:pathLst>
                <a:path w="13777477" h="13716137">
                  <a:moveTo>
                    <a:pt x="6888739" y="68"/>
                  </a:moveTo>
                  <a:cubicBezTo>
                    <a:pt x="4431305" y="-10922"/>
                    <a:pt x="2155826" y="1293797"/>
                    <a:pt x="923925" y="3420184"/>
                  </a:cubicBezTo>
                  <a:cubicBezTo>
                    <a:pt x="-307975" y="5546571"/>
                    <a:pt x="-307975" y="8169565"/>
                    <a:pt x="923925" y="10295952"/>
                  </a:cubicBezTo>
                  <a:cubicBezTo>
                    <a:pt x="2155826" y="12422339"/>
                    <a:pt x="4431305" y="13727058"/>
                    <a:pt x="6888739" y="13716068"/>
                  </a:cubicBezTo>
                  <a:cubicBezTo>
                    <a:pt x="9346172" y="13727058"/>
                    <a:pt x="11621651" y="12422339"/>
                    <a:pt x="12853552" y="10295952"/>
                  </a:cubicBezTo>
                  <a:cubicBezTo>
                    <a:pt x="14085452" y="8169565"/>
                    <a:pt x="14085452" y="5546571"/>
                    <a:pt x="12853552" y="3420184"/>
                  </a:cubicBezTo>
                  <a:cubicBezTo>
                    <a:pt x="11621651" y="1293797"/>
                    <a:pt x="9346172" y="-10922"/>
                    <a:pt x="6888739" y="68"/>
                  </a:cubicBezTo>
                  <a:close/>
                </a:path>
              </a:pathLst>
            </a:custGeom>
            <a:blipFill>
              <a:blip r:embed="rId4"/>
              <a:stretch>
                <a:fillRect l="223" r="223"/>
              </a:stretch>
            </a:blipFill>
          </p:spPr>
        </p:sp>
      </p:grpSp>
      <p:sp>
        <p:nvSpPr>
          <p:cNvPr id="13" name="TextBox 13"/>
          <p:cNvSpPr txBox="1"/>
          <p:nvPr/>
        </p:nvSpPr>
        <p:spPr>
          <a:xfrm>
            <a:off x="9101383" y="2259172"/>
            <a:ext cx="3806594" cy="772149"/>
          </a:xfrm>
          <a:prstGeom prst="rect">
            <a:avLst/>
          </a:prstGeom>
        </p:spPr>
        <p:txBody>
          <a:bodyPr lIns="0" tIns="0" rIns="0" bIns="0" rtlCol="0" anchor="t">
            <a:spAutoFit/>
          </a:bodyPr>
          <a:lstStyle/>
          <a:p>
            <a:pPr marL="0" lvl="0" indent="0" algn="l">
              <a:lnSpc>
                <a:spcPts val="5463"/>
              </a:lnSpc>
            </a:pPr>
            <a:r>
              <a:rPr lang="en-US" sz="6828" b="1">
                <a:solidFill>
                  <a:srgbClr val="240960"/>
                </a:solidFill>
                <a:latin typeface="Montserrat Bold"/>
                <a:ea typeface="Montserrat Bold"/>
                <a:cs typeface="Montserrat Bold"/>
                <a:sym typeface="Montserrat Bold"/>
              </a:rPr>
              <a:t>Sécurité</a:t>
            </a:r>
          </a:p>
        </p:txBody>
      </p:sp>
      <p:sp>
        <p:nvSpPr>
          <p:cNvPr id="14" name="TextBox 14"/>
          <p:cNvSpPr txBox="1"/>
          <p:nvPr/>
        </p:nvSpPr>
        <p:spPr>
          <a:xfrm>
            <a:off x="9063283" y="2988550"/>
            <a:ext cx="7310908" cy="772149"/>
          </a:xfrm>
          <a:prstGeom prst="rect">
            <a:avLst/>
          </a:prstGeom>
        </p:spPr>
        <p:txBody>
          <a:bodyPr lIns="0" tIns="0" rIns="0" bIns="0" rtlCol="0" anchor="t">
            <a:spAutoFit/>
          </a:bodyPr>
          <a:lstStyle/>
          <a:p>
            <a:pPr marL="0" lvl="0" indent="0" algn="l">
              <a:lnSpc>
                <a:spcPts val="5463"/>
              </a:lnSpc>
            </a:pPr>
            <a:r>
              <a:rPr lang="en-US" sz="6828">
                <a:solidFill>
                  <a:srgbClr val="240960"/>
                </a:solidFill>
                <a:latin typeface="Montserrat"/>
                <a:ea typeface="Montserrat"/>
                <a:cs typeface="Montserrat"/>
                <a:sym typeface="Montserrat"/>
              </a:rPr>
              <a:t>et garanties</a:t>
            </a:r>
          </a:p>
        </p:txBody>
      </p:sp>
      <p:grpSp>
        <p:nvGrpSpPr>
          <p:cNvPr id="15" name="Group 15"/>
          <p:cNvGrpSpPr>
            <a:grpSpLocks noChangeAspect="1"/>
          </p:cNvGrpSpPr>
          <p:nvPr/>
        </p:nvGrpSpPr>
        <p:grpSpPr>
          <a:xfrm>
            <a:off x="1349938" y="5907599"/>
            <a:ext cx="3038039" cy="3038039"/>
            <a:chOff x="0" y="0"/>
            <a:chExt cx="14840029" cy="14840029"/>
          </a:xfrm>
        </p:grpSpPr>
        <p:sp>
          <p:nvSpPr>
            <p:cNvPr id="16" name="Freeform 16"/>
            <p:cNvSpPr/>
            <p:nvPr/>
          </p:nvSpPr>
          <p:spPr>
            <a:xfrm>
              <a:off x="-33258" y="-75"/>
              <a:ext cx="14906544" cy="14840178"/>
            </a:xfrm>
            <a:custGeom>
              <a:avLst/>
              <a:gdLst/>
              <a:ahLst/>
              <a:cxnLst/>
              <a:rect l="l" t="t" r="r" b="b"/>
              <a:pathLst>
                <a:path w="14906544" h="14840178">
                  <a:moveTo>
                    <a:pt x="7453273" y="75"/>
                  </a:moveTo>
                  <a:cubicBezTo>
                    <a:pt x="4794451" y="-11816"/>
                    <a:pt x="2332496" y="1399825"/>
                    <a:pt x="999642" y="3700470"/>
                  </a:cubicBezTo>
                  <a:cubicBezTo>
                    <a:pt x="-333213" y="6001115"/>
                    <a:pt x="-333213" y="8839064"/>
                    <a:pt x="999642" y="11139709"/>
                  </a:cubicBezTo>
                  <a:cubicBezTo>
                    <a:pt x="2332496" y="13440354"/>
                    <a:pt x="4794451" y="14851995"/>
                    <a:pt x="7453273" y="14840104"/>
                  </a:cubicBezTo>
                  <a:cubicBezTo>
                    <a:pt x="10112093" y="14851995"/>
                    <a:pt x="12574049" y="13440354"/>
                    <a:pt x="13906904" y="11139709"/>
                  </a:cubicBezTo>
                  <a:cubicBezTo>
                    <a:pt x="15239758" y="8839064"/>
                    <a:pt x="15239758" y="6001115"/>
                    <a:pt x="13906904" y="3700470"/>
                  </a:cubicBezTo>
                  <a:cubicBezTo>
                    <a:pt x="12574049" y="1399825"/>
                    <a:pt x="10112093" y="-11816"/>
                    <a:pt x="7453273" y="75"/>
                  </a:cubicBezTo>
                  <a:close/>
                </a:path>
              </a:pathLst>
            </a:custGeom>
            <a:gradFill rotWithShape="1">
              <a:gsLst>
                <a:gs pos="0">
                  <a:srgbClr val="3C67BF">
                    <a:alpha val="100000"/>
                  </a:srgbClr>
                </a:gs>
                <a:gs pos="100000">
                  <a:srgbClr val="F7ACFF">
                    <a:alpha val="100000"/>
                  </a:srgbClr>
                </a:gs>
              </a:gsLst>
              <a:lin ang="0"/>
            </a:gradFill>
          </p:spPr>
        </p:sp>
        <p:sp>
          <p:nvSpPr>
            <p:cNvPr id="17" name="Freeform 17"/>
            <p:cNvSpPr/>
            <p:nvPr/>
          </p:nvSpPr>
          <p:spPr>
            <a:xfrm>
              <a:off x="168022" y="200309"/>
              <a:ext cx="14503985" cy="14439411"/>
            </a:xfrm>
            <a:custGeom>
              <a:avLst/>
              <a:gdLst/>
              <a:ahLst/>
              <a:cxnLst/>
              <a:rect l="l" t="t" r="r" b="b"/>
              <a:pathLst>
                <a:path w="14503985" h="14439411">
                  <a:moveTo>
                    <a:pt x="7251993" y="73"/>
                  </a:moveTo>
                  <a:cubicBezTo>
                    <a:pt x="4664974" y="-11497"/>
                    <a:pt x="2269506" y="1362022"/>
                    <a:pt x="972645" y="3600537"/>
                  </a:cubicBezTo>
                  <a:cubicBezTo>
                    <a:pt x="-324215" y="5839051"/>
                    <a:pt x="-324215" y="8600360"/>
                    <a:pt x="972645" y="10838875"/>
                  </a:cubicBezTo>
                  <a:cubicBezTo>
                    <a:pt x="2269506" y="13077389"/>
                    <a:pt x="4664974" y="14450908"/>
                    <a:pt x="7251993" y="14439338"/>
                  </a:cubicBezTo>
                  <a:cubicBezTo>
                    <a:pt x="9839011" y="14450908"/>
                    <a:pt x="12234479" y="13077389"/>
                    <a:pt x="13531340" y="10838875"/>
                  </a:cubicBezTo>
                  <a:cubicBezTo>
                    <a:pt x="14828201" y="8600360"/>
                    <a:pt x="14828201" y="5839051"/>
                    <a:pt x="13531340" y="3600537"/>
                  </a:cubicBezTo>
                  <a:cubicBezTo>
                    <a:pt x="12234479" y="1362022"/>
                    <a:pt x="9839011" y="-11497"/>
                    <a:pt x="7251993" y="73"/>
                  </a:cubicBezTo>
                  <a:close/>
                </a:path>
              </a:pathLst>
            </a:custGeom>
            <a:solidFill>
              <a:srgbClr val="FFFFFF"/>
            </a:solidFill>
          </p:spPr>
        </p:sp>
        <p:sp>
          <p:nvSpPr>
            <p:cNvPr id="18" name="Freeform 18"/>
            <p:cNvSpPr/>
            <p:nvPr/>
          </p:nvSpPr>
          <p:spPr>
            <a:xfrm>
              <a:off x="531276" y="561946"/>
              <a:ext cx="13777477" cy="13716137"/>
            </a:xfrm>
            <a:custGeom>
              <a:avLst/>
              <a:gdLst/>
              <a:ahLst/>
              <a:cxnLst/>
              <a:rect l="l" t="t" r="r" b="b"/>
              <a:pathLst>
                <a:path w="13777477" h="13716137">
                  <a:moveTo>
                    <a:pt x="6888739" y="68"/>
                  </a:moveTo>
                  <a:cubicBezTo>
                    <a:pt x="4431305" y="-10922"/>
                    <a:pt x="2155826" y="1293797"/>
                    <a:pt x="923925" y="3420184"/>
                  </a:cubicBezTo>
                  <a:cubicBezTo>
                    <a:pt x="-307975" y="5546571"/>
                    <a:pt x="-307975" y="8169565"/>
                    <a:pt x="923925" y="10295952"/>
                  </a:cubicBezTo>
                  <a:cubicBezTo>
                    <a:pt x="2155826" y="12422339"/>
                    <a:pt x="4431305" y="13727058"/>
                    <a:pt x="6888739" y="13716068"/>
                  </a:cubicBezTo>
                  <a:cubicBezTo>
                    <a:pt x="9346172" y="13727058"/>
                    <a:pt x="11621651" y="12422339"/>
                    <a:pt x="12853552" y="10295952"/>
                  </a:cubicBezTo>
                  <a:cubicBezTo>
                    <a:pt x="14085452" y="8169565"/>
                    <a:pt x="14085452" y="5546571"/>
                    <a:pt x="12853552" y="3420184"/>
                  </a:cubicBezTo>
                  <a:cubicBezTo>
                    <a:pt x="11621651" y="1293797"/>
                    <a:pt x="9346172" y="-10922"/>
                    <a:pt x="6888739" y="68"/>
                  </a:cubicBezTo>
                  <a:close/>
                </a:path>
              </a:pathLst>
            </a:custGeom>
            <a:blipFill>
              <a:blip r:embed="rId5"/>
              <a:stretch>
                <a:fillRect l="223" r="223"/>
              </a:stretch>
            </a:blipFill>
          </p:spPr>
        </p:sp>
      </p:grpSp>
      <p:grpSp>
        <p:nvGrpSpPr>
          <p:cNvPr id="19" name="Group 19"/>
          <p:cNvGrpSpPr/>
          <p:nvPr/>
        </p:nvGrpSpPr>
        <p:grpSpPr>
          <a:xfrm>
            <a:off x="-908020" y="7636544"/>
            <a:ext cx="4721330" cy="4721330"/>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C67BF">
                    <a:alpha val="96000"/>
                  </a:srgbClr>
                </a:gs>
                <a:gs pos="100000">
                  <a:srgbClr val="F7ACFF">
                    <a:alpha val="0"/>
                  </a:srgbClr>
                </a:gs>
              </a:gsLst>
              <a:lin ang="0"/>
            </a:gradFill>
          </p:spPr>
        </p:sp>
        <p:sp>
          <p:nvSpPr>
            <p:cNvPr id="21" name="TextBox 21"/>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pPr>
              <a:endParaRPr/>
            </a:p>
          </p:txBody>
        </p:sp>
      </p:grpSp>
      <p:sp>
        <p:nvSpPr>
          <p:cNvPr id="22" name="TextBox 22"/>
          <p:cNvSpPr txBox="1"/>
          <p:nvPr/>
        </p:nvSpPr>
        <p:spPr>
          <a:xfrm>
            <a:off x="9640701" y="5056278"/>
            <a:ext cx="7133612" cy="955955"/>
          </a:xfrm>
          <a:prstGeom prst="rect">
            <a:avLst/>
          </a:prstGeom>
        </p:spPr>
        <p:txBody>
          <a:bodyPr lIns="0" tIns="0" rIns="0" bIns="0" rtlCol="0" anchor="t">
            <a:spAutoFit/>
          </a:bodyPr>
          <a:lstStyle/>
          <a:p>
            <a:pPr marL="0" lvl="0" indent="0" algn="l">
              <a:lnSpc>
                <a:spcPts val="1941"/>
              </a:lnSpc>
            </a:pPr>
            <a:r>
              <a:rPr lang="en-US" sz="1703" dirty="0">
                <a:solidFill>
                  <a:srgbClr val="240960"/>
                </a:solidFill>
                <a:latin typeface="Montserrat"/>
                <a:ea typeface="Montserrat"/>
                <a:cs typeface="Montserrat"/>
                <a:sym typeface="Montserrat"/>
              </a:rPr>
              <a:t>Un leader ne </a:t>
            </a:r>
            <a:r>
              <a:rPr lang="en-US" sz="1703" dirty="0" err="1">
                <a:solidFill>
                  <a:srgbClr val="240960"/>
                </a:solidFill>
                <a:latin typeface="Montserrat"/>
                <a:ea typeface="Montserrat"/>
                <a:cs typeface="Montserrat"/>
                <a:sym typeface="Montserrat"/>
              </a:rPr>
              <a:t>perd</a:t>
            </a:r>
            <a:r>
              <a:rPr lang="en-US" sz="1703" dirty="0">
                <a:solidFill>
                  <a:srgbClr val="240960"/>
                </a:solidFill>
                <a:latin typeface="Montserrat"/>
                <a:ea typeface="Montserrat"/>
                <a:cs typeface="Montserrat"/>
                <a:sym typeface="Montserrat"/>
              </a:rPr>
              <a:t> jamais </a:t>
            </a:r>
            <a:r>
              <a:rPr lang="en-US" sz="1703" dirty="0" err="1">
                <a:solidFill>
                  <a:srgbClr val="240960"/>
                </a:solidFill>
                <a:latin typeface="Montserrat"/>
                <a:ea typeface="Montserrat"/>
                <a:cs typeface="Montserrat"/>
                <a:sym typeface="Montserrat"/>
              </a:rPr>
              <a:t>d'entrées</a:t>
            </a:r>
            <a:r>
              <a:rPr lang="en-US" sz="1703" dirty="0">
                <a:solidFill>
                  <a:srgbClr val="240960"/>
                </a:solidFill>
                <a:latin typeface="Montserrat"/>
                <a:ea typeface="Montserrat"/>
                <a:cs typeface="Montserrat"/>
                <a:sym typeface="Montserrat"/>
              </a:rPr>
              <a:t> déjà </a:t>
            </a:r>
            <a:r>
              <a:rPr lang="en-US" sz="1703" dirty="0" err="1">
                <a:solidFill>
                  <a:srgbClr val="240960"/>
                </a:solidFill>
                <a:latin typeface="Montserrat"/>
                <a:ea typeface="Montserrat"/>
                <a:cs typeface="Montserrat"/>
                <a:sym typeface="Montserrat"/>
              </a:rPr>
              <a:t>committées</a:t>
            </a:r>
            <a:r>
              <a:rPr lang="en-US" sz="1703" dirty="0">
                <a:solidFill>
                  <a:srgbClr val="240960"/>
                </a:solidFill>
                <a:latin typeface="Montserrat"/>
                <a:ea typeface="Montserrat"/>
                <a:cs typeface="Montserrat"/>
                <a:sym typeface="Montserrat"/>
              </a:rPr>
              <a:t>. Une </a:t>
            </a:r>
            <a:r>
              <a:rPr lang="en-US" sz="1703" dirty="0" err="1">
                <a:solidFill>
                  <a:srgbClr val="240960"/>
                </a:solidFill>
                <a:latin typeface="Montserrat"/>
                <a:ea typeface="Montserrat"/>
                <a:cs typeface="Montserrat"/>
                <a:sym typeface="Montserrat"/>
              </a:rPr>
              <a:t>fois</a:t>
            </a:r>
            <a:r>
              <a:rPr lang="en-US" sz="1703" dirty="0">
                <a:solidFill>
                  <a:srgbClr val="240960"/>
                </a:solidFill>
                <a:latin typeface="Montserrat"/>
                <a:ea typeface="Montserrat"/>
                <a:cs typeface="Montserrat"/>
                <a:sym typeface="Montserrat"/>
              </a:rPr>
              <a:t> </a:t>
            </a:r>
            <a:r>
              <a:rPr lang="en-US" sz="1703" dirty="0" err="1">
                <a:solidFill>
                  <a:srgbClr val="240960"/>
                </a:solidFill>
                <a:latin typeface="Montserrat"/>
                <a:ea typeface="Montserrat"/>
                <a:cs typeface="Montserrat"/>
                <a:sym typeface="Montserrat"/>
              </a:rPr>
              <a:t>qu'une</a:t>
            </a:r>
            <a:r>
              <a:rPr lang="en-US" sz="1703" dirty="0">
                <a:solidFill>
                  <a:srgbClr val="240960"/>
                </a:solidFill>
                <a:latin typeface="Montserrat"/>
                <a:ea typeface="Montserrat"/>
                <a:cs typeface="Montserrat"/>
                <a:sym typeface="Montserrat"/>
              </a:rPr>
              <a:t> entrée est </a:t>
            </a:r>
            <a:r>
              <a:rPr lang="en-US" sz="1703" dirty="0" err="1">
                <a:solidFill>
                  <a:srgbClr val="240960"/>
                </a:solidFill>
                <a:latin typeface="Montserrat"/>
                <a:ea typeface="Montserrat"/>
                <a:cs typeface="Montserrat"/>
                <a:sym typeface="Montserrat"/>
              </a:rPr>
              <a:t>répliquée</a:t>
            </a:r>
            <a:r>
              <a:rPr lang="en-US" sz="1703" dirty="0">
                <a:solidFill>
                  <a:srgbClr val="240960"/>
                </a:solidFill>
                <a:latin typeface="Montserrat"/>
                <a:ea typeface="Montserrat"/>
                <a:cs typeface="Montserrat"/>
                <a:sym typeface="Montserrat"/>
              </a:rPr>
              <a:t> sur </a:t>
            </a:r>
            <a:r>
              <a:rPr lang="en-US" sz="1703" dirty="0" err="1">
                <a:solidFill>
                  <a:srgbClr val="240960"/>
                </a:solidFill>
                <a:latin typeface="Montserrat"/>
                <a:ea typeface="Montserrat"/>
                <a:cs typeface="Montserrat"/>
                <a:sym typeface="Montserrat"/>
              </a:rPr>
              <a:t>une</a:t>
            </a:r>
            <a:r>
              <a:rPr lang="en-US" sz="1703" dirty="0">
                <a:solidFill>
                  <a:srgbClr val="240960"/>
                </a:solidFill>
                <a:latin typeface="Montserrat"/>
                <a:ea typeface="Montserrat"/>
                <a:cs typeface="Montserrat"/>
                <a:sym typeface="Montserrat"/>
              </a:rPr>
              <a:t> </a:t>
            </a:r>
            <a:r>
              <a:rPr lang="en-US" sz="1703" dirty="0" err="1">
                <a:solidFill>
                  <a:srgbClr val="240960"/>
                </a:solidFill>
                <a:latin typeface="Montserrat"/>
                <a:ea typeface="Montserrat"/>
                <a:cs typeface="Montserrat"/>
                <a:sym typeface="Montserrat"/>
              </a:rPr>
              <a:t>majorité</a:t>
            </a:r>
            <a:r>
              <a:rPr lang="en-US" sz="1703" dirty="0">
                <a:solidFill>
                  <a:srgbClr val="240960"/>
                </a:solidFill>
                <a:latin typeface="Montserrat"/>
                <a:ea typeface="Montserrat"/>
                <a:cs typeface="Montserrat"/>
                <a:sym typeface="Montserrat"/>
              </a:rPr>
              <a:t> de </a:t>
            </a:r>
            <a:r>
              <a:rPr lang="en-US" sz="1703" dirty="0" err="1">
                <a:solidFill>
                  <a:srgbClr val="240960"/>
                </a:solidFill>
                <a:latin typeface="Montserrat"/>
                <a:ea typeface="Montserrat"/>
                <a:cs typeface="Montserrat"/>
                <a:sym typeface="Montserrat"/>
              </a:rPr>
              <a:t>nœuds</a:t>
            </a:r>
            <a:r>
              <a:rPr lang="en-US" sz="1703" dirty="0">
                <a:solidFill>
                  <a:srgbClr val="240960"/>
                </a:solidFill>
                <a:latin typeface="Montserrat"/>
                <a:ea typeface="Montserrat"/>
                <a:cs typeface="Montserrat"/>
                <a:sym typeface="Montserrat"/>
              </a:rPr>
              <a:t> et </a:t>
            </a:r>
            <a:r>
              <a:rPr lang="en-US" sz="1703" dirty="0" err="1">
                <a:solidFill>
                  <a:srgbClr val="240960"/>
                </a:solidFill>
                <a:latin typeface="Montserrat"/>
                <a:ea typeface="Montserrat"/>
                <a:cs typeface="Montserrat"/>
                <a:sym typeface="Montserrat"/>
              </a:rPr>
              <a:t>marquée</a:t>
            </a:r>
            <a:r>
              <a:rPr lang="en-US" sz="1703" dirty="0">
                <a:solidFill>
                  <a:srgbClr val="240960"/>
                </a:solidFill>
                <a:latin typeface="Montserrat"/>
                <a:ea typeface="Montserrat"/>
                <a:cs typeface="Montserrat"/>
                <a:sym typeface="Montserrat"/>
              </a:rPr>
              <a:t> </a:t>
            </a:r>
            <a:r>
              <a:rPr lang="en-US" sz="1703" dirty="0" err="1">
                <a:solidFill>
                  <a:srgbClr val="240960"/>
                </a:solidFill>
                <a:latin typeface="Montserrat"/>
                <a:ea typeface="Montserrat"/>
                <a:cs typeface="Montserrat"/>
                <a:sym typeface="Montserrat"/>
              </a:rPr>
              <a:t>comme</a:t>
            </a:r>
            <a:r>
              <a:rPr lang="en-US" sz="1703" dirty="0">
                <a:solidFill>
                  <a:srgbClr val="240960"/>
                </a:solidFill>
                <a:latin typeface="Montserrat"/>
                <a:ea typeface="Montserrat"/>
                <a:cs typeface="Montserrat"/>
                <a:sym typeface="Montserrat"/>
              </a:rPr>
              <a:t> </a:t>
            </a:r>
            <a:r>
              <a:rPr lang="en-US" sz="1703" dirty="0" err="1">
                <a:solidFill>
                  <a:srgbClr val="240960"/>
                </a:solidFill>
                <a:latin typeface="Montserrat"/>
                <a:ea typeface="Montserrat"/>
                <a:cs typeface="Montserrat"/>
                <a:sym typeface="Montserrat"/>
              </a:rPr>
              <a:t>committée</a:t>
            </a:r>
            <a:r>
              <a:rPr lang="en-US" sz="1703" dirty="0">
                <a:solidFill>
                  <a:srgbClr val="240960"/>
                </a:solidFill>
                <a:latin typeface="Montserrat"/>
                <a:ea typeface="Montserrat"/>
                <a:cs typeface="Montserrat"/>
                <a:sym typeface="Montserrat"/>
              </a:rPr>
              <a:t>, </a:t>
            </a:r>
            <a:r>
              <a:rPr lang="en-US" sz="1703" dirty="0" err="1">
                <a:solidFill>
                  <a:srgbClr val="240960"/>
                </a:solidFill>
                <a:latin typeface="Montserrat"/>
                <a:ea typeface="Montserrat"/>
                <a:cs typeface="Montserrat"/>
                <a:sym typeface="Montserrat"/>
              </a:rPr>
              <a:t>elle</a:t>
            </a:r>
            <a:r>
              <a:rPr lang="en-US" sz="1703" dirty="0">
                <a:solidFill>
                  <a:srgbClr val="240960"/>
                </a:solidFill>
                <a:latin typeface="Montserrat"/>
                <a:ea typeface="Montserrat"/>
                <a:cs typeface="Montserrat"/>
                <a:sym typeface="Montserrat"/>
              </a:rPr>
              <a:t> est </a:t>
            </a:r>
            <a:r>
              <a:rPr lang="en-US" sz="1703" dirty="0" err="1">
                <a:solidFill>
                  <a:srgbClr val="240960"/>
                </a:solidFill>
                <a:latin typeface="Montserrat"/>
                <a:ea typeface="Montserrat"/>
                <a:cs typeface="Montserrat"/>
                <a:sym typeface="Montserrat"/>
              </a:rPr>
              <a:t>garantie</a:t>
            </a:r>
            <a:r>
              <a:rPr lang="en-US" sz="1703" dirty="0">
                <a:solidFill>
                  <a:srgbClr val="240960"/>
                </a:solidFill>
                <a:latin typeface="Montserrat"/>
                <a:ea typeface="Montserrat"/>
                <a:cs typeface="Montserrat"/>
                <a:sym typeface="Montserrat"/>
              </a:rPr>
              <a:t> de </a:t>
            </a:r>
            <a:r>
              <a:rPr lang="en-US" sz="1703" dirty="0" err="1">
                <a:solidFill>
                  <a:srgbClr val="240960"/>
                </a:solidFill>
                <a:latin typeface="Montserrat"/>
                <a:ea typeface="Montserrat"/>
                <a:cs typeface="Montserrat"/>
                <a:sym typeface="Montserrat"/>
              </a:rPr>
              <a:t>persister</a:t>
            </a:r>
            <a:r>
              <a:rPr lang="en-US" sz="1703" dirty="0">
                <a:solidFill>
                  <a:srgbClr val="240960"/>
                </a:solidFill>
                <a:latin typeface="Montserrat"/>
                <a:ea typeface="Montserrat"/>
                <a:cs typeface="Montserrat"/>
                <a:sym typeface="Montserrat"/>
              </a:rPr>
              <a:t> </a:t>
            </a:r>
            <a:r>
              <a:rPr lang="en-US" sz="1703" dirty="0" err="1">
                <a:solidFill>
                  <a:srgbClr val="240960"/>
                </a:solidFill>
                <a:latin typeface="Montserrat"/>
                <a:ea typeface="Montserrat"/>
                <a:cs typeface="Montserrat"/>
                <a:sym typeface="Montserrat"/>
              </a:rPr>
              <a:t>même</a:t>
            </a:r>
            <a:r>
              <a:rPr lang="en-US" sz="1703" dirty="0">
                <a:solidFill>
                  <a:srgbClr val="240960"/>
                </a:solidFill>
                <a:latin typeface="Montserrat"/>
                <a:ea typeface="Montserrat"/>
                <a:cs typeface="Montserrat"/>
                <a:sym typeface="Montserrat"/>
              </a:rPr>
              <a:t> </a:t>
            </a:r>
            <a:r>
              <a:rPr lang="en-US" sz="1703" dirty="0" err="1">
                <a:solidFill>
                  <a:srgbClr val="240960"/>
                </a:solidFill>
                <a:latin typeface="Montserrat"/>
                <a:ea typeface="Montserrat"/>
                <a:cs typeface="Montserrat"/>
                <a:sym typeface="Montserrat"/>
              </a:rPr>
              <a:t>en</a:t>
            </a:r>
            <a:r>
              <a:rPr lang="en-US" sz="1703" dirty="0">
                <a:solidFill>
                  <a:srgbClr val="240960"/>
                </a:solidFill>
                <a:latin typeface="Montserrat"/>
                <a:ea typeface="Montserrat"/>
                <a:cs typeface="Montserrat"/>
                <a:sym typeface="Montserrat"/>
              </a:rPr>
              <a:t> </a:t>
            </a:r>
            <a:r>
              <a:rPr lang="en-US" sz="1703" dirty="0" err="1">
                <a:solidFill>
                  <a:srgbClr val="240960"/>
                </a:solidFill>
                <a:latin typeface="Montserrat"/>
                <a:ea typeface="Montserrat"/>
                <a:cs typeface="Montserrat"/>
                <a:sym typeface="Montserrat"/>
              </a:rPr>
              <a:t>cas</a:t>
            </a:r>
            <a:r>
              <a:rPr lang="en-US" sz="1703" dirty="0">
                <a:solidFill>
                  <a:srgbClr val="240960"/>
                </a:solidFill>
                <a:latin typeface="Montserrat"/>
                <a:ea typeface="Montserrat"/>
                <a:cs typeface="Montserrat"/>
                <a:sym typeface="Montserrat"/>
              </a:rPr>
              <a:t> de panne du leader </a:t>
            </a:r>
            <a:r>
              <a:rPr lang="en-US" sz="1703" dirty="0" err="1">
                <a:solidFill>
                  <a:srgbClr val="240960"/>
                </a:solidFill>
                <a:latin typeface="Montserrat"/>
                <a:ea typeface="Montserrat"/>
                <a:cs typeface="Montserrat"/>
                <a:sym typeface="Montserrat"/>
              </a:rPr>
              <a:t>actuel</a:t>
            </a:r>
            <a:r>
              <a:rPr lang="en-US" sz="1703" dirty="0">
                <a:solidFill>
                  <a:srgbClr val="240960"/>
                </a:solidFill>
                <a:latin typeface="Montserrat"/>
                <a:ea typeface="Montserrat"/>
                <a:cs typeface="Montserrat"/>
                <a:sym typeface="Montserrat"/>
              </a:rPr>
              <a:t>.</a:t>
            </a:r>
          </a:p>
        </p:txBody>
      </p:sp>
      <p:grpSp>
        <p:nvGrpSpPr>
          <p:cNvPr id="23" name="Group 23"/>
          <p:cNvGrpSpPr/>
          <p:nvPr/>
        </p:nvGrpSpPr>
        <p:grpSpPr>
          <a:xfrm>
            <a:off x="9232402" y="4553817"/>
            <a:ext cx="262038" cy="262038"/>
            <a:chOff x="0" y="0"/>
            <a:chExt cx="812800" cy="812800"/>
          </a:xfrm>
        </p:grpSpPr>
        <p:sp>
          <p:nvSpPr>
            <p:cNvPr id="24" name="Freeform 2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5B45B5">
                    <a:alpha val="96000"/>
                  </a:srgbClr>
                </a:gs>
                <a:gs pos="100000">
                  <a:srgbClr val="8875D7">
                    <a:alpha val="96000"/>
                  </a:srgbClr>
                </a:gs>
              </a:gsLst>
              <a:lin ang="0"/>
            </a:gradFill>
          </p:spPr>
        </p:sp>
        <p:sp>
          <p:nvSpPr>
            <p:cNvPr id="25" name="TextBox 25"/>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pPr>
              <a:endParaRPr/>
            </a:p>
          </p:txBody>
        </p:sp>
      </p:grpSp>
      <p:sp>
        <p:nvSpPr>
          <p:cNvPr id="26" name="TextBox 26"/>
          <p:cNvSpPr txBox="1"/>
          <p:nvPr/>
        </p:nvSpPr>
        <p:spPr>
          <a:xfrm>
            <a:off x="9632473" y="4599144"/>
            <a:ext cx="3275504" cy="231025"/>
          </a:xfrm>
          <a:prstGeom prst="rect">
            <a:avLst/>
          </a:prstGeom>
        </p:spPr>
        <p:txBody>
          <a:bodyPr wrap="square" lIns="0" tIns="0" rIns="0" bIns="0" rtlCol="0" anchor="t">
            <a:spAutoFit/>
          </a:bodyPr>
          <a:lstStyle/>
          <a:p>
            <a:pPr marL="0" lvl="0" indent="0" algn="l">
              <a:lnSpc>
                <a:spcPts val="1706"/>
              </a:lnSpc>
            </a:pPr>
            <a:r>
              <a:rPr lang="en-US" sz="2132" b="1" dirty="0">
                <a:solidFill>
                  <a:srgbClr val="240960"/>
                </a:solidFill>
                <a:latin typeface="Montserrat Bold"/>
                <a:ea typeface="Montserrat Bold"/>
                <a:cs typeface="Montserrat Bold"/>
                <a:sym typeface="Montserrat Bold"/>
              </a:rPr>
              <a:t>Entrées </a:t>
            </a:r>
            <a:r>
              <a:rPr lang="en-US" sz="2132" b="1" dirty="0" err="1">
                <a:solidFill>
                  <a:srgbClr val="240960"/>
                </a:solidFill>
                <a:latin typeface="Montserrat Bold"/>
                <a:ea typeface="Montserrat Bold"/>
                <a:cs typeface="Montserrat Bold"/>
                <a:sym typeface="Montserrat Bold"/>
              </a:rPr>
              <a:t>committées</a:t>
            </a:r>
            <a:endParaRPr lang="en-US" sz="2132" b="1" dirty="0">
              <a:solidFill>
                <a:srgbClr val="240960"/>
              </a:solidFill>
              <a:latin typeface="Montserrat Bold"/>
              <a:ea typeface="Montserrat Bold"/>
              <a:cs typeface="Montserrat Bold"/>
              <a:sym typeface="Montserrat Bold"/>
            </a:endParaRPr>
          </a:p>
        </p:txBody>
      </p:sp>
      <p:sp>
        <p:nvSpPr>
          <p:cNvPr id="27" name="TextBox 27"/>
          <p:cNvSpPr txBox="1"/>
          <p:nvPr/>
        </p:nvSpPr>
        <p:spPr>
          <a:xfrm>
            <a:off x="9632473" y="7173269"/>
            <a:ext cx="7141841" cy="955955"/>
          </a:xfrm>
          <a:prstGeom prst="rect">
            <a:avLst/>
          </a:prstGeom>
        </p:spPr>
        <p:txBody>
          <a:bodyPr lIns="0" tIns="0" rIns="0" bIns="0" rtlCol="0" anchor="t">
            <a:spAutoFit/>
          </a:bodyPr>
          <a:lstStyle/>
          <a:p>
            <a:pPr marL="0" lvl="0" indent="0" algn="l">
              <a:lnSpc>
                <a:spcPts val="1941"/>
              </a:lnSpc>
            </a:pPr>
            <a:r>
              <a:rPr lang="en-US" sz="1703">
                <a:solidFill>
                  <a:srgbClr val="240960"/>
                </a:solidFill>
                <a:latin typeface="Montserrat"/>
                <a:ea typeface="Montserrat"/>
                <a:cs typeface="Montserrat"/>
                <a:sym typeface="Montserrat"/>
              </a:rPr>
              <a:t>Pour devenir leader, un candidat doit avoir un log au moins aussi à jour que la majorité des nœuds. Cette contrainte garantit que le nouveau leader possède toutes les entrées committées, assurant ainsi la cohérence du système.</a:t>
            </a:r>
          </a:p>
        </p:txBody>
      </p:sp>
      <p:grpSp>
        <p:nvGrpSpPr>
          <p:cNvPr id="28" name="Group 28"/>
          <p:cNvGrpSpPr/>
          <p:nvPr/>
        </p:nvGrpSpPr>
        <p:grpSpPr>
          <a:xfrm>
            <a:off x="9232402" y="6672555"/>
            <a:ext cx="262038" cy="262038"/>
            <a:chOff x="0" y="0"/>
            <a:chExt cx="812800" cy="812800"/>
          </a:xfrm>
        </p:grpSpPr>
        <p:sp>
          <p:nvSpPr>
            <p:cNvPr id="29" name="Freeform 2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5B45B5">
                    <a:alpha val="96000"/>
                  </a:srgbClr>
                </a:gs>
                <a:gs pos="100000">
                  <a:srgbClr val="8875D7">
                    <a:alpha val="96000"/>
                  </a:srgbClr>
                </a:gs>
              </a:gsLst>
              <a:lin ang="0"/>
            </a:gradFill>
          </p:spPr>
        </p:sp>
        <p:sp>
          <p:nvSpPr>
            <p:cNvPr id="30" name="TextBox 30"/>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pPr>
              <a:endParaRPr/>
            </a:p>
          </p:txBody>
        </p:sp>
      </p:grpSp>
      <p:sp>
        <p:nvSpPr>
          <p:cNvPr id="31" name="TextBox 31"/>
          <p:cNvSpPr txBox="1"/>
          <p:nvPr/>
        </p:nvSpPr>
        <p:spPr>
          <a:xfrm>
            <a:off x="9632473" y="6717882"/>
            <a:ext cx="4967581" cy="247585"/>
          </a:xfrm>
          <a:prstGeom prst="rect">
            <a:avLst/>
          </a:prstGeom>
        </p:spPr>
        <p:txBody>
          <a:bodyPr lIns="0" tIns="0" rIns="0" bIns="0" rtlCol="0" anchor="t">
            <a:spAutoFit/>
          </a:bodyPr>
          <a:lstStyle/>
          <a:p>
            <a:pPr marL="0" lvl="0" indent="0" algn="l">
              <a:lnSpc>
                <a:spcPts val="1706"/>
              </a:lnSpc>
            </a:pPr>
            <a:r>
              <a:rPr lang="en-US" sz="2132" b="1">
                <a:solidFill>
                  <a:srgbClr val="240960"/>
                </a:solidFill>
                <a:latin typeface="Montserrat Bold"/>
                <a:ea typeface="Montserrat Bold"/>
                <a:cs typeface="Montserrat Bold"/>
                <a:sym typeface="Montserrat Bold"/>
              </a:rPr>
              <a:t>Contraintes d'élection</a:t>
            </a:r>
          </a:p>
        </p:txBody>
      </p:sp>
      <p:sp>
        <p:nvSpPr>
          <p:cNvPr id="32" name="Freeform 32"/>
          <p:cNvSpPr/>
          <p:nvPr/>
        </p:nvSpPr>
        <p:spPr>
          <a:xfrm>
            <a:off x="1028700" y="9444450"/>
            <a:ext cx="415258" cy="415258"/>
          </a:xfrm>
          <a:custGeom>
            <a:avLst/>
            <a:gdLst/>
            <a:ahLst/>
            <a:cxnLst/>
            <a:rect l="l" t="t" r="r" b="b"/>
            <a:pathLst>
              <a:path w="415258" h="415258">
                <a:moveTo>
                  <a:pt x="0" y="0"/>
                </a:moveTo>
                <a:lnTo>
                  <a:pt x="415258" y="0"/>
                </a:lnTo>
                <a:lnTo>
                  <a:pt x="415258" y="415258"/>
                </a:lnTo>
                <a:lnTo>
                  <a:pt x="0" y="415258"/>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33" name="TextBox 33"/>
          <p:cNvSpPr txBox="1"/>
          <p:nvPr/>
        </p:nvSpPr>
        <p:spPr>
          <a:xfrm>
            <a:off x="16050268" y="9473025"/>
            <a:ext cx="724046" cy="242707"/>
          </a:xfrm>
          <a:prstGeom prst="rect">
            <a:avLst/>
          </a:prstGeom>
        </p:spPr>
        <p:txBody>
          <a:bodyPr lIns="0" tIns="0" rIns="0" bIns="0" rtlCol="0" anchor="t">
            <a:spAutoFit/>
          </a:bodyPr>
          <a:lstStyle/>
          <a:p>
            <a:pPr marL="0" lvl="0" indent="0" algn="l">
              <a:lnSpc>
                <a:spcPts val="1857"/>
              </a:lnSpc>
            </a:pPr>
            <a:r>
              <a:rPr lang="en-US" sz="1821" b="1">
                <a:solidFill>
                  <a:srgbClr val="240960"/>
                </a:solidFill>
                <a:latin typeface="Montserrat Bold"/>
                <a:ea typeface="Montserrat Bold"/>
                <a:cs typeface="Montserrat Bold"/>
                <a:sym typeface="Montserrat Bold"/>
              </a:rPr>
              <a:t>Page</a:t>
            </a:r>
          </a:p>
        </p:txBody>
      </p:sp>
      <p:sp>
        <p:nvSpPr>
          <p:cNvPr id="34" name="TextBox 34"/>
          <p:cNvSpPr txBox="1"/>
          <p:nvPr/>
        </p:nvSpPr>
        <p:spPr>
          <a:xfrm>
            <a:off x="16774314" y="9507706"/>
            <a:ext cx="484986" cy="208026"/>
          </a:xfrm>
          <a:prstGeom prst="rect">
            <a:avLst/>
          </a:prstGeom>
        </p:spPr>
        <p:txBody>
          <a:bodyPr lIns="0" tIns="0" rIns="0" bIns="0" rtlCol="0" anchor="t">
            <a:spAutoFit/>
          </a:bodyPr>
          <a:lstStyle/>
          <a:p>
            <a:pPr marL="0" lvl="0" indent="0" algn="l">
              <a:lnSpc>
                <a:spcPts val="1631"/>
              </a:lnSpc>
            </a:pPr>
            <a:r>
              <a:rPr lang="en-US" sz="1599">
                <a:solidFill>
                  <a:srgbClr val="240960"/>
                </a:solidFill>
                <a:latin typeface="Montserrat"/>
                <a:ea typeface="Montserrat"/>
                <a:cs typeface="Montserrat"/>
                <a:sym typeface="Montserrat"/>
              </a:rPr>
              <a:t>07</a:t>
            </a:r>
          </a:p>
        </p:txBody>
      </p:sp>
      <p:sp>
        <p:nvSpPr>
          <p:cNvPr id="35" name="TextBox 35"/>
          <p:cNvSpPr txBox="1"/>
          <p:nvPr/>
        </p:nvSpPr>
        <p:spPr>
          <a:xfrm>
            <a:off x="1949447" y="952168"/>
            <a:ext cx="1194260" cy="288416"/>
          </a:xfrm>
          <a:prstGeom prst="rect">
            <a:avLst/>
          </a:prstGeom>
        </p:spPr>
        <p:txBody>
          <a:bodyPr lIns="0" tIns="0" rIns="0" bIns="0" rtlCol="0" anchor="t">
            <a:spAutoFit/>
          </a:bodyPr>
          <a:lstStyle/>
          <a:p>
            <a:pPr marL="0" lvl="0" indent="0" algn="l">
              <a:lnSpc>
                <a:spcPts val="2243"/>
              </a:lnSpc>
            </a:pPr>
            <a:r>
              <a:rPr lang="en-US" sz="2199" b="1">
                <a:solidFill>
                  <a:srgbClr val="240960"/>
                </a:solidFill>
                <a:latin typeface="Montserrat Bold"/>
                <a:ea typeface="Montserrat Bold"/>
                <a:cs typeface="Montserrat Bold"/>
                <a:sym typeface="Montserrat Bold"/>
              </a:rPr>
              <a:t>Raft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DE5FF"/>
        </a:solidFill>
        <a:effectLst/>
      </p:bgPr>
    </p:bg>
    <p:spTree>
      <p:nvGrpSpPr>
        <p:cNvPr id="1" name=""/>
        <p:cNvGrpSpPr/>
        <p:nvPr/>
      </p:nvGrpSpPr>
      <p:grpSpPr>
        <a:xfrm>
          <a:off x="0" y="0"/>
          <a:ext cx="0" cy="0"/>
          <a:chOff x="0" y="0"/>
          <a:chExt cx="0" cy="0"/>
        </a:xfrm>
      </p:grpSpPr>
      <p:grpSp>
        <p:nvGrpSpPr>
          <p:cNvPr id="2" name="Group 2"/>
          <p:cNvGrpSpPr/>
          <p:nvPr/>
        </p:nvGrpSpPr>
        <p:grpSpPr>
          <a:xfrm>
            <a:off x="11623420" y="5741165"/>
            <a:ext cx="7406570" cy="7406570"/>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C67BF">
                    <a:alpha val="58000"/>
                  </a:srgbClr>
                </a:gs>
                <a:gs pos="100000">
                  <a:srgbClr val="F7ACFF">
                    <a:alpha val="58000"/>
                  </a:srgbClr>
                </a:gs>
              </a:gsLst>
              <a:lin ang="0"/>
            </a:gradFill>
          </p:spPr>
        </p:sp>
        <p:sp>
          <p:nvSpPr>
            <p:cNvPr id="4" name="TextBox 4"/>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pPr>
              <a:endParaRPr/>
            </a:p>
          </p:txBody>
        </p:sp>
      </p:grpSp>
      <p:grpSp>
        <p:nvGrpSpPr>
          <p:cNvPr id="5" name="Group 5"/>
          <p:cNvGrpSpPr/>
          <p:nvPr/>
        </p:nvGrpSpPr>
        <p:grpSpPr>
          <a:xfrm>
            <a:off x="-767104" y="-2512338"/>
            <a:ext cx="5214383" cy="521438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C67BF">
                    <a:alpha val="58000"/>
                  </a:srgbClr>
                </a:gs>
                <a:gs pos="100000">
                  <a:srgbClr val="F7ACFF">
                    <a:alpha val="58000"/>
                  </a:srgbClr>
                </a:gs>
              </a:gsLst>
              <a:lin ang="0"/>
            </a:gradFill>
          </p:spPr>
        </p:sp>
        <p:sp>
          <p:nvSpPr>
            <p:cNvPr id="7" name="TextBox 7"/>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pPr>
              <a:endParaRPr/>
            </a:p>
          </p:txBody>
        </p:sp>
      </p:grpSp>
      <p:sp>
        <p:nvSpPr>
          <p:cNvPr id="8" name="Freeform 8"/>
          <p:cNvSpPr/>
          <p:nvPr/>
        </p:nvSpPr>
        <p:spPr>
          <a:xfrm>
            <a:off x="1341858" y="848587"/>
            <a:ext cx="490684" cy="456609"/>
          </a:xfrm>
          <a:custGeom>
            <a:avLst/>
            <a:gdLst/>
            <a:ahLst/>
            <a:cxnLst/>
            <a:rect l="l" t="t" r="r" b="b"/>
            <a:pathLst>
              <a:path w="490684" h="456609">
                <a:moveTo>
                  <a:pt x="0" y="0"/>
                </a:moveTo>
                <a:lnTo>
                  <a:pt x="490684" y="0"/>
                </a:lnTo>
                <a:lnTo>
                  <a:pt x="490684" y="456609"/>
                </a:lnTo>
                <a:lnTo>
                  <a:pt x="0" y="456609"/>
                </a:lnTo>
                <a:lnTo>
                  <a:pt x="0" y="0"/>
                </a:lnTo>
                <a:close/>
              </a:path>
            </a:pathLst>
          </a:custGeom>
          <a:blipFill>
            <a:blip r:embed="rId3"/>
            <a:stretch>
              <a:fillRect/>
            </a:stretch>
          </a:blipFill>
        </p:spPr>
      </p:sp>
      <p:sp>
        <p:nvSpPr>
          <p:cNvPr id="9" name="TextBox 9"/>
          <p:cNvSpPr txBox="1"/>
          <p:nvPr/>
        </p:nvSpPr>
        <p:spPr>
          <a:xfrm>
            <a:off x="1595013" y="3130670"/>
            <a:ext cx="4253035" cy="499342"/>
          </a:xfrm>
          <a:prstGeom prst="rect">
            <a:avLst/>
          </a:prstGeom>
        </p:spPr>
        <p:txBody>
          <a:bodyPr lIns="0" tIns="0" rIns="0" bIns="0" rtlCol="0" anchor="t">
            <a:spAutoFit/>
          </a:bodyPr>
          <a:lstStyle/>
          <a:p>
            <a:pPr marL="0" lvl="0" indent="0" algn="l">
              <a:lnSpc>
                <a:spcPts val="3599"/>
              </a:lnSpc>
            </a:pPr>
            <a:r>
              <a:rPr lang="en-US" sz="4499" b="1">
                <a:solidFill>
                  <a:srgbClr val="240960"/>
                </a:solidFill>
                <a:latin typeface="Montserrat Bold"/>
                <a:ea typeface="Montserrat Bold"/>
                <a:cs typeface="Montserrat Bold"/>
                <a:sym typeface="Montserrat Bold"/>
              </a:rPr>
              <a:t>Changement</a:t>
            </a:r>
          </a:p>
        </p:txBody>
      </p:sp>
      <p:grpSp>
        <p:nvGrpSpPr>
          <p:cNvPr id="10" name="Group 10"/>
          <p:cNvGrpSpPr/>
          <p:nvPr/>
        </p:nvGrpSpPr>
        <p:grpSpPr>
          <a:xfrm>
            <a:off x="4747172" y="3469231"/>
            <a:ext cx="1343260" cy="1343260"/>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C67BF">
                    <a:alpha val="58000"/>
                  </a:srgbClr>
                </a:gs>
                <a:gs pos="100000">
                  <a:srgbClr val="F7ACFF">
                    <a:alpha val="0"/>
                  </a:srgbClr>
                </a:gs>
              </a:gsLst>
              <a:lin ang="0"/>
            </a:gradFill>
          </p:spPr>
        </p:sp>
        <p:sp>
          <p:nvSpPr>
            <p:cNvPr id="12" name="TextBox 12"/>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pPr>
              <a:endParaRPr/>
            </a:p>
          </p:txBody>
        </p:sp>
      </p:grpSp>
      <p:sp>
        <p:nvSpPr>
          <p:cNvPr id="13" name="TextBox 13"/>
          <p:cNvSpPr txBox="1"/>
          <p:nvPr/>
        </p:nvSpPr>
        <p:spPr>
          <a:xfrm>
            <a:off x="1595013" y="3727053"/>
            <a:ext cx="5374471" cy="499342"/>
          </a:xfrm>
          <a:prstGeom prst="rect">
            <a:avLst/>
          </a:prstGeom>
        </p:spPr>
        <p:txBody>
          <a:bodyPr lIns="0" tIns="0" rIns="0" bIns="0" rtlCol="0" anchor="t">
            <a:spAutoFit/>
          </a:bodyPr>
          <a:lstStyle/>
          <a:p>
            <a:pPr marL="0" lvl="0" indent="0" algn="l">
              <a:lnSpc>
                <a:spcPts val="3599"/>
              </a:lnSpc>
            </a:pPr>
            <a:r>
              <a:rPr lang="en-US" sz="4499">
                <a:solidFill>
                  <a:srgbClr val="240960"/>
                </a:solidFill>
                <a:latin typeface="Montserrat"/>
                <a:ea typeface="Montserrat"/>
                <a:cs typeface="Montserrat"/>
                <a:sym typeface="Montserrat"/>
              </a:rPr>
              <a:t>de configuration</a:t>
            </a:r>
          </a:p>
        </p:txBody>
      </p:sp>
      <p:sp>
        <p:nvSpPr>
          <p:cNvPr id="14" name="TextBox 14"/>
          <p:cNvSpPr txBox="1"/>
          <p:nvPr/>
        </p:nvSpPr>
        <p:spPr>
          <a:xfrm>
            <a:off x="2194073" y="6004338"/>
            <a:ext cx="8310740" cy="610822"/>
          </a:xfrm>
          <a:prstGeom prst="rect">
            <a:avLst/>
          </a:prstGeom>
        </p:spPr>
        <p:txBody>
          <a:bodyPr lIns="0" tIns="0" rIns="0" bIns="0" rtlCol="0" anchor="t">
            <a:spAutoFit/>
          </a:bodyPr>
          <a:lstStyle/>
          <a:p>
            <a:pPr marL="0" lvl="0" indent="0" algn="l">
              <a:lnSpc>
                <a:spcPts val="1607"/>
              </a:lnSpc>
            </a:pPr>
            <a:r>
              <a:rPr lang="en-US" sz="1410">
                <a:solidFill>
                  <a:srgbClr val="240960"/>
                </a:solidFill>
                <a:latin typeface="Montserrat"/>
                <a:ea typeface="Montserrat"/>
                <a:cs typeface="Montserrat"/>
                <a:sym typeface="Montserrat"/>
              </a:rPr>
              <a:t>L'ajout ou le retrait de nœuds dans un cluster Raft s'effectue via un mécanisme de consensus conjoint ("joint consensus"). Cette approche permet de modifier la configuration sans interrompre le service ni risquer d'incohérences.</a:t>
            </a:r>
          </a:p>
        </p:txBody>
      </p:sp>
      <p:grpSp>
        <p:nvGrpSpPr>
          <p:cNvPr id="15" name="Group 15"/>
          <p:cNvGrpSpPr/>
          <p:nvPr/>
        </p:nvGrpSpPr>
        <p:grpSpPr>
          <a:xfrm>
            <a:off x="1828391" y="5479126"/>
            <a:ext cx="262038" cy="262038"/>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5B45B5">
                    <a:alpha val="96000"/>
                  </a:srgbClr>
                </a:gs>
                <a:gs pos="100000">
                  <a:srgbClr val="8875D7">
                    <a:alpha val="96000"/>
                  </a:srgbClr>
                </a:gs>
              </a:gsLst>
              <a:lin ang="0"/>
            </a:gradFill>
          </p:spPr>
        </p:sp>
        <p:sp>
          <p:nvSpPr>
            <p:cNvPr id="17" name="TextBox 17"/>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pPr>
              <a:endParaRPr/>
            </a:p>
          </p:txBody>
        </p:sp>
      </p:grpSp>
      <p:sp>
        <p:nvSpPr>
          <p:cNvPr id="18" name="TextBox 18"/>
          <p:cNvSpPr txBox="1"/>
          <p:nvPr/>
        </p:nvSpPr>
        <p:spPr>
          <a:xfrm>
            <a:off x="2194073" y="5540844"/>
            <a:ext cx="2869223" cy="200321"/>
          </a:xfrm>
          <a:prstGeom prst="rect">
            <a:avLst/>
          </a:prstGeom>
        </p:spPr>
        <p:txBody>
          <a:bodyPr lIns="0" tIns="0" rIns="0" bIns="0" rtlCol="0" anchor="t">
            <a:spAutoFit/>
          </a:bodyPr>
          <a:lstStyle/>
          <a:p>
            <a:pPr marL="0" lvl="0" indent="0" algn="l">
              <a:lnSpc>
                <a:spcPts val="1412"/>
              </a:lnSpc>
            </a:pPr>
            <a:r>
              <a:rPr lang="en-US" sz="1765" b="1">
                <a:solidFill>
                  <a:srgbClr val="240960"/>
                </a:solidFill>
                <a:latin typeface="Montserrat Bold"/>
                <a:ea typeface="Montserrat Bold"/>
                <a:cs typeface="Montserrat Bold"/>
                <a:sym typeface="Montserrat Bold"/>
              </a:rPr>
              <a:t>Joint Consensus</a:t>
            </a:r>
          </a:p>
        </p:txBody>
      </p:sp>
      <p:sp>
        <p:nvSpPr>
          <p:cNvPr id="19" name="TextBox 19"/>
          <p:cNvSpPr txBox="1"/>
          <p:nvPr/>
        </p:nvSpPr>
        <p:spPr>
          <a:xfrm>
            <a:off x="2194073" y="7511869"/>
            <a:ext cx="8310740" cy="610822"/>
          </a:xfrm>
          <a:prstGeom prst="rect">
            <a:avLst/>
          </a:prstGeom>
        </p:spPr>
        <p:txBody>
          <a:bodyPr lIns="0" tIns="0" rIns="0" bIns="0" rtlCol="0" anchor="t">
            <a:spAutoFit/>
          </a:bodyPr>
          <a:lstStyle/>
          <a:p>
            <a:pPr marL="0" lvl="0" indent="0" algn="l">
              <a:lnSpc>
                <a:spcPts val="1607"/>
              </a:lnSpc>
            </a:pPr>
            <a:r>
              <a:rPr lang="en-US" sz="1410">
                <a:solidFill>
                  <a:srgbClr val="240960"/>
                </a:solidFill>
                <a:latin typeface="Montserrat"/>
                <a:ea typeface="Montserrat"/>
                <a:cs typeface="Montserrat"/>
                <a:sym typeface="Montserrat"/>
              </a:rPr>
              <a:t>Pendant la transition, le cluster fonctionne avec l'ancienne et la nouvelle configuration simultanément. Une fois la majorité des deux groupes d'accord, la nouvelle configuration devient effective, garantissant cohérence et disponibilité.</a:t>
            </a:r>
          </a:p>
        </p:txBody>
      </p:sp>
      <p:grpSp>
        <p:nvGrpSpPr>
          <p:cNvPr id="20" name="Group 20"/>
          <p:cNvGrpSpPr/>
          <p:nvPr/>
        </p:nvGrpSpPr>
        <p:grpSpPr>
          <a:xfrm>
            <a:off x="1828391" y="6989806"/>
            <a:ext cx="262038" cy="262038"/>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5B45B5">
                    <a:alpha val="96000"/>
                  </a:srgbClr>
                </a:gs>
                <a:gs pos="100000">
                  <a:srgbClr val="8875D7">
                    <a:alpha val="96000"/>
                  </a:srgbClr>
                </a:gs>
              </a:gsLst>
              <a:lin ang="0"/>
            </a:gradFill>
          </p:spPr>
        </p:sp>
        <p:sp>
          <p:nvSpPr>
            <p:cNvPr id="22" name="TextBox 22"/>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pPr>
              <a:endParaRPr/>
            </a:p>
          </p:txBody>
        </p:sp>
      </p:grpSp>
      <p:sp>
        <p:nvSpPr>
          <p:cNvPr id="23" name="TextBox 23"/>
          <p:cNvSpPr txBox="1"/>
          <p:nvPr/>
        </p:nvSpPr>
        <p:spPr>
          <a:xfrm>
            <a:off x="2194073" y="7056481"/>
            <a:ext cx="3653975" cy="200321"/>
          </a:xfrm>
          <a:prstGeom prst="rect">
            <a:avLst/>
          </a:prstGeom>
        </p:spPr>
        <p:txBody>
          <a:bodyPr lIns="0" tIns="0" rIns="0" bIns="0" rtlCol="0" anchor="t">
            <a:spAutoFit/>
          </a:bodyPr>
          <a:lstStyle/>
          <a:p>
            <a:pPr marL="0" lvl="0" indent="0" algn="l">
              <a:lnSpc>
                <a:spcPts val="1412"/>
              </a:lnSpc>
            </a:pPr>
            <a:r>
              <a:rPr lang="en-US" sz="1765" b="1">
                <a:solidFill>
                  <a:srgbClr val="240960"/>
                </a:solidFill>
                <a:latin typeface="Montserrat Bold"/>
                <a:ea typeface="Montserrat Bold"/>
                <a:cs typeface="Montserrat Bold"/>
                <a:sym typeface="Montserrat Bold"/>
              </a:rPr>
              <a:t>Maintien de la disponibilité</a:t>
            </a:r>
          </a:p>
        </p:txBody>
      </p:sp>
      <p:sp>
        <p:nvSpPr>
          <p:cNvPr id="24" name="Freeform 24"/>
          <p:cNvSpPr/>
          <p:nvPr/>
        </p:nvSpPr>
        <p:spPr>
          <a:xfrm>
            <a:off x="11316715" y="1224047"/>
            <a:ext cx="5742639" cy="7648353"/>
          </a:xfrm>
          <a:custGeom>
            <a:avLst/>
            <a:gdLst/>
            <a:ahLst/>
            <a:cxnLst/>
            <a:rect l="l" t="t" r="r" b="b"/>
            <a:pathLst>
              <a:path w="5742639" h="7648353">
                <a:moveTo>
                  <a:pt x="0" y="0"/>
                </a:moveTo>
                <a:lnTo>
                  <a:pt x="5742639" y="0"/>
                </a:lnTo>
                <a:lnTo>
                  <a:pt x="5742639" y="7648354"/>
                </a:lnTo>
                <a:lnTo>
                  <a:pt x="0" y="7648354"/>
                </a:lnTo>
                <a:lnTo>
                  <a:pt x="0" y="0"/>
                </a:lnTo>
                <a:close/>
              </a:path>
            </a:pathLst>
          </a:custGeom>
          <a:blipFill>
            <a:blip r:embed="rId4"/>
            <a:stretch>
              <a:fillRect/>
            </a:stretch>
          </a:blipFill>
        </p:spPr>
      </p:sp>
      <p:grpSp>
        <p:nvGrpSpPr>
          <p:cNvPr id="25" name="Group 25"/>
          <p:cNvGrpSpPr/>
          <p:nvPr/>
        </p:nvGrpSpPr>
        <p:grpSpPr>
          <a:xfrm>
            <a:off x="12546808" y="1923434"/>
            <a:ext cx="3324339" cy="6249579"/>
            <a:chOff x="0" y="0"/>
            <a:chExt cx="1018337" cy="1914419"/>
          </a:xfrm>
        </p:grpSpPr>
        <p:sp>
          <p:nvSpPr>
            <p:cNvPr id="26" name="Freeform 26"/>
            <p:cNvSpPr/>
            <p:nvPr/>
          </p:nvSpPr>
          <p:spPr>
            <a:xfrm>
              <a:off x="0" y="0"/>
              <a:ext cx="1018337" cy="1914419"/>
            </a:xfrm>
            <a:custGeom>
              <a:avLst/>
              <a:gdLst/>
              <a:ahLst/>
              <a:cxnLst/>
              <a:rect l="l" t="t" r="r" b="b"/>
              <a:pathLst>
                <a:path w="1018337" h="1914419">
                  <a:moveTo>
                    <a:pt x="0" y="0"/>
                  </a:moveTo>
                  <a:lnTo>
                    <a:pt x="1018337" y="0"/>
                  </a:lnTo>
                  <a:lnTo>
                    <a:pt x="1018337" y="1914419"/>
                  </a:lnTo>
                  <a:lnTo>
                    <a:pt x="0" y="1914419"/>
                  </a:lnTo>
                  <a:close/>
                </a:path>
              </a:pathLst>
            </a:custGeom>
            <a:blipFill>
              <a:blip r:embed="rId5"/>
              <a:stretch>
                <a:fillRect l="-3578" r="-3578"/>
              </a:stretch>
            </a:blipFill>
          </p:spPr>
        </p:sp>
      </p:grpSp>
      <p:grpSp>
        <p:nvGrpSpPr>
          <p:cNvPr id="27" name="Group 27"/>
          <p:cNvGrpSpPr/>
          <p:nvPr/>
        </p:nvGrpSpPr>
        <p:grpSpPr>
          <a:xfrm>
            <a:off x="11623420" y="1477600"/>
            <a:ext cx="1343260" cy="1343260"/>
            <a:chOff x="0" y="0"/>
            <a:chExt cx="812800" cy="812800"/>
          </a:xfrm>
        </p:grpSpPr>
        <p:sp>
          <p:nvSpPr>
            <p:cNvPr id="28" name="Freeform 2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C67BF">
                    <a:alpha val="58000"/>
                  </a:srgbClr>
                </a:gs>
                <a:gs pos="100000">
                  <a:srgbClr val="F7ACFF">
                    <a:alpha val="0"/>
                  </a:srgbClr>
                </a:gs>
              </a:gsLst>
              <a:lin ang="0"/>
            </a:gradFill>
          </p:spPr>
        </p:sp>
        <p:sp>
          <p:nvSpPr>
            <p:cNvPr id="29" name="TextBox 29"/>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pPr>
              <a:endParaRPr/>
            </a:p>
          </p:txBody>
        </p:sp>
      </p:grpSp>
      <p:sp>
        <p:nvSpPr>
          <p:cNvPr id="30" name="Freeform 30"/>
          <p:cNvSpPr/>
          <p:nvPr/>
        </p:nvSpPr>
        <p:spPr>
          <a:xfrm>
            <a:off x="1028700" y="9444450"/>
            <a:ext cx="415258" cy="415258"/>
          </a:xfrm>
          <a:custGeom>
            <a:avLst/>
            <a:gdLst/>
            <a:ahLst/>
            <a:cxnLst/>
            <a:rect l="l" t="t" r="r" b="b"/>
            <a:pathLst>
              <a:path w="415258" h="415258">
                <a:moveTo>
                  <a:pt x="0" y="0"/>
                </a:moveTo>
                <a:lnTo>
                  <a:pt x="415258" y="0"/>
                </a:lnTo>
                <a:lnTo>
                  <a:pt x="415258" y="415258"/>
                </a:lnTo>
                <a:lnTo>
                  <a:pt x="0" y="415258"/>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fr-FR"/>
          </a:p>
        </p:txBody>
      </p:sp>
      <p:sp>
        <p:nvSpPr>
          <p:cNvPr id="31" name="TextBox 31"/>
          <p:cNvSpPr txBox="1"/>
          <p:nvPr/>
        </p:nvSpPr>
        <p:spPr>
          <a:xfrm>
            <a:off x="16050268" y="9473025"/>
            <a:ext cx="724046" cy="242707"/>
          </a:xfrm>
          <a:prstGeom prst="rect">
            <a:avLst/>
          </a:prstGeom>
        </p:spPr>
        <p:txBody>
          <a:bodyPr lIns="0" tIns="0" rIns="0" bIns="0" rtlCol="0" anchor="t">
            <a:spAutoFit/>
          </a:bodyPr>
          <a:lstStyle/>
          <a:p>
            <a:pPr marL="0" lvl="0" indent="0" algn="l">
              <a:lnSpc>
                <a:spcPts val="1857"/>
              </a:lnSpc>
            </a:pPr>
            <a:r>
              <a:rPr lang="en-US" sz="1821" b="1">
                <a:solidFill>
                  <a:srgbClr val="240960"/>
                </a:solidFill>
                <a:latin typeface="Montserrat Bold"/>
                <a:ea typeface="Montserrat Bold"/>
                <a:cs typeface="Montserrat Bold"/>
                <a:sym typeface="Montserrat Bold"/>
              </a:rPr>
              <a:t>Page</a:t>
            </a:r>
          </a:p>
        </p:txBody>
      </p:sp>
      <p:sp>
        <p:nvSpPr>
          <p:cNvPr id="32" name="TextBox 32"/>
          <p:cNvSpPr txBox="1"/>
          <p:nvPr/>
        </p:nvSpPr>
        <p:spPr>
          <a:xfrm>
            <a:off x="16774314" y="9507706"/>
            <a:ext cx="484986" cy="208026"/>
          </a:xfrm>
          <a:prstGeom prst="rect">
            <a:avLst/>
          </a:prstGeom>
        </p:spPr>
        <p:txBody>
          <a:bodyPr lIns="0" tIns="0" rIns="0" bIns="0" rtlCol="0" anchor="t">
            <a:spAutoFit/>
          </a:bodyPr>
          <a:lstStyle/>
          <a:p>
            <a:pPr marL="0" lvl="0" indent="0" algn="l">
              <a:lnSpc>
                <a:spcPts val="1631"/>
              </a:lnSpc>
            </a:pPr>
            <a:r>
              <a:rPr lang="en-US" sz="1599">
                <a:solidFill>
                  <a:srgbClr val="240960"/>
                </a:solidFill>
                <a:latin typeface="Montserrat"/>
                <a:ea typeface="Montserrat"/>
                <a:cs typeface="Montserrat"/>
                <a:sym typeface="Montserrat"/>
              </a:rPr>
              <a:t>08</a:t>
            </a:r>
          </a:p>
        </p:txBody>
      </p:sp>
      <p:sp>
        <p:nvSpPr>
          <p:cNvPr id="33" name="TextBox 33"/>
          <p:cNvSpPr txBox="1"/>
          <p:nvPr/>
        </p:nvSpPr>
        <p:spPr>
          <a:xfrm>
            <a:off x="1959410" y="878657"/>
            <a:ext cx="1194260" cy="426539"/>
          </a:xfrm>
          <a:prstGeom prst="rect">
            <a:avLst/>
          </a:prstGeom>
        </p:spPr>
        <p:txBody>
          <a:bodyPr lIns="0" tIns="0" rIns="0" bIns="0" rtlCol="0" anchor="t">
            <a:spAutoFit/>
          </a:bodyPr>
          <a:lstStyle/>
          <a:p>
            <a:pPr marL="0" lvl="0" indent="0" algn="l">
              <a:lnSpc>
                <a:spcPts val="1676"/>
              </a:lnSpc>
            </a:pPr>
            <a:r>
              <a:rPr lang="en-US" sz="1643" b="1">
                <a:solidFill>
                  <a:srgbClr val="240960"/>
                </a:solidFill>
                <a:latin typeface="Montserrat Bold"/>
                <a:ea typeface="Montserrat Bold"/>
                <a:cs typeface="Montserrat Bold"/>
                <a:sym typeface="Montserrat Bold"/>
              </a:rPr>
              <a:t>Raft Consensus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DE5FF"/>
        </a:solidFill>
        <a:effectLst/>
      </p:bgPr>
    </p:bg>
    <p:spTree>
      <p:nvGrpSpPr>
        <p:cNvPr id="1" name=""/>
        <p:cNvGrpSpPr/>
        <p:nvPr/>
      </p:nvGrpSpPr>
      <p:grpSpPr>
        <a:xfrm>
          <a:off x="0" y="0"/>
          <a:ext cx="0" cy="0"/>
          <a:chOff x="0" y="0"/>
          <a:chExt cx="0" cy="0"/>
        </a:xfrm>
      </p:grpSpPr>
      <p:grpSp>
        <p:nvGrpSpPr>
          <p:cNvPr id="2" name="Group 2"/>
          <p:cNvGrpSpPr/>
          <p:nvPr/>
        </p:nvGrpSpPr>
        <p:grpSpPr>
          <a:xfrm rot="-9199303">
            <a:off x="11471833" y="8815521"/>
            <a:ext cx="1256320" cy="1256320"/>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C67BF">
                    <a:alpha val="96000"/>
                  </a:srgbClr>
                </a:gs>
                <a:gs pos="100000">
                  <a:srgbClr val="F7ACFF">
                    <a:alpha val="0"/>
                  </a:srgbClr>
                </a:gs>
              </a:gsLst>
              <a:lin ang="0"/>
            </a:gradFill>
          </p:spPr>
        </p:sp>
        <p:sp>
          <p:nvSpPr>
            <p:cNvPr id="4" name="TextBox 4"/>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pPr>
              <a:endParaRPr/>
            </a:p>
          </p:txBody>
        </p:sp>
      </p:grpSp>
      <p:sp>
        <p:nvSpPr>
          <p:cNvPr id="5" name="Freeform 5"/>
          <p:cNvSpPr/>
          <p:nvPr/>
        </p:nvSpPr>
        <p:spPr>
          <a:xfrm>
            <a:off x="1349938" y="875473"/>
            <a:ext cx="490149" cy="403705"/>
          </a:xfrm>
          <a:custGeom>
            <a:avLst/>
            <a:gdLst/>
            <a:ahLst/>
            <a:cxnLst/>
            <a:rect l="l" t="t" r="r" b="b"/>
            <a:pathLst>
              <a:path w="490149" h="403705">
                <a:moveTo>
                  <a:pt x="0" y="0"/>
                </a:moveTo>
                <a:lnTo>
                  <a:pt x="490149" y="0"/>
                </a:lnTo>
                <a:lnTo>
                  <a:pt x="490149" y="403705"/>
                </a:lnTo>
                <a:lnTo>
                  <a:pt x="0" y="403705"/>
                </a:lnTo>
                <a:lnTo>
                  <a:pt x="0" y="0"/>
                </a:lnTo>
                <a:close/>
              </a:path>
            </a:pathLst>
          </a:custGeom>
          <a:blipFill>
            <a:blip>
              <a:extLst>
                <a:ext uri="{96DAC541-7B7A-43D3-8B79-37D633B846F1}">
                  <asvg:svgBlip xmlns:asvg="http://schemas.microsoft.com/office/drawing/2016/SVG/main" r:embed="rId3"/>
                </a:ext>
              </a:extLst>
            </a:blip>
            <a:stretch>
              <a:fillRect/>
            </a:stretch>
          </a:blipFill>
        </p:spPr>
      </p:sp>
      <p:grpSp>
        <p:nvGrpSpPr>
          <p:cNvPr id="6" name="Group 6"/>
          <p:cNvGrpSpPr/>
          <p:nvPr/>
        </p:nvGrpSpPr>
        <p:grpSpPr>
          <a:xfrm>
            <a:off x="1443958" y="4585518"/>
            <a:ext cx="1256320" cy="1256320"/>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C67BF">
                    <a:alpha val="96000"/>
                  </a:srgbClr>
                </a:gs>
                <a:gs pos="100000">
                  <a:srgbClr val="F7ACFF">
                    <a:alpha val="0"/>
                  </a:srgbClr>
                </a:gs>
              </a:gsLst>
              <a:lin ang="0"/>
            </a:gradFill>
          </p:spPr>
        </p:sp>
        <p:sp>
          <p:nvSpPr>
            <p:cNvPr id="8" name="TextBox 8"/>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pPr>
              <a:endParaRPr/>
            </a:p>
          </p:txBody>
        </p:sp>
      </p:grpSp>
      <p:grpSp>
        <p:nvGrpSpPr>
          <p:cNvPr id="9" name="Group 9"/>
          <p:cNvGrpSpPr/>
          <p:nvPr/>
        </p:nvGrpSpPr>
        <p:grpSpPr>
          <a:xfrm>
            <a:off x="6189589" y="2278752"/>
            <a:ext cx="1256320" cy="1256320"/>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C67BF">
                    <a:alpha val="96000"/>
                  </a:srgbClr>
                </a:gs>
                <a:gs pos="100000">
                  <a:srgbClr val="F7ACFF">
                    <a:alpha val="0"/>
                  </a:srgbClr>
                </a:gs>
              </a:gsLst>
              <a:lin ang="0"/>
            </a:gradFill>
          </p:spPr>
        </p:sp>
        <p:sp>
          <p:nvSpPr>
            <p:cNvPr id="11" name="TextBox 11"/>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pPr>
              <a:endParaRPr/>
            </a:p>
          </p:txBody>
        </p:sp>
      </p:grpSp>
      <p:grpSp>
        <p:nvGrpSpPr>
          <p:cNvPr id="12" name="Group 12"/>
          <p:cNvGrpSpPr/>
          <p:nvPr/>
        </p:nvGrpSpPr>
        <p:grpSpPr>
          <a:xfrm>
            <a:off x="15102279" y="279028"/>
            <a:ext cx="3185721" cy="3185721"/>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C67BF">
                    <a:alpha val="58000"/>
                  </a:srgbClr>
                </a:gs>
                <a:gs pos="100000">
                  <a:srgbClr val="F7ACFF">
                    <a:alpha val="0"/>
                  </a:srgbClr>
                </a:gs>
              </a:gsLst>
              <a:lin ang="0"/>
            </a:gradFill>
          </p:spPr>
        </p:sp>
        <p:sp>
          <p:nvSpPr>
            <p:cNvPr id="14" name="TextBox 14"/>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pPr>
              <a:endParaRPr/>
            </a:p>
          </p:txBody>
        </p:sp>
      </p:grpSp>
      <p:grpSp>
        <p:nvGrpSpPr>
          <p:cNvPr id="15" name="Group 15"/>
          <p:cNvGrpSpPr/>
          <p:nvPr/>
        </p:nvGrpSpPr>
        <p:grpSpPr>
          <a:xfrm>
            <a:off x="17403566" y="2464695"/>
            <a:ext cx="884434" cy="884434"/>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C67BF">
                    <a:alpha val="96000"/>
                  </a:srgbClr>
                </a:gs>
                <a:gs pos="100000">
                  <a:srgbClr val="F7ACFF">
                    <a:alpha val="96000"/>
                  </a:srgbClr>
                </a:gs>
              </a:gsLst>
              <a:lin ang="0"/>
            </a:gradFill>
          </p:spPr>
        </p:sp>
        <p:sp>
          <p:nvSpPr>
            <p:cNvPr id="17" name="TextBox 17"/>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pPr>
              <a:endParaRPr/>
            </a:p>
          </p:txBody>
        </p:sp>
      </p:grpSp>
      <p:sp>
        <p:nvSpPr>
          <p:cNvPr id="18" name="TextBox 18"/>
          <p:cNvSpPr txBox="1"/>
          <p:nvPr/>
        </p:nvSpPr>
        <p:spPr>
          <a:xfrm>
            <a:off x="1996708" y="835372"/>
            <a:ext cx="1194260" cy="405091"/>
          </a:xfrm>
          <a:prstGeom prst="rect">
            <a:avLst/>
          </a:prstGeom>
        </p:spPr>
        <p:txBody>
          <a:bodyPr lIns="0" tIns="0" rIns="0" bIns="0" rtlCol="0" anchor="t">
            <a:spAutoFit/>
          </a:bodyPr>
          <a:lstStyle/>
          <a:p>
            <a:pPr marL="0" lvl="0" indent="0" algn="l">
              <a:lnSpc>
                <a:spcPts val="1536"/>
              </a:lnSpc>
            </a:pPr>
            <a:r>
              <a:rPr lang="en-US" sz="1506" b="1">
                <a:solidFill>
                  <a:srgbClr val="240960"/>
                </a:solidFill>
                <a:latin typeface="Montserrat Bold"/>
                <a:ea typeface="Montserrat Bold"/>
                <a:cs typeface="Montserrat Bold"/>
                <a:sym typeface="Montserrat Bold"/>
              </a:rPr>
              <a:t>Raft Consensus</a:t>
            </a:r>
          </a:p>
        </p:txBody>
      </p:sp>
      <p:sp>
        <p:nvSpPr>
          <p:cNvPr id="19" name="TextBox 19"/>
          <p:cNvSpPr txBox="1"/>
          <p:nvPr/>
        </p:nvSpPr>
        <p:spPr>
          <a:xfrm>
            <a:off x="4688234" y="1154177"/>
            <a:ext cx="7310908" cy="772149"/>
          </a:xfrm>
          <a:prstGeom prst="rect">
            <a:avLst/>
          </a:prstGeom>
        </p:spPr>
        <p:txBody>
          <a:bodyPr lIns="0" tIns="0" rIns="0" bIns="0" rtlCol="0" anchor="t">
            <a:spAutoFit/>
          </a:bodyPr>
          <a:lstStyle/>
          <a:p>
            <a:pPr marL="0" lvl="0" indent="0" algn="l">
              <a:lnSpc>
                <a:spcPts val="5463"/>
              </a:lnSpc>
            </a:pPr>
            <a:r>
              <a:rPr lang="en-US" sz="6828" b="1">
                <a:solidFill>
                  <a:srgbClr val="240960"/>
                </a:solidFill>
                <a:latin typeface="Montserrat Bold"/>
                <a:ea typeface="Montserrat Bold"/>
                <a:cs typeface="Montserrat Bold"/>
                <a:sym typeface="Montserrat Bold"/>
              </a:rPr>
              <a:t>Exemple</a:t>
            </a:r>
          </a:p>
        </p:txBody>
      </p:sp>
      <p:sp>
        <p:nvSpPr>
          <p:cNvPr id="20" name="TextBox 20"/>
          <p:cNvSpPr txBox="1"/>
          <p:nvPr/>
        </p:nvSpPr>
        <p:spPr>
          <a:xfrm>
            <a:off x="7015126" y="1933696"/>
            <a:ext cx="7310908" cy="772149"/>
          </a:xfrm>
          <a:prstGeom prst="rect">
            <a:avLst/>
          </a:prstGeom>
        </p:spPr>
        <p:txBody>
          <a:bodyPr lIns="0" tIns="0" rIns="0" bIns="0" rtlCol="0" anchor="t">
            <a:spAutoFit/>
          </a:bodyPr>
          <a:lstStyle/>
          <a:p>
            <a:pPr marL="0" lvl="0" indent="0" algn="l">
              <a:lnSpc>
                <a:spcPts val="5463"/>
              </a:lnSpc>
            </a:pPr>
            <a:r>
              <a:rPr lang="en-US" sz="6828">
                <a:solidFill>
                  <a:srgbClr val="240960"/>
                </a:solidFill>
                <a:latin typeface="Montserrat"/>
                <a:ea typeface="Montserrat"/>
                <a:cs typeface="Montserrat"/>
                <a:sym typeface="Montserrat"/>
              </a:rPr>
              <a:t>scénario Raft</a:t>
            </a:r>
          </a:p>
        </p:txBody>
      </p:sp>
      <p:sp>
        <p:nvSpPr>
          <p:cNvPr id="21" name="Freeform 21"/>
          <p:cNvSpPr/>
          <p:nvPr/>
        </p:nvSpPr>
        <p:spPr>
          <a:xfrm>
            <a:off x="90644" y="5336099"/>
            <a:ext cx="3032893" cy="1709793"/>
          </a:xfrm>
          <a:custGeom>
            <a:avLst/>
            <a:gdLst/>
            <a:ahLst/>
            <a:cxnLst/>
            <a:rect l="l" t="t" r="r" b="b"/>
            <a:pathLst>
              <a:path w="3032893" h="1709793">
                <a:moveTo>
                  <a:pt x="0" y="0"/>
                </a:moveTo>
                <a:lnTo>
                  <a:pt x="3032892" y="0"/>
                </a:lnTo>
                <a:lnTo>
                  <a:pt x="3032892" y="1709793"/>
                </a:lnTo>
                <a:lnTo>
                  <a:pt x="0" y="1709793"/>
                </a:lnTo>
                <a:lnTo>
                  <a:pt x="0" y="0"/>
                </a:lnTo>
                <a:close/>
              </a:path>
            </a:pathLst>
          </a:custGeom>
          <a:blipFill>
            <a:blip>
              <a:extLst>
                <a:ext uri="{96DAC541-7B7A-43D3-8B79-37D633B846F1}">
                  <asvg:svgBlip xmlns:asvg="http://schemas.microsoft.com/office/drawing/2016/SVG/main" r:embed="rId4"/>
                </a:ext>
              </a:extLst>
            </a:blip>
            <a:stretch>
              <a:fillRect/>
            </a:stretch>
          </a:blipFill>
          <a:ln cap="sq">
            <a:noFill/>
            <a:prstDash val="solid"/>
            <a:miter/>
          </a:ln>
        </p:spPr>
      </p:sp>
      <p:sp>
        <p:nvSpPr>
          <p:cNvPr id="22" name="Freeform 22"/>
          <p:cNvSpPr/>
          <p:nvPr/>
        </p:nvSpPr>
        <p:spPr>
          <a:xfrm>
            <a:off x="3123536" y="5336099"/>
            <a:ext cx="3032893" cy="1709793"/>
          </a:xfrm>
          <a:custGeom>
            <a:avLst/>
            <a:gdLst/>
            <a:ahLst/>
            <a:cxnLst/>
            <a:rect l="l" t="t" r="r" b="b"/>
            <a:pathLst>
              <a:path w="3032893" h="1709793">
                <a:moveTo>
                  <a:pt x="0" y="0"/>
                </a:moveTo>
                <a:lnTo>
                  <a:pt x="3032893" y="0"/>
                </a:lnTo>
                <a:lnTo>
                  <a:pt x="3032893" y="1709793"/>
                </a:lnTo>
                <a:lnTo>
                  <a:pt x="0" y="1709793"/>
                </a:lnTo>
                <a:lnTo>
                  <a:pt x="0" y="0"/>
                </a:lnTo>
                <a:close/>
              </a:path>
            </a:pathLst>
          </a:custGeom>
          <a:blipFill>
            <a:blip>
              <a:extLst>
                <a:ext uri="{96DAC541-7B7A-43D3-8B79-37D633B846F1}">
                  <asvg:svgBlip xmlns:asvg="http://schemas.microsoft.com/office/drawing/2016/SVG/main" r:embed="rId5"/>
                </a:ext>
              </a:extLst>
            </a:blip>
            <a:stretch>
              <a:fillRect/>
            </a:stretch>
          </a:blipFill>
          <a:ln cap="sq">
            <a:noFill/>
            <a:prstDash val="solid"/>
            <a:miter/>
          </a:ln>
        </p:spPr>
      </p:sp>
      <p:sp>
        <p:nvSpPr>
          <p:cNvPr id="23" name="Freeform 23"/>
          <p:cNvSpPr/>
          <p:nvPr/>
        </p:nvSpPr>
        <p:spPr>
          <a:xfrm>
            <a:off x="6156429" y="5336099"/>
            <a:ext cx="3032893" cy="1709793"/>
          </a:xfrm>
          <a:custGeom>
            <a:avLst/>
            <a:gdLst/>
            <a:ahLst/>
            <a:cxnLst/>
            <a:rect l="l" t="t" r="r" b="b"/>
            <a:pathLst>
              <a:path w="3032893" h="1709793">
                <a:moveTo>
                  <a:pt x="0" y="0"/>
                </a:moveTo>
                <a:lnTo>
                  <a:pt x="3032893" y="0"/>
                </a:lnTo>
                <a:lnTo>
                  <a:pt x="3032893" y="1709793"/>
                </a:lnTo>
                <a:lnTo>
                  <a:pt x="0" y="1709793"/>
                </a:lnTo>
                <a:lnTo>
                  <a:pt x="0" y="0"/>
                </a:lnTo>
                <a:close/>
              </a:path>
            </a:pathLst>
          </a:custGeom>
          <a:blipFill>
            <a:blip>
              <a:extLst>
                <a:ext uri="{96DAC541-7B7A-43D3-8B79-37D633B846F1}">
                  <asvg:svgBlip xmlns:asvg="http://schemas.microsoft.com/office/drawing/2016/SVG/main" r:embed="rId6"/>
                </a:ext>
              </a:extLst>
            </a:blip>
            <a:stretch>
              <a:fillRect/>
            </a:stretch>
          </a:blipFill>
          <a:ln cap="sq">
            <a:noFill/>
            <a:prstDash val="solid"/>
            <a:miter/>
          </a:ln>
        </p:spPr>
      </p:sp>
      <p:sp>
        <p:nvSpPr>
          <p:cNvPr id="24" name="Freeform 24"/>
          <p:cNvSpPr/>
          <p:nvPr/>
        </p:nvSpPr>
        <p:spPr>
          <a:xfrm>
            <a:off x="9189322" y="5336099"/>
            <a:ext cx="3032893" cy="1709793"/>
          </a:xfrm>
          <a:custGeom>
            <a:avLst/>
            <a:gdLst/>
            <a:ahLst/>
            <a:cxnLst/>
            <a:rect l="l" t="t" r="r" b="b"/>
            <a:pathLst>
              <a:path w="3032893" h="1709793">
                <a:moveTo>
                  <a:pt x="0" y="0"/>
                </a:moveTo>
                <a:lnTo>
                  <a:pt x="3032893" y="0"/>
                </a:lnTo>
                <a:lnTo>
                  <a:pt x="3032893" y="1709793"/>
                </a:lnTo>
                <a:lnTo>
                  <a:pt x="0" y="1709793"/>
                </a:lnTo>
                <a:lnTo>
                  <a:pt x="0" y="0"/>
                </a:lnTo>
                <a:close/>
              </a:path>
            </a:pathLst>
          </a:custGeom>
          <a:blipFill>
            <a:blip>
              <a:extLst>
                <a:ext uri="{96DAC541-7B7A-43D3-8B79-37D633B846F1}">
                  <asvg:svgBlip xmlns:asvg="http://schemas.microsoft.com/office/drawing/2016/SVG/main" r:embed="rId7"/>
                </a:ext>
              </a:extLst>
            </a:blip>
            <a:stretch>
              <a:fillRect/>
            </a:stretch>
          </a:blipFill>
          <a:ln cap="sq">
            <a:noFill/>
            <a:prstDash val="solid"/>
            <a:miter/>
          </a:ln>
        </p:spPr>
      </p:sp>
      <p:sp>
        <p:nvSpPr>
          <p:cNvPr id="25" name="Freeform 25"/>
          <p:cNvSpPr/>
          <p:nvPr/>
        </p:nvSpPr>
        <p:spPr>
          <a:xfrm>
            <a:off x="12222215" y="5336099"/>
            <a:ext cx="3032893" cy="1709793"/>
          </a:xfrm>
          <a:custGeom>
            <a:avLst/>
            <a:gdLst/>
            <a:ahLst/>
            <a:cxnLst/>
            <a:rect l="l" t="t" r="r" b="b"/>
            <a:pathLst>
              <a:path w="3032893" h="1709793">
                <a:moveTo>
                  <a:pt x="0" y="0"/>
                </a:moveTo>
                <a:lnTo>
                  <a:pt x="3032892" y="0"/>
                </a:lnTo>
                <a:lnTo>
                  <a:pt x="3032892" y="1709793"/>
                </a:lnTo>
                <a:lnTo>
                  <a:pt x="0" y="1709793"/>
                </a:lnTo>
                <a:lnTo>
                  <a:pt x="0" y="0"/>
                </a:lnTo>
                <a:close/>
              </a:path>
            </a:pathLst>
          </a:custGeom>
          <a:blipFill>
            <a:blip>
              <a:extLst>
                <a:ext uri="{96DAC541-7B7A-43D3-8B79-37D633B846F1}">
                  <asvg:svgBlip xmlns:asvg="http://schemas.microsoft.com/office/drawing/2016/SVG/main" r:embed="rId8"/>
                </a:ext>
              </a:extLst>
            </a:blip>
            <a:stretch>
              <a:fillRect/>
            </a:stretch>
          </a:blipFill>
          <a:ln cap="sq">
            <a:noFill/>
            <a:prstDash val="solid"/>
            <a:miter/>
          </a:ln>
        </p:spPr>
      </p:sp>
      <p:sp>
        <p:nvSpPr>
          <p:cNvPr id="26" name="Freeform 26"/>
          <p:cNvSpPr/>
          <p:nvPr/>
        </p:nvSpPr>
        <p:spPr>
          <a:xfrm>
            <a:off x="15255107" y="5336099"/>
            <a:ext cx="3032893" cy="1709793"/>
          </a:xfrm>
          <a:custGeom>
            <a:avLst/>
            <a:gdLst/>
            <a:ahLst/>
            <a:cxnLst/>
            <a:rect l="l" t="t" r="r" b="b"/>
            <a:pathLst>
              <a:path w="3032893" h="1709793">
                <a:moveTo>
                  <a:pt x="0" y="0"/>
                </a:moveTo>
                <a:lnTo>
                  <a:pt x="3032893" y="0"/>
                </a:lnTo>
                <a:lnTo>
                  <a:pt x="3032893" y="1709793"/>
                </a:lnTo>
                <a:lnTo>
                  <a:pt x="0" y="1709793"/>
                </a:lnTo>
                <a:lnTo>
                  <a:pt x="0" y="0"/>
                </a:lnTo>
                <a:close/>
              </a:path>
            </a:pathLst>
          </a:custGeom>
          <a:blipFill>
            <a:blip>
              <a:extLst>
                <a:ext uri="{96DAC541-7B7A-43D3-8B79-37D633B846F1}">
                  <asvg:svgBlip xmlns:asvg="http://schemas.microsoft.com/office/drawing/2016/SVG/main" r:embed="rId9"/>
                </a:ext>
              </a:extLst>
            </a:blip>
            <a:stretch>
              <a:fillRect/>
            </a:stretch>
          </a:blipFill>
          <a:ln cap="sq">
            <a:noFill/>
            <a:prstDash val="solid"/>
            <a:miter/>
          </a:ln>
        </p:spPr>
      </p:sp>
      <p:grpSp>
        <p:nvGrpSpPr>
          <p:cNvPr id="27" name="Group 27"/>
          <p:cNvGrpSpPr/>
          <p:nvPr/>
        </p:nvGrpSpPr>
        <p:grpSpPr>
          <a:xfrm>
            <a:off x="690525" y="3525667"/>
            <a:ext cx="1276472" cy="1276472"/>
            <a:chOff x="0" y="0"/>
            <a:chExt cx="812800" cy="812800"/>
          </a:xfrm>
        </p:grpSpPr>
        <p:sp>
          <p:nvSpPr>
            <p:cNvPr id="28" name="Freeform 2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76200" cap="sq">
              <a:solidFill>
                <a:srgbClr val="11468C"/>
              </a:solidFill>
              <a:prstDash val="solid"/>
              <a:miter/>
            </a:ln>
          </p:spPr>
        </p:sp>
        <p:sp>
          <p:nvSpPr>
            <p:cNvPr id="29" name="TextBox 29"/>
            <p:cNvSpPr txBox="1"/>
            <p:nvPr/>
          </p:nvSpPr>
          <p:spPr>
            <a:xfrm>
              <a:off x="76200" y="38100"/>
              <a:ext cx="660400" cy="698500"/>
            </a:xfrm>
            <a:prstGeom prst="rect">
              <a:avLst/>
            </a:prstGeom>
          </p:spPr>
          <p:txBody>
            <a:bodyPr lIns="50800" tIns="50800" rIns="50800" bIns="50800" rtlCol="0" anchor="ctr"/>
            <a:lstStyle/>
            <a:p>
              <a:pPr marL="0" lvl="0" indent="0" algn="ctr">
                <a:lnSpc>
                  <a:spcPts val="3359"/>
                </a:lnSpc>
              </a:pPr>
              <a:endParaRPr/>
            </a:p>
          </p:txBody>
        </p:sp>
      </p:grpSp>
      <p:grpSp>
        <p:nvGrpSpPr>
          <p:cNvPr id="30" name="Group 30"/>
          <p:cNvGrpSpPr/>
          <p:nvPr/>
        </p:nvGrpSpPr>
        <p:grpSpPr>
          <a:xfrm>
            <a:off x="3728163" y="7579852"/>
            <a:ext cx="1276472" cy="1276472"/>
            <a:chOff x="0" y="0"/>
            <a:chExt cx="812800" cy="812800"/>
          </a:xfrm>
        </p:grpSpPr>
        <p:sp>
          <p:nvSpPr>
            <p:cNvPr id="31" name="Freeform 3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76200" cap="sq">
              <a:solidFill>
                <a:srgbClr val="1D8BC9"/>
              </a:solidFill>
              <a:prstDash val="solid"/>
              <a:miter/>
            </a:ln>
          </p:spPr>
        </p:sp>
        <p:sp>
          <p:nvSpPr>
            <p:cNvPr id="32" name="TextBox 32"/>
            <p:cNvSpPr txBox="1"/>
            <p:nvPr/>
          </p:nvSpPr>
          <p:spPr>
            <a:xfrm>
              <a:off x="76200" y="38100"/>
              <a:ext cx="660400" cy="698500"/>
            </a:xfrm>
            <a:prstGeom prst="rect">
              <a:avLst/>
            </a:prstGeom>
          </p:spPr>
          <p:txBody>
            <a:bodyPr lIns="50800" tIns="50800" rIns="50800" bIns="50800" rtlCol="0" anchor="ctr"/>
            <a:lstStyle/>
            <a:p>
              <a:pPr marL="0" lvl="0" indent="0" algn="ctr">
                <a:lnSpc>
                  <a:spcPts val="3359"/>
                </a:lnSpc>
              </a:pPr>
              <a:endParaRPr/>
            </a:p>
          </p:txBody>
        </p:sp>
      </p:grpSp>
      <p:grpSp>
        <p:nvGrpSpPr>
          <p:cNvPr id="33" name="Group 33"/>
          <p:cNvGrpSpPr/>
          <p:nvPr/>
        </p:nvGrpSpPr>
        <p:grpSpPr>
          <a:xfrm>
            <a:off x="6755122" y="3525667"/>
            <a:ext cx="1276472" cy="1276472"/>
            <a:chOff x="0" y="0"/>
            <a:chExt cx="812800" cy="812800"/>
          </a:xfrm>
        </p:grpSpPr>
        <p:sp>
          <p:nvSpPr>
            <p:cNvPr id="34" name="Freeform 3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76200" cap="sq">
              <a:solidFill>
                <a:srgbClr val="2BC5CD"/>
              </a:solidFill>
              <a:prstDash val="solid"/>
              <a:miter/>
            </a:ln>
          </p:spPr>
        </p:sp>
        <p:sp>
          <p:nvSpPr>
            <p:cNvPr id="35" name="TextBox 35"/>
            <p:cNvSpPr txBox="1"/>
            <p:nvPr/>
          </p:nvSpPr>
          <p:spPr>
            <a:xfrm>
              <a:off x="76200" y="38100"/>
              <a:ext cx="660400" cy="698500"/>
            </a:xfrm>
            <a:prstGeom prst="rect">
              <a:avLst/>
            </a:prstGeom>
          </p:spPr>
          <p:txBody>
            <a:bodyPr lIns="50800" tIns="50800" rIns="50800" bIns="50800" rtlCol="0" anchor="ctr"/>
            <a:lstStyle/>
            <a:p>
              <a:pPr marL="0" lvl="0" indent="0" algn="ctr">
                <a:lnSpc>
                  <a:spcPts val="3359"/>
                </a:lnSpc>
              </a:pPr>
              <a:endParaRPr/>
            </a:p>
          </p:txBody>
        </p:sp>
      </p:grpSp>
      <p:grpSp>
        <p:nvGrpSpPr>
          <p:cNvPr id="36" name="Group 36"/>
          <p:cNvGrpSpPr/>
          <p:nvPr/>
        </p:nvGrpSpPr>
        <p:grpSpPr>
          <a:xfrm>
            <a:off x="9792564" y="7579852"/>
            <a:ext cx="1276472" cy="1276472"/>
            <a:chOff x="0" y="0"/>
            <a:chExt cx="812800" cy="812800"/>
          </a:xfrm>
        </p:grpSpPr>
        <p:sp>
          <p:nvSpPr>
            <p:cNvPr id="37" name="Freeform 3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76200" cap="sq">
              <a:solidFill>
                <a:srgbClr val="31BF8A"/>
              </a:solidFill>
              <a:prstDash val="solid"/>
              <a:miter/>
            </a:ln>
          </p:spPr>
        </p:sp>
        <p:sp>
          <p:nvSpPr>
            <p:cNvPr id="38" name="TextBox 38"/>
            <p:cNvSpPr txBox="1"/>
            <p:nvPr/>
          </p:nvSpPr>
          <p:spPr>
            <a:xfrm>
              <a:off x="76200" y="38100"/>
              <a:ext cx="660400" cy="698500"/>
            </a:xfrm>
            <a:prstGeom prst="rect">
              <a:avLst/>
            </a:prstGeom>
          </p:spPr>
          <p:txBody>
            <a:bodyPr lIns="50800" tIns="50800" rIns="50800" bIns="50800" rtlCol="0" anchor="ctr"/>
            <a:lstStyle/>
            <a:p>
              <a:pPr marL="0" lvl="0" indent="0" algn="ctr">
                <a:lnSpc>
                  <a:spcPts val="3359"/>
                </a:lnSpc>
              </a:pPr>
              <a:endParaRPr/>
            </a:p>
          </p:txBody>
        </p:sp>
      </p:grpSp>
      <p:grpSp>
        <p:nvGrpSpPr>
          <p:cNvPr id="39" name="Group 39"/>
          <p:cNvGrpSpPr/>
          <p:nvPr/>
        </p:nvGrpSpPr>
        <p:grpSpPr>
          <a:xfrm>
            <a:off x="12814777" y="3525667"/>
            <a:ext cx="1276472" cy="1276472"/>
            <a:chOff x="0" y="0"/>
            <a:chExt cx="812800" cy="812800"/>
          </a:xfrm>
        </p:grpSpPr>
        <p:sp>
          <p:nvSpPr>
            <p:cNvPr id="40" name="Freeform 4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76200" cap="sq">
              <a:solidFill>
                <a:srgbClr val="77BF60"/>
              </a:solidFill>
              <a:prstDash val="solid"/>
              <a:miter/>
            </a:ln>
          </p:spPr>
        </p:sp>
        <p:sp>
          <p:nvSpPr>
            <p:cNvPr id="41" name="TextBox 41"/>
            <p:cNvSpPr txBox="1"/>
            <p:nvPr/>
          </p:nvSpPr>
          <p:spPr>
            <a:xfrm>
              <a:off x="76200" y="38100"/>
              <a:ext cx="660400" cy="698500"/>
            </a:xfrm>
            <a:prstGeom prst="rect">
              <a:avLst/>
            </a:prstGeom>
          </p:spPr>
          <p:txBody>
            <a:bodyPr lIns="50800" tIns="50800" rIns="50800" bIns="50800" rtlCol="0" anchor="ctr"/>
            <a:lstStyle/>
            <a:p>
              <a:pPr marL="0" lvl="0" indent="0" algn="ctr">
                <a:lnSpc>
                  <a:spcPts val="3359"/>
                </a:lnSpc>
              </a:pPr>
              <a:endParaRPr/>
            </a:p>
          </p:txBody>
        </p:sp>
      </p:grpSp>
      <p:grpSp>
        <p:nvGrpSpPr>
          <p:cNvPr id="42" name="Group 42"/>
          <p:cNvGrpSpPr/>
          <p:nvPr/>
        </p:nvGrpSpPr>
        <p:grpSpPr>
          <a:xfrm>
            <a:off x="15858349" y="7579852"/>
            <a:ext cx="1276472" cy="1276472"/>
            <a:chOff x="0" y="0"/>
            <a:chExt cx="812800" cy="812800"/>
          </a:xfrm>
        </p:grpSpPr>
        <p:sp>
          <p:nvSpPr>
            <p:cNvPr id="43" name="Freeform 4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76200" cap="sq">
              <a:solidFill>
                <a:srgbClr val="519D39"/>
              </a:solidFill>
              <a:prstDash val="solid"/>
              <a:miter/>
            </a:ln>
          </p:spPr>
        </p:sp>
        <p:sp>
          <p:nvSpPr>
            <p:cNvPr id="44" name="TextBox 44"/>
            <p:cNvSpPr txBox="1"/>
            <p:nvPr/>
          </p:nvSpPr>
          <p:spPr>
            <a:xfrm>
              <a:off x="76200" y="38100"/>
              <a:ext cx="660400" cy="698500"/>
            </a:xfrm>
            <a:prstGeom prst="rect">
              <a:avLst/>
            </a:prstGeom>
          </p:spPr>
          <p:txBody>
            <a:bodyPr lIns="50800" tIns="50800" rIns="50800" bIns="50800" rtlCol="0" anchor="ctr"/>
            <a:lstStyle/>
            <a:p>
              <a:pPr marL="0" lvl="0" indent="0" algn="ctr">
                <a:lnSpc>
                  <a:spcPts val="3359"/>
                </a:lnSpc>
              </a:pPr>
              <a:endParaRPr/>
            </a:p>
          </p:txBody>
        </p:sp>
      </p:grpSp>
      <p:sp>
        <p:nvSpPr>
          <p:cNvPr id="45" name="AutoShape 45"/>
          <p:cNvSpPr/>
          <p:nvPr/>
        </p:nvSpPr>
        <p:spPr>
          <a:xfrm flipV="1">
            <a:off x="1328761" y="4802139"/>
            <a:ext cx="0" cy="533960"/>
          </a:xfrm>
          <a:prstGeom prst="line">
            <a:avLst/>
          </a:prstGeom>
          <a:ln w="38100" cap="flat">
            <a:solidFill>
              <a:srgbClr val="11468C"/>
            </a:solidFill>
            <a:prstDash val="solid"/>
            <a:headEnd type="none" w="sm" len="sm"/>
            <a:tailEnd type="none" w="sm" len="sm"/>
          </a:ln>
        </p:spPr>
      </p:sp>
      <p:sp>
        <p:nvSpPr>
          <p:cNvPr id="46" name="AutoShape 46"/>
          <p:cNvSpPr/>
          <p:nvPr/>
        </p:nvSpPr>
        <p:spPr>
          <a:xfrm flipV="1">
            <a:off x="4366399" y="7045892"/>
            <a:ext cx="0" cy="533960"/>
          </a:xfrm>
          <a:prstGeom prst="line">
            <a:avLst/>
          </a:prstGeom>
          <a:ln w="38100" cap="flat">
            <a:solidFill>
              <a:srgbClr val="1D8BC9"/>
            </a:solidFill>
            <a:prstDash val="solid"/>
            <a:headEnd type="none" w="sm" len="sm"/>
            <a:tailEnd type="none" w="sm" len="sm"/>
          </a:ln>
        </p:spPr>
      </p:sp>
      <p:sp>
        <p:nvSpPr>
          <p:cNvPr id="47" name="AutoShape 47"/>
          <p:cNvSpPr/>
          <p:nvPr/>
        </p:nvSpPr>
        <p:spPr>
          <a:xfrm flipV="1">
            <a:off x="7393358" y="4802139"/>
            <a:ext cx="0" cy="533960"/>
          </a:xfrm>
          <a:prstGeom prst="line">
            <a:avLst/>
          </a:prstGeom>
          <a:ln w="38100" cap="flat">
            <a:solidFill>
              <a:srgbClr val="2BC5CD"/>
            </a:solidFill>
            <a:prstDash val="solid"/>
            <a:headEnd type="none" w="sm" len="sm"/>
            <a:tailEnd type="none" w="sm" len="sm"/>
          </a:ln>
        </p:spPr>
      </p:sp>
      <p:sp>
        <p:nvSpPr>
          <p:cNvPr id="48" name="AutoShape 48"/>
          <p:cNvSpPr/>
          <p:nvPr/>
        </p:nvSpPr>
        <p:spPr>
          <a:xfrm flipV="1">
            <a:off x="10430800" y="7045892"/>
            <a:ext cx="0" cy="533960"/>
          </a:xfrm>
          <a:prstGeom prst="line">
            <a:avLst/>
          </a:prstGeom>
          <a:ln w="38100" cap="flat">
            <a:solidFill>
              <a:srgbClr val="31BF8A"/>
            </a:solidFill>
            <a:prstDash val="solid"/>
            <a:headEnd type="none" w="sm" len="sm"/>
            <a:tailEnd type="none" w="sm" len="sm"/>
          </a:ln>
        </p:spPr>
      </p:sp>
      <p:sp>
        <p:nvSpPr>
          <p:cNvPr id="49" name="AutoShape 49"/>
          <p:cNvSpPr/>
          <p:nvPr/>
        </p:nvSpPr>
        <p:spPr>
          <a:xfrm flipV="1">
            <a:off x="13453013" y="4802139"/>
            <a:ext cx="0" cy="533960"/>
          </a:xfrm>
          <a:prstGeom prst="line">
            <a:avLst/>
          </a:prstGeom>
          <a:ln w="38100" cap="flat">
            <a:solidFill>
              <a:srgbClr val="77BF60"/>
            </a:solidFill>
            <a:prstDash val="solid"/>
            <a:headEnd type="none" w="sm" len="sm"/>
            <a:tailEnd type="none" w="sm" len="sm"/>
          </a:ln>
        </p:spPr>
      </p:sp>
      <p:sp>
        <p:nvSpPr>
          <p:cNvPr id="50" name="AutoShape 50"/>
          <p:cNvSpPr/>
          <p:nvPr/>
        </p:nvSpPr>
        <p:spPr>
          <a:xfrm flipV="1">
            <a:off x="16496585" y="7045892"/>
            <a:ext cx="0" cy="533960"/>
          </a:xfrm>
          <a:prstGeom prst="line">
            <a:avLst/>
          </a:prstGeom>
          <a:ln w="38100" cap="flat">
            <a:solidFill>
              <a:srgbClr val="519D39"/>
            </a:solidFill>
            <a:prstDash val="solid"/>
            <a:headEnd type="none" w="sm" len="sm"/>
            <a:tailEnd type="none" w="sm" len="sm"/>
          </a:ln>
        </p:spPr>
      </p:sp>
      <p:sp>
        <p:nvSpPr>
          <p:cNvPr id="51" name="Freeform 51"/>
          <p:cNvSpPr/>
          <p:nvPr/>
        </p:nvSpPr>
        <p:spPr>
          <a:xfrm>
            <a:off x="10084432" y="7832568"/>
            <a:ext cx="628774" cy="819964"/>
          </a:xfrm>
          <a:custGeom>
            <a:avLst/>
            <a:gdLst/>
            <a:ahLst/>
            <a:cxnLst/>
            <a:rect l="l" t="t" r="r" b="b"/>
            <a:pathLst>
              <a:path w="628774" h="819964">
                <a:moveTo>
                  <a:pt x="0" y="0"/>
                </a:moveTo>
                <a:lnTo>
                  <a:pt x="628774" y="0"/>
                </a:lnTo>
                <a:lnTo>
                  <a:pt x="628774" y="819964"/>
                </a:lnTo>
                <a:lnTo>
                  <a:pt x="0" y="819964"/>
                </a:lnTo>
                <a:lnTo>
                  <a:pt x="0" y="0"/>
                </a:lnTo>
                <a:close/>
              </a:path>
            </a:pathLst>
          </a:custGeom>
          <a:blipFill>
            <a:blip r:embed="rId10"/>
            <a:stretch>
              <a:fillRect/>
            </a:stretch>
          </a:blipFill>
          <a:ln cap="sq">
            <a:noFill/>
            <a:prstDash val="solid"/>
            <a:miter/>
          </a:ln>
        </p:spPr>
      </p:sp>
      <p:sp>
        <p:nvSpPr>
          <p:cNvPr id="52" name="Freeform 52"/>
          <p:cNvSpPr/>
          <p:nvPr/>
        </p:nvSpPr>
        <p:spPr>
          <a:xfrm>
            <a:off x="893973" y="3741009"/>
            <a:ext cx="870485" cy="870485"/>
          </a:xfrm>
          <a:custGeom>
            <a:avLst/>
            <a:gdLst/>
            <a:ahLst/>
            <a:cxnLst/>
            <a:rect l="l" t="t" r="r" b="b"/>
            <a:pathLst>
              <a:path w="870485" h="870485">
                <a:moveTo>
                  <a:pt x="0" y="0"/>
                </a:moveTo>
                <a:lnTo>
                  <a:pt x="870485" y="0"/>
                </a:lnTo>
                <a:lnTo>
                  <a:pt x="870485" y="870484"/>
                </a:lnTo>
                <a:lnTo>
                  <a:pt x="0" y="870484"/>
                </a:lnTo>
                <a:lnTo>
                  <a:pt x="0" y="0"/>
                </a:lnTo>
                <a:close/>
              </a:path>
            </a:pathLst>
          </a:custGeom>
          <a:blipFill>
            <a:blip r:embed="rId11"/>
            <a:stretch>
              <a:fillRect/>
            </a:stretch>
          </a:blipFill>
          <a:ln cap="sq">
            <a:noFill/>
            <a:prstDash val="solid"/>
            <a:miter/>
          </a:ln>
        </p:spPr>
      </p:sp>
      <p:sp>
        <p:nvSpPr>
          <p:cNvPr id="53" name="Freeform 53"/>
          <p:cNvSpPr/>
          <p:nvPr/>
        </p:nvSpPr>
        <p:spPr>
          <a:xfrm>
            <a:off x="4060450" y="7854404"/>
            <a:ext cx="611897" cy="727367"/>
          </a:xfrm>
          <a:custGeom>
            <a:avLst/>
            <a:gdLst/>
            <a:ahLst/>
            <a:cxnLst/>
            <a:rect l="l" t="t" r="r" b="b"/>
            <a:pathLst>
              <a:path w="611897" h="727367">
                <a:moveTo>
                  <a:pt x="0" y="0"/>
                </a:moveTo>
                <a:lnTo>
                  <a:pt x="611897" y="0"/>
                </a:lnTo>
                <a:lnTo>
                  <a:pt x="611897" y="727367"/>
                </a:lnTo>
                <a:lnTo>
                  <a:pt x="0" y="727367"/>
                </a:lnTo>
                <a:lnTo>
                  <a:pt x="0" y="0"/>
                </a:lnTo>
                <a:close/>
              </a:path>
            </a:pathLst>
          </a:custGeom>
          <a:blipFill>
            <a:blip>
              <a:extLst>
                <a:ext uri="{96DAC541-7B7A-43D3-8B79-37D633B846F1}">
                  <asvg:svgBlip xmlns:asvg="http://schemas.microsoft.com/office/drawing/2016/SVG/main" r:embed="rId12"/>
                </a:ext>
              </a:extLst>
            </a:blip>
            <a:stretch>
              <a:fillRect/>
            </a:stretch>
          </a:blipFill>
          <a:ln cap="sq">
            <a:noFill/>
            <a:prstDash val="solid"/>
            <a:miter/>
          </a:ln>
        </p:spPr>
      </p:sp>
      <p:sp>
        <p:nvSpPr>
          <p:cNvPr id="54" name="Freeform 54"/>
          <p:cNvSpPr/>
          <p:nvPr/>
        </p:nvSpPr>
        <p:spPr>
          <a:xfrm>
            <a:off x="6987252" y="3784101"/>
            <a:ext cx="725200" cy="700328"/>
          </a:xfrm>
          <a:custGeom>
            <a:avLst/>
            <a:gdLst/>
            <a:ahLst/>
            <a:cxnLst/>
            <a:rect l="l" t="t" r="r" b="b"/>
            <a:pathLst>
              <a:path w="725200" h="700328">
                <a:moveTo>
                  <a:pt x="0" y="0"/>
                </a:moveTo>
                <a:lnTo>
                  <a:pt x="725200" y="0"/>
                </a:lnTo>
                <a:lnTo>
                  <a:pt x="725200" y="700329"/>
                </a:lnTo>
                <a:lnTo>
                  <a:pt x="0" y="700329"/>
                </a:lnTo>
                <a:lnTo>
                  <a:pt x="0" y="0"/>
                </a:lnTo>
                <a:close/>
              </a:path>
            </a:pathLst>
          </a:custGeom>
          <a:blipFill>
            <a:blip r:embed="rId13"/>
            <a:stretch>
              <a:fillRect/>
            </a:stretch>
          </a:blipFill>
          <a:ln cap="sq">
            <a:noFill/>
            <a:prstDash val="solid"/>
            <a:miter/>
          </a:ln>
        </p:spPr>
      </p:sp>
      <p:sp>
        <p:nvSpPr>
          <p:cNvPr id="55" name="Freeform 55"/>
          <p:cNvSpPr/>
          <p:nvPr/>
        </p:nvSpPr>
        <p:spPr>
          <a:xfrm>
            <a:off x="12960221" y="3739197"/>
            <a:ext cx="984370" cy="795587"/>
          </a:xfrm>
          <a:custGeom>
            <a:avLst/>
            <a:gdLst/>
            <a:ahLst/>
            <a:cxnLst/>
            <a:rect l="l" t="t" r="r" b="b"/>
            <a:pathLst>
              <a:path w="984370" h="795587">
                <a:moveTo>
                  <a:pt x="0" y="0"/>
                </a:moveTo>
                <a:lnTo>
                  <a:pt x="984370" y="0"/>
                </a:lnTo>
                <a:lnTo>
                  <a:pt x="984370" y="795586"/>
                </a:lnTo>
                <a:lnTo>
                  <a:pt x="0" y="795586"/>
                </a:lnTo>
                <a:lnTo>
                  <a:pt x="0" y="0"/>
                </a:lnTo>
                <a:close/>
              </a:path>
            </a:pathLst>
          </a:custGeom>
          <a:blipFill>
            <a:blip r:embed="rId14"/>
            <a:stretch>
              <a:fillRect/>
            </a:stretch>
          </a:blipFill>
          <a:ln cap="sq">
            <a:noFill/>
            <a:prstDash val="solid"/>
            <a:miter/>
          </a:ln>
        </p:spPr>
      </p:sp>
      <p:sp>
        <p:nvSpPr>
          <p:cNvPr id="56" name="Freeform 56"/>
          <p:cNvSpPr/>
          <p:nvPr/>
        </p:nvSpPr>
        <p:spPr>
          <a:xfrm>
            <a:off x="16171709" y="7879061"/>
            <a:ext cx="678935" cy="682867"/>
          </a:xfrm>
          <a:custGeom>
            <a:avLst/>
            <a:gdLst/>
            <a:ahLst/>
            <a:cxnLst/>
            <a:rect l="l" t="t" r="r" b="b"/>
            <a:pathLst>
              <a:path w="678935" h="682867">
                <a:moveTo>
                  <a:pt x="0" y="0"/>
                </a:moveTo>
                <a:lnTo>
                  <a:pt x="678935" y="0"/>
                </a:lnTo>
                <a:lnTo>
                  <a:pt x="678935" y="682867"/>
                </a:lnTo>
                <a:lnTo>
                  <a:pt x="0" y="682867"/>
                </a:lnTo>
                <a:lnTo>
                  <a:pt x="0" y="0"/>
                </a:lnTo>
                <a:close/>
              </a:path>
            </a:pathLst>
          </a:custGeom>
          <a:blipFill>
            <a:blip r:embed="rId15"/>
            <a:stretch>
              <a:fillRect/>
            </a:stretch>
          </a:blipFill>
          <a:ln cap="sq">
            <a:noFill/>
            <a:prstDash val="solid"/>
            <a:miter/>
          </a:ln>
        </p:spPr>
      </p:sp>
      <p:sp>
        <p:nvSpPr>
          <p:cNvPr id="57" name="TextBox 57"/>
          <p:cNvSpPr txBox="1"/>
          <p:nvPr/>
        </p:nvSpPr>
        <p:spPr>
          <a:xfrm>
            <a:off x="-127795" y="7303347"/>
            <a:ext cx="2397522" cy="821144"/>
          </a:xfrm>
          <a:prstGeom prst="rect">
            <a:avLst/>
          </a:prstGeom>
        </p:spPr>
        <p:txBody>
          <a:bodyPr lIns="0" tIns="0" rIns="0" bIns="0" rtlCol="0" anchor="t">
            <a:spAutoFit/>
          </a:bodyPr>
          <a:lstStyle/>
          <a:p>
            <a:pPr marL="0" lvl="0" indent="0" algn="ctr">
              <a:lnSpc>
                <a:spcPts val="3226"/>
              </a:lnSpc>
            </a:pPr>
            <a:r>
              <a:rPr lang="en-US" sz="2688" b="1">
                <a:solidFill>
                  <a:srgbClr val="1F0A49"/>
                </a:solidFill>
                <a:latin typeface="Canva Sans Bold"/>
                <a:ea typeface="Canva Sans Bold"/>
                <a:cs typeface="Canva Sans Bold"/>
                <a:sym typeface="Canva Sans Bold"/>
              </a:rPr>
              <a:t>Timeout détecté</a:t>
            </a:r>
          </a:p>
        </p:txBody>
      </p:sp>
      <p:sp>
        <p:nvSpPr>
          <p:cNvPr id="58" name="TextBox 58"/>
          <p:cNvSpPr txBox="1"/>
          <p:nvPr/>
        </p:nvSpPr>
        <p:spPr>
          <a:xfrm>
            <a:off x="690525" y="6020128"/>
            <a:ext cx="1385736" cy="331055"/>
          </a:xfrm>
          <a:prstGeom prst="rect">
            <a:avLst/>
          </a:prstGeom>
        </p:spPr>
        <p:txBody>
          <a:bodyPr lIns="0" tIns="0" rIns="0" bIns="0" rtlCol="0" anchor="t">
            <a:spAutoFit/>
          </a:bodyPr>
          <a:lstStyle/>
          <a:p>
            <a:pPr marL="0" lvl="0" indent="0" algn="ctr">
              <a:lnSpc>
                <a:spcPts val="2688"/>
              </a:lnSpc>
            </a:pPr>
            <a:r>
              <a:rPr lang="en-US" sz="2240" b="1">
                <a:solidFill>
                  <a:srgbClr val="FFFFFF"/>
                </a:solidFill>
                <a:latin typeface="Canva Sans Bold"/>
                <a:ea typeface="Canva Sans Bold"/>
                <a:cs typeface="Canva Sans Bold"/>
                <a:sym typeface="Canva Sans Bold"/>
              </a:rPr>
              <a:t>Étape 01</a:t>
            </a:r>
          </a:p>
        </p:txBody>
      </p:sp>
      <p:sp>
        <p:nvSpPr>
          <p:cNvPr id="59" name="TextBox 59"/>
          <p:cNvSpPr txBox="1"/>
          <p:nvPr/>
        </p:nvSpPr>
        <p:spPr>
          <a:xfrm>
            <a:off x="3722495" y="6020128"/>
            <a:ext cx="1385736" cy="331055"/>
          </a:xfrm>
          <a:prstGeom prst="rect">
            <a:avLst/>
          </a:prstGeom>
        </p:spPr>
        <p:txBody>
          <a:bodyPr lIns="0" tIns="0" rIns="0" bIns="0" rtlCol="0" anchor="t">
            <a:spAutoFit/>
          </a:bodyPr>
          <a:lstStyle/>
          <a:p>
            <a:pPr marL="0" lvl="0" indent="0" algn="ctr">
              <a:lnSpc>
                <a:spcPts val="2688"/>
              </a:lnSpc>
            </a:pPr>
            <a:r>
              <a:rPr lang="en-US" sz="2240" b="1">
                <a:solidFill>
                  <a:srgbClr val="FFFFFF"/>
                </a:solidFill>
                <a:latin typeface="Canva Sans Bold"/>
                <a:ea typeface="Canva Sans Bold"/>
                <a:cs typeface="Canva Sans Bold"/>
                <a:sym typeface="Canva Sans Bold"/>
              </a:rPr>
              <a:t>Étape 02</a:t>
            </a:r>
          </a:p>
        </p:txBody>
      </p:sp>
      <p:sp>
        <p:nvSpPr>
          <p:cNvPr id="60" name="TextBox 60"/>
          <p:cNvSpPr txBox="1"/>
          <p:nvPr/>
        </p:nvSpPr>
        <p:spPr>
          <a:xfrm>
            <a:off x="2755948" y="3516142"/>
            <a:ext cx="3400482" cy="415335"/>
          </a:xfrm>
          <a:prstGeom prst="rect">
            <a:avLst/>
          </a:prstGeom>
        </p:spPr>
        <p:txBody>
          <a:bodyPr lIns="0" tIns="0" rIns="0" bIns="0" rtlCol="0" anchor="t">
            <a:spAutoFit/>
          </a:bodyPr>
          <a:lstStyle/>
          <a:p>
            <a:pPr marL="0" lvl="0" indent="0" algn="ctr">
              <a:lnSpc>
                <a:spcPts val="3226"/>
              </a:lnSpc>
            </a:pPr>
            <a:r>
              <a:rPr lang="en-US" sz="2688" b="1">
                <a:solidFill>
                  <a:srgbClr val="1F0A49"/>
                </a:solidFill>
                <a:latin typeface="Canva Sans Bold"/>
                <a:ea typeface="Canva Sans Bold"/>
                <a:cs typeface="Canva Sans Bold"/>
                <a:sym typeface="Canva Sans Bold"/>
              </a:rPr>
              <a:t>Élection leader</a:t>
            </a:r>
          </a:p>
        </p:txBody>
      </p:sp>
      <p:sp>
        <p:nvSpPr>
          <p:cNvPr id="61" name="TextBox 61"/>
          <p:cNvSpPr txBox="1"/>
          <p:nvPr/>
        </p:nvSpPr>
        <p:spPr>
          <a:xfrm>
            <a:off x="90644" y="8198027"/>
            <a:ext cx="2361967" cy="699229"/>
          </a:xfrm>
          <a:prstGeom prst="rect">
            <a:avLst/>
          </a:prstGeom>
        </p:spPr>
        <p:txBody>
          <a:bodyPr lIns="0" tIns="0" rIns="0" bIns="0" rtlCol="0" anchor="t">
            <a:spAutoFit/>
          </a:bodyPr>
          <a:lstStyle/>
          <a:p>
            <a:pPr marL="0" lvl="0" indent="0" algn="ctr">
              <a:lnSpc>
                <a:spcPts val="1883"/>
              </a:lnSpc>
            </a:pPr>
            <a:r>
              <a:rPr lang="en-US" sz="1345">
                <a:solidFill>
                  <a:srgbClr val="575757"/>
                </a:solidFill>
                <a:latin typeface="Canva Sans"/>
                <a:ea typeface="Canva Sans"/>
                <a:cs typeface="Canva Sans"/>
                <a:sym typeface="Canva Sans"/>
              </a:rPr>
              <a:t>Follower détecte absence de heartbeat après timeout aléatoire (150-300ms).</a:t>
            </a:r>
          </a:p>
        </p:txBody>
      </p:sp>
      <p:sp>
        <p:nvSpPr>
          <p:cNvPr id="62" name="TextBox 62"/>
          <p:cNvSpPr txBox="1"/>
          <p:nvPr/>
        </p:nvSpPr>
        <p:spPr>
          <a:xfrm>
            <a:off x="3185415" y="3979166"/>
            <a:ext cx="2361967" cy="699229"/>
          </a:xfrm>
          <a:prstGeom prst="rect">
            <a:avLst/>
          </a:prstGeom>
        </p:spPr>
        <p:txBody>
          <a:bodyPr lIns="0" tIns="0" rIns="0" bIns="0" rtlCol="0" anchor="t">
            <a:spAutoFit/>
          </a:bodyPr>
          <a:lstStyle/>
          <a:p>
            <a:pPr marL="0" lvl="0" indent="0" algn="ctr">
              <a:lnSpc>
                <a:spcPts val="1883"/>
              </a:lnSpc>
            </a:pPr>
            <a:r>
              <a:rPr lang="en-US" sz="1345">
                <a:solidFill>
                  <a:srgbClr val="575757"/>
                </a:solidFill>
                <a:latin typeface="Canva Sans"/>
                <a:ea typeface="Canva Sans"/>
                <a:cs typeface="Canva Sans"/>
                <a:sym typeface="Canva Sans"/>
              </a:rPr>
              <a:t>Nœud passe Candidate, incrémente term, envoie RequestVote RPC.</a:t>
            </a:r>
          </a:p>
        </p:txBody>
      </p:sp>
      <p:sp>
        <p:nvSpPr>
          <p:cNvPr id="63" name="TextBox 63"/>
          <p:cNvSpPr txBox="1"/>
          <p:nvPr/>
        </p:nvSpPr>
        <p:spPr>
          <a:xfrm>
            <a:off x="6194597" y="7303347"/>
            <a:ext cx="2397522" cy="821144"/>
          </a:xfrm>
          <a:prstGeom prst="rect">
            <a:avLst/>
          </a:prstGeom>
        </p:spPr>
        <p:txBody>
          <a:bodyPr lIns="0" tIns="0" rIns="0" bIns="0" rtlCol="0" anchor="t">
            <a:spAutoFit/>
          </a:bodyPr>
          <a:lstStyle/>
          <a:p>
            <a:pPr marL="0" lvl="0" indent="0" algn="ctr">
              <a:lnSpc>
                <a:spcPts val="3226"/>
              </a:lnSpc>
            </a:pPr>
            <a:r>
              <a:rPr lang="en-US" sz="2688" b="1">
                <a:solidFill>
                  <a:srgbClr val="1F0A49"/>
                </a:solidFill>
                <a:latin typeface="Canva Sans Bold"/>
                <a:ea typeface="Canva Sans Bold"/>
                <a:cs typeface="Canva Sans Bold"/>
                <a:sym typeface="Canva Sans Bold"/>
              </a:rPr>
              <a:t>Réception commande</a:t>
            </a:r>
          </a:p>
        </p:txBody>
      </p:sp>
      <p:sp>
        <p:nvSpPr>
          <p:cNvPr id="64" name="TextBox 64"/>
          <p:cNvSpPr txBox="1"/>
          <p:nvPr/>
        </p:nvSpPr>
        <p:spPr>
          <a:xfrm>
            <a:off x="6230151" y="8095916"/>
            <a:ext cx="2361967" cy="699229"/>
          </a:xfrm>
          <a:prstGeom prst="rect">
            <a:avLst/>
          </a:prstGeom>
        </p:spPr>
        <p:txBody>
          <a:bodyPr lIns="0" tIns="0" rIns="0" bIns="0" rtlCol="0" anchor="t">
            <a:spAutoFit/>
          </a:bodyPr>
          <a:lstStyle/>
          <a:p>
            <a:pPr marL="0" lvl="0" indent="0" algn="ctr">
              <a:lnSpc>
                <a:spcPts val="1883"/>
              </a:lnSpc>
            </a:pPr>
            <a:r>
              <a:rPr lang="en-US" sz="1345">
                <a:solidFill>
                  <a:srgbClr val="575757"/>
                </a:solidFill>
                <a:latin typeface="Canva Sans"/>
                <a:ea typeface="Canva Sans"/>
                <a:cs typeface="Canva Sans"/>
                <a:sym typeface="Canva Sans"/>
              </a:rPr>
              <a:t>Leader reçoit requête client, ajoute entrée au log local (term=2, index=5).</a:t>
            </a:r>
          </a:p>
        </p:txBody>
      </p:sp>
      <p:sp>
        <p:nvSpPr>
          <p:cNvPr id="65" name="TextBox 65"/>
          <p:cNvSpPr txBox="1"/>
          <p:nvPr/>
        </p:nvSpPr>
        <p:spPr>
          <a:xfrm>
            <a:off x="9200058" y="3380824"/>
            <a:ext cx="2397522" cy="821144"/>
          </a:xfrm>
          <a:prstGeom prst="rect">
            <a:avLst/>
          </a:prstGeom>
        </p:spPr>
        <p:txBody>
          <a:bodyPr lIns="0" tIns="0" rIns="0" bIns="0" rtlCol="0" anchor="t">
            <a:spAutoFit/>
          </a:bodyPr>
          <a:lstStyle/>
          <a:p>
            <a:pPr marL="0" lvl="0" indent="0" algn="ctr">
              <a:lnSpc>
                <a:spcPts val="3226"/>
              </a:lnSpc>
            </a:pPr>
            <a:r>
              <a:rPr lang="en-US" sz="2688" b="1">
                <a:solidFill>
                  <a:srgbClr val="1F0A49"/>
                </a:solidFill>
                <a:latin typeface="Canva Sans Bold"/>
                <a:ea typeface="Canva Sans Bold"/>
                <a:cs typeface="Canva Sans Bold"/>
                <a:sym typeface="Canva Sans Bold"/>
              </a:rPr>
              <a:t>Réplication followers</a:t>
            </a:r>
          </a:p>
        </p:txBody>
      </p:sp>
      <p:sp>
        <p:nvSpPr>
          <p:cNvPr id="66" name="TextBox 66"/>
          <p:cNvSpPr txBox="1"/>
          <p:nvPr/>
        </p:nvSpPr>
        <p:spPr>
          <a:xfrm>
            <a:off x="9249816" y="4195131"/>
            <a:ext cx="2361967" cy="699229"/>
          </a:xfrm>
          <a:prstGeom prst="rect">
            <a:avLst/>
          </a:prstGeom>
        </p:spPr>
        <p:txBody>
          <a:bodyPr lIns="0" tIns="0" rIns="0" bIns="0" rtlCol="0" anchor="t">
            <a:spAutoFit/>
          </a:bodyPr>
          <a:lstStyle/>
          <a:p>
            <a:pPr marL="0" lvl="0" indent="0" algn="ctr">
              <a:lnSpc>
                <a:spcPts val="1883"/>
              </a:lnSpc>
            </a:pPr>
            <a:r>
              <a:rPr lang="en-US" sz="1345">
                <a:solidFill>
                  <a:srgbClr val="575757"/>
                </a:solidFill>
                <a:latin typeface="Canva Sans"/>
                <a:ea typeface="Canva Sans"/>
                <a:cs typeface="Canva Sans"/>
                <a:sym typeface="Canva Sans"/>
              </a:rPr>
              <a:t>AppendEntries RPC envoyé à tous les followers avec prevLogIndex et entries[].</a:t>
            </a:r>
          </a:p>
        </p:txBody>
      </p:sp>
      <p:sp>
        <p:nvSpPr>
          <p:cNvPr id="67" name="TextBox 67"/>
          <p:cNvSpPr txBox="1"/>
          <p:nvPr/>
        </p:nvSpPr>
        <p:spPr>
          <a:xfrm>
            <a:off x="12264931" y="7303347"/>
            <a:ext cx="2397522" cy="821144"/>
          </a:xfrm>
          <a:prstGeom prst="rect">
            <a:avLst/>
          </a:prstGeom>
        </p:spPr>
        <p:txBody>
          <a:bodyPr lIns="0" tIns="0" rIns="0" bIns="0" rtlCol="0" anchor="t">
            <a:spAutoFit/>
          </a:bodyPr>
          <a:lstStyle/>
          <a:p>
            <a:pPr marL="0" lvl="0" indent="0" algn="ctr">
              <a:lnSpc>
                <a:spcPts val="3226"/>
              </a:lnSpc>
            </a:pPr>
            <a:r>
              <a:rPr lang="en-US" sz="2688" b="1">
                <a:solidFill>
                  <a:srgbClr val="1F0A49"/>
                </a:solidFill>
                <a:latin typeface="Canva Sans Bold"/>
                <a:ea typeface="Canva Sans Bold"/>
                <a:cs typeface="Canva Sans Bold"/>
                <a:sym typeface="Canva Sans Bold"/>
              </a:rPr>
              <a:t>Engagement entrée</a:t>
            </a:r>
          </a:p>
        </p:txBody>
      </p:sp>
      <p:sp>
        <p:nvSpPr>
          <p:cNvPr id="68" name="TextBox 68"/>
          <p:cNvSpPr txBox="1"/>
          <p:nvPr/>
        </p:nvSpPr>
        <p:spPr>
          <a:xfrm>
            <a:off x="12345385" y="8198027"/>
            <a:ext cx="2361967" cy="699229"/>
          </a:xfrm>
          <a:prstGeom prst="rect">
            <a:avLst/>
          </a:prstGeom>
        </p:spPr>
        <p:txBody>
          <a:bodyPr lIns="0" tIns="0" rIns="0" bIns="0" rtlCol="0" anchor="t">
            <a:spAutoFit/>
          </a:bodyPr>
          <a:lstStyle/>
          <a:p>
            <a:pPr marL="0" lvl="0" indent="0" algn="ctr">
              <a:lnSpc>
                <a:spcPts val="1883"/>
              </a:lnSpc>
            </a:pPr>
            <a:r>
              <a:rPr lang="en-US" sz="1345">
                <a:solidFill>
                  <a:srgbClr val="575757"/>
                </a:solidFill>
                <a:latin typeface="Canva Sans"/>
                <a:ea typeface="Canva Sans"/>
                <a:cs typeface="Canva Sans"/>
                <a:sym typeface="Canva Sans"/>
              </a:rPr>
              <a:t>Majorité ⌈N/2⌉ confirme → commitIndex avance, entrée committée.</a:t>
            </a:r>
          </a:p>
        </p:txBody>
      </p:sp>
      <p:sp>
        <p:nvSpPr>
          <p:cNvPr id="69" name="TextBox 69"/>
          <p:cNvSpPr txBox="1"/>
          <p:nvPr/>
        </p:nvSpPr>
        <p:spPr>
          <a:xfrm>
            <a:off x="15297824" y="3368767"/>
            <a:ext cx="2397522" cy="821144"/>
          </a:xfrm>
          <a:prstGeom prst="rect">
            <a:avLst/>
          </a:prstGeom>
        </p:spPr>
        <p:txBody>
          <a:bodyPr lIns="0" tIns="0" rIns="0" bIns="0" rtlCol="0" anchor="t">
            <a:spAutoFit/>
          </a:bodyPr>
          <a:lstStyle/>
          <a:p>
            <a:pPr marL="0" lvl="0" indent="0" algn="ctr">
              <a:lnSpc>
                <a:spcPts val="3226"/>
              </a:lnSpc>
            </a:pPr>
            <a:r>
              <a:rPr lang="en-US" sz="2688" b="1">
                <a:solidFill>
                  <a:srgbClr val="1F0A49"/>
                </a:solidFill>
                <a:latin typeface="Canva Sans Bold"/>
                <a:ea typeface="Canva Sans Bold"/>
                <a:cs typeface="Canva Sans Bold"/>
                <a:sym typeface="Canva Sans Bold"/>
              </a:rPr>
              <a:t>Application état</a:t>
            </a:r>
          </a:p>
        </p:txBody>
      </p:sp>
      <p:sp>
        <p:nvSpPr>
          <p:cNvPr id="70" name="TextBox 70"/>
          <p:cNvSpPr txBox="1"/>
          <p:nvPr/>
        </p:nvSpPr>
        <p:spPr>
          <a:xfrm>
            <a:off x="15315601" y="4195131"/>
            <a:ext cx="2361967" cy="699229"/>
          </a:xfrm>
          <a:prstGeom prst="rect">
            <a:avLst/>
          </a:prstGeom>
        </p:spPr>
        <p:txBody>
          <a:bodyPr lIns="0" tIns="0" rIns="0" bIns="0" rtlCol="0" anchor="t">
            <a:spAutoFit/>
          </a:bodyPr>
          <a:lstStyle/>
          <a:p>
            <a:pPr marL="0" lvl="0" indent="0" algn="ctr">
              <a:lnSpc>
                <a:spcPts val="1883"/>
              </a:lnSpc>
            </a:pPr>
            <a:r>
              <a:rPr lang="en-US" sz="1345">
                <a:solidFill>
                  <a:srgbClr val="575757"/>
                </a:solidFill>
                <a:latin typeface="Canva Sans"/>
                <a:ea typeface="Canva Sans"/>
                <a:cs typeface="Canva Sans"/>
                <a:sym typeface="Canva Sans"/>
              </a:rPr>
              <a:t>Entrée appliquée à la machine à états, réponse envoyée au client.</a:t>
            </a:r>
          </a:p>
        </p:txBody>
      </p:sp>
      <p:sp>
        <p:nvSpPr>
          <p:cNvPr id="71" name="TextBox 71"/>
          <p:cNvSpPr txBox="1"/>
          <p:nvPr/>
        </p:nvSpPr>
        <p:spPr>
          <a:xfrm>
            <a:off x="6754464" y="6020128"/>
            <a:ext cx="1385736" cy="331055"/>
          </a:xfrm>
          <a:prstGeom prst="rect">
            <a:avLst/>
          </a:prstGeom>
        </p:spPr>
        <p:txBody>
          <a:bodyPr lIns="0" tIns="0" rIns="0" bIns="0" rtlCol="0" anchor="t">
            <a:spAutoFit/>
          </a:bodyPr>
          <a:lstStyle/>
          <a:p>
            <a:pPr marL="0" lvl="0" indent="0" algn="ctr">
              <a:lnSpc>
                <a:spcPts val="2688"/>
              </a:lnSpc>
            </a:pPr>
            <a:r>
              <a:rPr lang="en-US" sz="2240" b="1">
                <a:solidFill>
                  <a:srgbClr val="FFFFFF"/>
                </a:solidFill>
                <a:latin typeface="Canva Sans Bold"/>
                <a:ea typeface="Canva Sans Bold"/>
                <a:cs typeface="Canva Sans Bold"/>
                <a:sym typeface="Canva Sans Bold"/>
              </a:rPr>
              <a:t>Étape 03</a:t>
            </a:r>
          </a:p>
        </p:txBody>
      </p:sp>
      <p:sp>
        <p:nvSpPr>
          <p:cNvPr id="72" name="TextBox 72"/>
          <p:cNvSpPr txBox="1"/>
          <p:nvPr/>
        </p:nvSpPr>
        <p:spPr>
          <a:xfrm>
            <a:off x="9792564" y="6020128"/>
            <a:ext cx="1385736" cy="331055"/>
          </a:xfrm>
          <a:prstGeom prst="rect">
            <a:avLst/>
          </a:prstGeom>
        </p:spPr>
        <p:txBody>
          <a:bodyPr lIns="0" tIns="0" rIns="0" bIns="0" rtlCol="0" anchor="t">
            <a:spAutoFit/>
          </a:bodyPr>
          <a:lstStyle/>
          <a:p>
            <a:pPr marL="0" lvl="0" indent="0" algn="ctr">
              <a:lnSpc>
                <a:spcPts val="2688"/>
              </a:lnSpc>
            </a:pPr>
            <a:r>
              <a:rPr lang="en-US" sz="2240" b="1">
                <a:solidFill>
                  <a:srgbClr val="FFFFFF"/>
                </a:solidFill>
                <a:latin typeface="Canva Sans Bold"/>
                <a:ea typeface="Canva Sans Bold"/>
                <a:cs typeface="Canva Sans Bold"/>
                <a:sym typeface="Canva Sans Bold"/>
              </a:rPr>
              <a:t>Étape 04</a:t>
            </a:r>
          </a:p>
        </p:txBody>
      </p:sp>
      <p:sp>
        <p:nvSpPr>
          <p:cNvPr id="73" name="TextBox 73"/>
          <p:cNvSpPr txBox="1"/>
          <p:nvPr/>
        </p:nvSpPr>
        <p:spPr>
          <a:xfrm>
            <a:off x="12825456" y="6020128"/>
            <a:ext cx="1385736" cy="331055"/>
          </a:xfrm>
          <a:prstGeom prst="rect">
            <a:avLst/>
          </a:prstGeom>
        </p:spPr>
        <p:txBody>
          <a:bodyPr lIns="0" tIns="0" rIns="0" bIns="0" rtlCol="0" anchor="t">
            <a:spAutoFit/>
          </a:bodyPr>
          <a:lstStyle/>
          <a:p>
            <a:pPr marL="0" lvl="0" indent="0" algn="ctr">
              <a:lnSpc>
                <a:spcPts val="2688"/>
              </a:lnSpc>
            </a:pPr>
            <a:r>
              <a:rPr lang="en-US" sz="2240" b="1">
                <a:solidFill>
                  <a:srgbClr val="FFFFFF"/>
                </a:solidFill>
                <a:latin typeface="Canva Sans Bold"/>
                <a:ea typeface="Canva Sans Bold"/>
                <a:cs typeface="Canva Sans Bold"/>
                <a:sym typeface="Canva Sans Bold"/>
              </a:rPr>
              <a:t>Étape 05</a:t>
            </a:r>
          </a:p>
        </p:txBody>
      </p:sp>
      <p:sp>
        <p:nvSpPr>
          <p:cNvPr id="74" name="TextBox 74"/>
          <p:cNvSpPr txBox="1"/>
          <p:nvPr/>
        </p:nvSpPr>
        <p:spPr>
          <a:xfrm>
            <a:off x="15853142" y="6020128"/>
            <a:ext cx="1385736" cy="331055"/>
          </a:xfrm>
          <a:prstGeom prst="rect">
            <a:avLst/>
          </a:prstGeom>
        </p:spPr>
        <p:txBody>
          <a:bodyPr lIns="0" tIns="0" rIns="0" bIns="0" rtlCol="0" anchor="t">
            <a:spAutoFit/>
          </a:bodyPr>
          <a:lstStyle/>
          <a:p>
            <a:pPr marL="0" lvl="0" indent="0" algn="ctr">
              <a:lnSpc>
                <a:spcPts val="2688"/>
              </a:lnSpc>
            </a:pPr>
            <a:r>
              <a:rPr lang="en-US" sz="2240" b="1">
                <a:solidFill>
                  <a:srgbClr val="FFFFFF"/>
                </a:solidFill>
                <a:latin typeface="Canva Sans Bold"/>
                <a:ea typeface="Canva Sans Bold"/>
                <a:cs typeface="Canva Sans Bold"/>
                <a:sym typeface="Canva Sans Bold"/>
              </a:rPr>
              <a:t>Étape 06</a:t>
            </a:r>
          </a:p>
        </p:txBody>
      </p:sp>
      <p:sp>
        <p:nvSpPr>
          <p:cNvPr id="75" name="TextBox 75"/>
          <p:cNvSpPr txBox="1"/>
          <p:nvPr/>
        </p:nvSpPr>
        <p:spPr>
          <a:xfrm>
            <a:off x="16050268" y="9473025"/>
            <a:ext cx="724046" cy="242707"/>
          </a:xfrm>
          <a:prstGeom prst="rect">
            <a:avLst/>
          </a:prstGeom>
        </p:spPr>
        <p:txBody>
          <a:bodyPr lIns="0" tIns="0" rIns="0" bIns="0" rtlCol="0" anchor="t">
            <a:spAutoFit/>
          </a:bodyPr>
          <a:lstStyle/>
          <a:p>
            <a:pPr marL="0" lvl="0" indent="0" algn="l">
              <a:lnSpc>
                <a:spcPts val="1857"/>
              </a:lnSpc>
            </a:pPr>
            <a:r>
              <a:rPr lang="en-US" sz="1821" b="1">
                <a:solidFill>
                  <a:srgbClr val="240960"/>
                </a:solidFill>
                <a:latin typeface="Montserrat Bold"/>
                <a:ea typeface="Montserrat Bold"/>
                <a:cs typeface="Montserrat Bold"/>
                <a:sym typeface="Montserrat Bold"/>
              </a:rPr>
              <a:t>Page</a:t>
            </a:r>
          </a:p>
        </p:txBody>
      </p:sp>
      <p:sp>
        <p:nvSpPr>
          <p:cNvPr id="76" name="TextBox 76"/>
          <p:cNvSpPr txBox="1"/>
          <p:nvPr/>
        </p:nvSpPr>
        <p:spPr>
          <a:xfrm>
            <a:off x="16774314" y="9507706"/>
            <a:ext cx="484986" cy="208026"/>
          </a:xfrm>
          <a:prstGeom prst="rect">
            <a:avLst/>
          </a:prstGeom>
        </p:spPr>
        <p:txBody>
          <a:bodyPr lIns="0" tIns="0" rIns="0" bIns="0" rtlCol="0" anchor="t">
            <a:spAutoFit/>
          </a:bodyPr>
          <a:lstStyle/>
          <a:p>
            <a:pPr marL="0" lvl="0" indent="0" algn="l">
              <a:lnSpc>
                <a:spcPts val="1631"/>
              </a:lnSpc>
            </a:pPr>
            <a:r>
              <a:rPr lang="en-US" sz="1599" dirty="0">
                <a:solidFill>
                  <a:srgbClr val="240960"/>
                </a:solidFill>
                <a:latin typeface="Montserrat"/>
                <a:ea typeface="Montserrat"/>
                <a:cs typeface="Montserrat"/>
                <a:sym typeface="Montserrat"/>
              </a:rPr>
              <a:t>09</a:t>
            </a:r>
          </a:p>
        </p:txBody>
      </p:sp>
      <p:sp>
        <p:nvSpPr>
          <p:cNvPr id="77" name="Freeform 30">
            <a:extLst>
              <a:ext uri="{FF2B5EF4-FFF2-40B4-BE49-F238E27FC236}">
                <a16:creationId xmlns:a16="http://schemas.microsoft.com/office/drawing/2014/main" id="{D74A4CF9-2DF3-E392-764F-5C8297ED5C2D}"/>
              </a:ext>
            </a:extLst>
          </p:cNvPr>
          <p:cNvSpPr/>
          <p:nvPr/>
        </p:nvSpPr>
        <p:spPr>
          <a:xfrm>
            <a:off x="1028700" y="9444450"/>
            <a:ext cx="415258" cy="415258"/>
          </a:xfrm>
          <a:custGeom>
            <a:avLst/>
            <a:gdLst/>
            <a:ahLst/>
            <a:cxnLst/>
            <a:rect l="l" t="t" r="r" b="b"/>
            <a:pathLst>
              <a:path w="415258" h="415258">
                <a:moveTo>
                  <a:pt x="0" y="0"/>
                </a:moveTo>
                <a:lnTo>
                  <a:pt x="415258" y="0"/>
                </a:lnTo>
                <a:lnTo>
                  <a:pt x="415258" y="415258"/>
                </a:lnTo>
                <a:lnTo>
                  <a:pt x="0" y="415258"/>
                </a:lnTo>
                <a:lnTo>
                  <a:pt x="0" y="0"/>
                </a:lnTo>
                <a:close/>
              </a:path>
            </a:pathLst>
          </a:custGeom>
          <a:blipFill>
            <a:blip>
              <a:extLst>
                <a:ext uri="{96DAC541-7B7A-43D3-8B79-37D633B846F1}">
                  <asvg:svgBlip xmlns:asvg="http://schemas.microsoft.com/office/drawing/2016/SVG/main" r:embed="rId16"/>
                </a:ext>
              </a:extLst>
            </a:blip>
            <a:stretch>
              <a:fillRect/>
            </a:stretch>
          </a:blipFill>
        </p:spPr>
        <p:txBody>
          <a:bodyPr/>
          <a:lstStyle/>
          <a:p>
            <a:endParaRPr lang="fr-F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bg>
      <p:bgPr>
        <a:solidFill>
          <a:srgbClr val="EDE5FF"/>
        </a:solidFill>
        <a:effectLst/>
      </p:bgPr>
    </p:bg>
    <p:spTree>
      <p:nvGrpSpPr>
        <p:cNvPr id="1" name=""/>
        <p:cNvGrpSpPr/>
        <p:nvPr/>
      </p:nvGrpSpPr>
      <p:grpSpPr>
        <a:xfrm>
          <a:off x="0" y="0"/>
          <a:ext cx="0" cy="0"/>
          <a:chOff x="0" y="0"/>
          <a:chExt cx="0" cy="0"/>
        </a:xfrm>
      </p:grpSpPr>
      <p:grpSp>
        <p:nvGrpSpPr>
          <p:cNvPr id="2" name="Group 2"/>
          <p:cNvGrpSpPr/>
          <p:nvPr/>
        </p:nvGrpSpPr>
        <p:grpSpPr>
          <a:xfrm>
            <a:off x="3710834" y="816322"/>
            <a:ext cx="4698223" cy="4698223"/>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C67BF">
                    <a:alpha val="58000"/>
                  </a:srgbClr>
                </a:gs>
                <a:gs pos="100000">
                  <a:srgbClr val="F7ACFF">
                    <a:alpha val="58000"/>
                  </a:srgbClr>
                </a:gs>
              </a:gsLst>
              <a:lin ang="0"/>
            </a:gradFill>
          </p:spPr>
        </p:sp>
        <p:sp>
          <p:nvSpPr>
            <p:cNvPr id="4" name="TextBox 4"/>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pPr>
              <a:endParaRPr/>
            </a:p>
          </p:txBody>
        </p:sp>
      </p:grpSp>
      <p:grpSp>
        <p:nvGrpSpPr>
          <p:cNvPr id="7" name="Group 7"/>
          <p:cNvGrpSpPr/>
          <p:nvPr/>
        </p:nvGrpSpPr>
        <p:grpSpPr>
          <a:xfrm rot="-7357214">
            <a:off x="9526063" y="3005254"/>
            <a:ext cx="3708059" cy="3708059"/>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C67BF">
                    <a:alpha val="58000"/>
                  </a:srgbClr>
                </a:gs>
                <a:gs pos="100000">
                  <a:srgbClr val="F7ACFF">
                    <a:alpha val="0"/>
                  </a:srgbClr>
                </a:gs>
              </a:gsLst>
              <a:lin ang="0"/>
            </a:gradFill>
          </p:spPr>
        </p:sp>
        <p:sp>
          <p:nvSpPr>
            <p:cNvPr id="9" name="TextBox 9"/>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pPr>
              <a:endParaRPr/>
            </a:p>
          </p:txBody>
        </p:sp>
      </p:grpSp>
      <p:sp>
        <p:nvSpPr>
          <p:cNvPr id="10" name="Freeform 10"/>
          <p:cNvSpPr/>
          <p:nvPr/>
        </p:nvSpPr>
        <p:spPr>
          <a:xfrm>
            <a:off x="1349938" y="875473"/>
            <a:ext cx="490149" cy="403705"/>
          </a:xfrm>
          <a:custGeom>
            <a:avLst/>
            <a:gdLst/>
            <a:ahLst/>
            <a:cxnLst/>
            <a:rect l="l" t="t" r="r" b="b"/>
            <a:pathLst>
              <a:path w="490149" h="403705">
                <a:moveTo>
                  <a:pt x="0" y="0"/>
                </a:moveTo>
                <a:lnTo>
                  <a:pt x="490149" y="0"/>
                </a:lnTo>
                <a:lnTo>
                  <a:pt x="490149" y="403705"/>
                </a:lnTo>
                <a:lnTo>
                  <a:pt x="0" y="403705"/>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14" name="TextBox 14"/>
          <p:cNvSpPr txBox="1"/>
          <p:nvPr/>
        </p:nvSpPr>
        <p:spPr>
          <a:xfrm>
            <a:off x="1996708" y="844897"/>
            <a:ext cx="1194260" cy="426539"/>
          </a:xfrm>
          <a:prstGeom prst="rect">
            <a:avLst/>
          </a:prstGeom>
        </p:spPr>
        <p:txBody>
          <a:bodyPr lIns="0" tIns="0" rIns="0" bIns="0" rtlCol="0" anchor="t">
            <a:spAutoFit/>
          </a:bodyPr>
          <a:lstStyle/>
          <a:p>
            <a:pPr marL="0" lvl="0" indent="0" algn="l">
              <a:lnSpc>
                <a:spcPts val="1676"/>
              </a:lnSpc>
            </a:pPr>
            <a:r>
              <a:rPr lang="en-US" sz="1643" b="1">
                <a:solidFill>
                  <a:srgbClr val="240960"/>
                </a:solidFill>
                <a:latin typeface="Montserrat Bold"/>
                <a:ea typeface="Montserrat Bold"/>
                <a:cs typeface="Montserrat Bold"/>
                <a:sym typeface="Montserrat Bold"/>
              </a:rPr>
              <a:t>Raft : Consensus</a:t>
            </a:r>
          </a:p>
        </p:txBody>
      </p:sp>
      <p:sp>
        <p:nvSpPr>
          <p:cNvPr id="16" name="TextBox 16"/>
          <p:cNvSpPr txBox="1"/>
          <p:nvPr/>
        </p:nvSpPr>
        <p:spPr>
          <a:xfrm>
            <a:off x="16050268" y="9473025"/>
            <a:ext cx="724046" cy="242707"/>
          </a:xfrm>
          <a:prstGeom prst="rect">
            <a:avLst/>
          </a:prstGeom>
        </p:spPr>
        <p:txBody>
          <a:bodyPr lIns="0" tIns="0" rIns="0" bIns="0" rtlCol="0" anchor="t">
            <a:spAutoFit/>
          </a:bodyPr>
          <a:lstStyle/>
          <a:p>
            <a:pPr marL="0" lvl="0" indent="0" algn="l">
              <a:lnSpc>
                <a:spcPts val="1857"/>
              </a:lnSpc>
            </a:pPr>
            <a:r>
              <a:rPr lang="en-US" sz="1821" b="1">
                <a:solidFill>
                  <a:srgbClr val="240960"/>
                </a:solidFill>
                <a:latin typeface="Montserrat Bold"/>
                <a:ea typeface="Montserrat Bold"/>
                <a:cs typeface="Montserrat Bold"/>
                <a:sym typeface="Montserrat Bold"/>
              </a:rPr>
              <a:t>Page</a:t>
            </a:r>
          </a:p>
        </p:txBody>
      </p:sp>
      <p:sp>
        <p:nvSpPr>
          <p:cNvPr id="17" name="TextBox 17"/>
          <p:cNvSpPr txBox="1"/>
          <p:nvPr/>
        </p:nvSpPr>
        <p:spPr>
          <a:xfrm>
            <a:off x="16774314" y="9507706"/>
            <a:ext cx="484986" cy="208026"/>
          </a:xfrm>
          <a:prstGeom prst="rect">
            <a:avLst/>
          </a:prstGeom>
        </p:spPr>
        <p:txBody>
          <a:bodyPr lIns="0" tIns="0" rIns="0" bIns="0" rtlCol="0" anchor="t">
            <a:spAutoFit/>
          </a:bodyPr>
          <a:lstStyle/>
          <a:p>
            <a:pPr marL="0" lvl="0" indent="0" algn="l">
              <a:lnSpc>
                <a:spcPts val="1631"/>
              </a:lnSpc>
            </a:pPr>
            <a:r>
              <a:rPr lang="en-US" sz="1599" dirty="0">
                <a:solidFill>
                  <a:srgbClr val="240960"/>
                </a:solidFill>
                <a:latin typeface="Montserrat"/>
                <a:ea typeface="Montserrat"/>
                <a:cs typeface="Montserrat"/>
                <a:sym typeface="Montserrat"/>
              </a:rPr>
              <a:t>10</a:t>
            </a:r>
          </a:p>
        </p:txBody>
      </p:sp>
      <p:sp>
        <p:nvSpPr>
          <p:cNvPr id="19" name="Freeform 30">
            <a:extLst>
              <a:ext uri="{FF2B5EF4-FFF2-40B4-BE49-F238E27FC236}">
                <a16:creationId xmlns:a16="http://schemas.microsoft.com/office/drawing/2014/main" id="{70145E29-B456-861D-0C0F-86347C17B1A0}"/>
              </a:ext>
            </a:extLst>
          </p:cNvPr>
          <p:cNvSpPr/>
          <p:nvPr/>
        </p:nvSpPr>
        <p:spPr>
          <a:xfrm>
            <a:off x="1028700" y="9444450"/>
            <a:ext cx="415258" cy="415258"/>
          </a:xfrm>
          <a:custGeom>
            <a:avLst/>
            <a:gdLst/>
            <a:ahLst/>
            <a:cxnLst/>
            <a:rect l="l" t="t" r="r" b="b"/>
            <a:pathLst>
              <a:path w="415258" h="415258">
                <a:moveTo>
                  <a:pt x="0" y="0"/>
                </a:moveTo>
                <a:lnTo>
                  <a:pt x="415258" y="0"/>
                </a:lnTo>
                <a:lnTo>
                  <a:pt x="415258" y="415258"/>
                </a:lnTo>
                <a:lnTo>
                  <a:pt x="0" y="415258"/>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fr-FR"/>
          </a:p>
        </p:txBody>
      </p:sp>
      <p:pic>
        <p:nvPicPr>
          <p:cNvPr id="20" name="Image 19">
            <a:extLst>
              <a:ext uri="{FF2B5EF4-FFF2-40B4-BE49-F238E27FC236}">
                <a16:creationId xmlns:a16="http://schemas.microsoft.com/office/drawing/2014/main" id="{1C6481A8-2C8D-8EDC-7841-AB8B4E48E1B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502844" y="637064"/>
            <a:ext cx="14632442" cy="9754961"/>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DE5FF"/>
        </a:solidFill>
        <a:effectLst/>
      </p:bgPr>
    </p:bg>
    <p:spTree>
      <p:nvGrpSpPr>
        <p:cNvPr id="1" name="">
          <a:extLst>
            <a:ext uri="{FF2B5EF4-FFF2-40B4-BE49-F238E27FC236}">
              <a16:creationId xmlns:a16="http://schemas.microsoft.com/office/drawing/2014/main" id="{487C34F3-7066-F6BB-722E-D5E896AF1467}"/>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54160091-BA14-C663-5A4C-3EA44BB93857}"/>
              </a:ext>
            </a:extLst>
          </p:cNvPr>
          <p:cNvGrpSpPr/>
          <p:nvPr/>
        </p:nvGrpSpPr>
        <p:grpSpPr>
          <a:xfrm>
            <a:off x="3710834" y="816322"/>
            <a:ext cx="4698223" cy="4698223"/>
            <a:chOff x="0" y="0"/>
            <a:chExt cx="812800" cy="812800"/>
          </a:xfrm>
        </p:grpSpPr>
        <p:sp>
          <p:nvSpPr>
            <p:cNvPr id="3" name="Freeform 3">
              <a:extLst>
                <a:ext uri="{FF2B5EF4-FFF2-40B4-BE49-F238E27FC236}">
                  <a16:creationId xmlns:a16="http://schemas.microsoft.com/office/drawing/2014/main" id="{D5119833-7F40-E16E-8AF1-B456E64EA2E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C67BF">
                    <a:alpha val="58000"/>
                  </a:srgbClr>
                </a:gs>
                <a:gs pos="100000">
                  <a:srgbClr val="F7ACFF">
                    <a:alpha val="58000"/>
                  </a:srgbClr>
                </a:gs>
              </a:gsLst>
              <a:lin ang="0"/>
            </a:gradFill>
          </p:spPr>
        </p:sp>
        <p:sp>
          <p:nvSpPr>
            <p:cNvPr id="4" name="TextBox 4">
              <a:extLst>
                <a:ext uri="{FF2B5EF4-FFF2-40B4-BE49-F238E27FC236}">
                  <a16:creationId xmlns:a16="http://schemas.microsoft.com/office/drawing/2014/main" id="{38D8052A-09F6-6149-4D95-FB72E182DC74}"/>
                </a:ext>
              </a:extLst>
            </p:cNvPr>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pPr>
              <a:endParaRPr/>
            </a:p>
          </p:txBody>
        </p:sp>
      </p:grpSp>
      <p:sp>
        <p:nvSpPr>
          <p:cNvPr id="5" name="TextBox 5">
            <a:extLst>
              <a:ext uri="{FF2B5EF4-FFF2-40B4-BE49-F238E27FC236}">
                <a16:creationId xmlns:a16="http://schemas.microsoft.com/office/drawing/2014/main" id="{6FE21F59-9CD6-8233-CC8D-F8A485587C9D}"/>
              </a:ext>
            </a:extLst>
          </p:cNvPr>
          <p:cNvSpPr txBox="1"/>
          <p:nvPr/>
        </p:nvSpPr>
        <p:spPr>
          <a:xfrm>
            <a:off x="5233203" y="3306509"/>
            <a:ext cx="7055617" cy="1552774"/>
          </a:xfrm>
          <a:prstGeom prst="rect">
            <a:avLst/>
          </a:prstGeom>
        </p:spPr>
        <p:txBody>
          <a:bodyPr lIns="0" tIns="0" rIns="0" bIns="0" rtlCol="0" anchor="t">
            <a:spAutoFit/>
          </a:bodyPr>
          <a:lstStyle/>
          <a:p>
            <a:pPr marL="0" lvl="0" indent="0" algn="ctr">
              <a:lnSpc>
                <a:spcPts val="10820"/>
              </a:lnSpc>
            </a:pPr>
            <a:r>
              <a:rPr lang="en-US" sz="13525" b="1">
                <a:solidFill>
                  <a:srgbClr val="240960"/>
                </a:solidFill>
                <a:latin typeface="Montserrat Bold"/>
                <a:ea typeface="Montserrat Bold"/>
                <a:cs typeface="Montserrat Bold"/>
                <a:sym typeface="Montserrat Bold"/>
              </a:rPr>
              <a:t>Merci</a:t>
            </a:r>
          </a:p>
        </p:txBody>
      </p:sp>
      <p:sp>
        <p:nvSpPr>
          <p:cNvPr id="6" name="TextBox 6">
            <a:extLst>
              <a:ext uri="{FF2B5EF4-FFF2-40B4-BE49-F238E27FC236}">
                <a16:creationId xmlns:a16="http://schemas.microsoft.com/office/drawing/2014/main" id="{1C4BE1BF-AD64-CD85-4D2B-CFAEE35D2DEA}"/>
              </a:ext>
            </a:extLst>
          </p:cNvPr>
          <p:cNvSpPr txBox="1"/>
          <p:nvPr/>
        </p:nvSpPr>
        <p:spPr>
          <a:xfrm>
            <a:off x="6389516" y="4751154"/>
            <a:ext cx="4990576" cy="1552774"/>
          </a:xfrm>
          <a:prstGeom prst="rect">
            <a:avLst/>
          </a:prstGeom>
        </p:spPr>
        <p:txBody>
          <a:bodyPr lIns="0" tIns="0" rIns="0" bIns="0" rtlCol="0" anchor="t">
            <a:spAutoFit/>
          </a:bodyPr>
          <a:lstStyle/>
          <a:p>
            <a:pPr marL="0" lvl="0" indent="0" algn="ctr">
              <a:lnSpc>
                <a:spcPts val="10820"/>
              </a:lnSpc>
            </a:pPr>
            <a:r>
              <a:rPr lang="en-US" sz="13525">
                <a:solidFill>
                  <a:srgbClr val="240960"/>
                </a:solidFill>
                <a:latin typeface="Montserrat"/>
                <a:ea typeface="Montserrat"/>
                <a:cs typeface="Montserrat"/>
                <a:sym typeface="Montserrat"/>
              </a:rPr>
              <a:t>!</a:t>
            </a:r>
          </a:p>
        </p:txBody>
      </p:sp>
      <p:grpSp>
        <p:nvGrpSpPr>
          <p:cNvPr id="7" name="Group 7">
            <a:extLst>
              <a:ext uri="{FF2B5EF4-FFF2-40B4-BE49-F238E27FC236}">
                <a16:creationId xmlns:a16="http://schemas.microsoft.com/office/drawing/2014/main" id="{90EE061E-D9B7-299E-34C3-5D8549857834}"/>
              </a:ext>
            </a:extLst>
          </p:cNvPr>
          <p:cNvGrpSpPr/>
          <p:nvPr/>
        </p:nvGrpSpPr>
        <p:grpSpPr>
          <a:xfrm rot="-7357214">
            <a:off x="9526063" y="3005254"/>
            <a:ext cx="3708059" cy="3708059"/>
            <a:chOff x="0" y="0"/>
            <a:chExt cx="812800" cy="812800"/>
          </a:xfrm>
        </p:grpSpPr>
        <p:sp>
          <p:nvSpPr>
            <p:cNvPr id="8" name="Freeform 8">
              <a:extLst>
                <a:ext uri="{FF2B5EF4-FFF2-40B4-BE49-F238E27FC236}">
                  <a16:creationId xmlns:a16="http://schemas.microsoft.com/office/drawing/2014/main" id="{88E2C36B-8289-B8FE-97CD-105D5083182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C67BF">
                    <a:alpha val="58000"/>
                  </a:srgbClr>
                </a:gs>
                <a:gs pos="100000">
                  <a:srgbClr val="F7ACFF">
                    <a:alpha val="0"/>
                  </a:srgbClr>
                </a:gs>
              </a:gsLst>
              <a:lin ang="0"/>
            </a:gradFill>
          </p:spPr>
        </p:sp>
        <p:sp>
          <p:nvSpPr>
            <p:cNvPr id="9" name="TextBox 9">
              <a:extLst>
                <a:ext uri="{FF2B5EF4-FFF2-40B4-BE49-F238E27FC236}">
                  <a16:creationId xmlns:a16="http://schemas.microsoft.com/office/drawing/2014/main" id="{F983F5AB-A794-8B26-82B7-8C2EE772BE88}"/>
                </a:ext>
              </a:extLst>
            </p:cNvPr>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pPr>
              <a:endParaRPr/>
            </a:p>
          </p:txBody>
        </p:sp>
      </p:grpSp>
      <p:sp>
        <p:nvSpPr>
          <p:cNvPr id="10" name="Freeform 10">
            <a:extLst>
              <a:ext uri="{FF2B5EF4-FFF2-40B4-BE49-F238E27FC236}">
                <a16:creationId xmlns:a16="http://schemas.microsoft.com/office/drawing/2014/main" id="{712C139C-E07D-5A7D-6FE7-7154DF8901D1}"/>
              </a:ext>
            </a:extLst>
          </p:cNvPr>
          <p:cNvSpPr/>
          <p:nvPr/>
        </p:nvSpPr>
        <p:spPr>
          <a:xfrm>
            <a:off x="1349938" y="875473"/>
            <a:ext cx="490149" cy="403705"/>
          </a:xfrm>
          <a:custGeom>
            <a:avLst/>
            <a:gdLst/>
            <a:ahLst/>
            <a:cxnLst/>
            <a:rect l="l" t="t" r="r" b="b"/>
            <a:pathLst>
              <a:path w="490149" h="403705">
                <a:moveTo>
                  <a:pt x="0" y="0"/>
                </a:moveTo>
                <a:lnTo>
                  <a:pt x="490149" y="0"/>
                </a:lnTo>
                <a:lnTo>
                  <a:pt x="490149" y="403705"/>
                </a:lnTo>
                <a:lnTo>
                  <a:pt x="0" y="403705"/>
                </a:lnTo>
                <a:lnTo>
                  <a:pt x="0" y="0"/>
                </a:lnTo>
                <a:close/>
              </a:path>
            </a:pathLst>
          </a:custGeom>
          <a:blipFill>
            <a:blip>
              <a:extLst>
                <a:ext uri="{96DAC541-7B7A-43D3-8B79-37D633B846F1}">
                  <asvg:svgBlip xmlns:asvg="http://schemas.microsoft.com/office/drawing/2016/SVG/main" r:embed="rId3"/>
                </a:ext>
              </a:extLst>
            </a:blip>
            <a:stretch>
              <a:fillRect/>
            </a:stretch>
          </a:blipFill>
        </p:spPr>
      </p:sp>
      <p:grpSp>
        <p:nvGrpSpPr>
          <p:cNvPr id="11" name="Group 11">
            <a:extLst>
              <a:ext uri="{FF2B5EF4-FFF2-40B4-BE49-F238E27FC236}">
                <a16:creationId xmlns:a16="http://schemas.microsoft.com/office/drawing/2014/main" id="{396E24F9-19FD-2691-A8F6-5B81B23F015A}"/>
              </a:ext>
            </a:extLst>
          </p:cNvPr>
          <p:cNvGrpSpPr/>
          <p:nvPr/>
        </p:nvGrpSpPr>
        <p:grpSpPr>
          <a:xfrm>
            <a:off x="-491235" y="7486575"/>
            <a:ext cx="19270471" cy="1068974"/>
            <a:chOff x="0" y="0"/>
            <a:chExt cx="5075350" cy="281540"/>
          </a:xfrm>
        </p:grpSpPr>
        <p:sp>
          <p:nvSpPr>
            <p:cNvPr id="12" name="Freeform 12">
              <a:extLst>
                <a:ext uri="{FF2B5EF4-FFF2-40B4-BE49-F238E27FC236}">
                  <a16:creationId xmlns:a16="http://schemas.microsoft.com/office/drawing/2014/main" id="{9FE1E941-9640-E0B5-09E8-2DA71D35F3AB}"/>
                </a:ext>
              </a:extLst>
            </p:cNvPr>
            <p:cNvSpPr/>
            <p:nvPr/>
          </p:nvSpPr>
          <p:spPr>
            <a:xfrm>
              <a:off x="0" y="0"/>
              <a:ext cx="5075350" cy="281540"/>
            </a:xfrm>
            <a:custGeom>
              <a:avLst/>
              <a:gdLst/>
              <a:ahLst/>
              <a:cxnLst/>
              <a:rect l="l" t="t" r="r" b="b"/>
              <a:pathLst>
                <a:path w="5075350" h="281540">
                  <a:moveTo>
                    <a:pt x="0" y="0"/>
                  </a:moveTo>
                  <a:lnTo>
                    <a:pt x="5075350" y="0"/>
                  </a:lnTo>
                  <a:lnTo>
                    <a:pt x="5075350" y="281540"/>
                  </a:lnTo>
                  <a:lnTo>
                    <a:pt x="0" y="281540"/>
                  </a:lnTo>
                  <a:close/>
                </a:path>
              </a:pathLst>
            </a:custGeom>
            <a:gradFill rotWithShape="1">
              <a:gsLst>
                <a:gs pos="0">
                  <a:srgbClr val="3C67BF">
                    <a:alpha val="23000"/>
                  </a:srgbClr>
                </a:gs>
                <a:gs pos="50000">
                  <a:srgbClr val="6B4CAF">
                    <a:alpha val="13225"/>
                  </a:srgbClr>
                </a:gs>
                <a:gs pos="100000">
                  <a:srgbClr val="F7ACFF">
                    <a:alpha val="0"/>
                  </a:srgbClr>
                </a:gs>
              </a:gsLst>
              <a:lin ang="0"/>
            </a:gradFill>
          </p:spPr>
        </p:sp>
        <p:sp>
          <p:nvSpPr>
            <p:cNvPr id="13" name="TextBox 13">
              <a:extLst>
                <a:ext uri="{FF2B5EF4-FFF2-40B4-BE49-F238E27FC236}">
                  <a16:creationId xmlns:a16="http://schemas.microsoft.com/office/drawing/2014/main" id="{B8E24BD6-0C83-9BB5-FB61-FE973C3DEFDB}"/>
                </a:ext>
              </a:extLst>
            </p:cNvPr>
            <p:cNvSpPr txBox="1"/>
            <p:nvPr/>
          </p:nvSpPr>
          <p:spPr>
            <a:xfrm>
              <a:off x="0" y="-38100"/>
              <a:ext cx="5075350" cy="319640"/>
            </a:xfrm>
            <a:prstGeom prst="rect">
              <a:avLst/>
            </a:prstGeom>
          </p:spPr>
          <p:txBody>
            <a:bodyPr lIns="50800" tIns="50800" rIns="50800" bIns="50800" rtlCol="0" anchor="ctr"/>
            <a:lstStyle/>
            <a:p>
              <a:pPr marL="0" lvl="0" indent="0" algn="ctr">
                <a:lnSpc>
                  <a:spcPts val="2659"/>
                </a:lnSpc>
              </a:pPr>
              <a:endParaRPr/>
            </a:p>
          </p:txBody>
        </p:sp>
      </p:grpSp>
      <p:sp>
        <p:nvSpPr>
          <p:cNvPr id="14" name="TextBox 14">
            <a:extLst>
              <a:ext uri="{FF2B5EF4-FFF2-40B4-BE49-F238E27FC236}">
                <a16:creationId xmlns:a16="http://schemas.microsoft.com/office/drawing/2014/main" id="{7DCB1D14-A693-EE2F-B31C-10FE509CE0B2}"/>
              </a:ext>
            </a:extLst>
          </p:cNvPr>
          <p:cNvSpPr txBox="1"/>
          <p:nvPr/>
        </p:nvSpPr>
        <p:spPr>
          <a:xfrm>
            <a:off x="1996708" y="844897"/>
            <a:ext cx="1194260" cy="426539"/>
          </a:xfrm>
          <a:prstGeom prst="rect">
            <a:avLst/>
          </a:prstGeom>
        </p:spPr>
        <p:txBody>
          <a:bodyPr lIns="0" tIns="0" rIns="0" bIns="0" rtlCol="0" anchor="t">
            <a:spAutoFit/>
          </a:bodyPr>
          <a:lstStyle/>
          <a:p>
            <a:pPr marL="0" lvl="0" indent="0" algn="l">
              <a:lnSpc>
                <a:spcPts val="1676"/>
              </a:lnSpc>
            </a:pPr>
            <a:r>
              <a:rPr lang="en-US" sz="1643" b="1">
                <a:solidFill>
                  <a:srgbClr val="240960"/>
                </a:solidFill>
                <a:latin typeface="Montserrat Bold"/>
                <a:ea typeface="Montserrat Bold"/>
                <a:cs typeface="Montserrat Bold"/>
                <a:sym typeface="Montserrat Bold"/>
              </a:rPr>
              <a:t>Raft : Consensus</a:t>
            </a:r>
          </a:p>
        </p:txBody>
      </p:sp>
      <p:sp>
        <p:nvSpPr>
          <p:cNvPr id="15" name="TextBox 15">
            <a:extLst>
              <a:ext uri="{FF2B5EF4-FFF2-40B4-BE49-F238E27FC236}">
                <a16:creationId xmlns:a16="http://schemas.microsoft.com/office/drawing/2014/main" id="{1AB07B72-E70F-0DA5-4783-EEDFF29F0B5A}"/>
              </a:ext>
            </a:extLst>
          </p:cNvPr>
          <p:cNvSpPr txBox="1"/>
          <p:nvPr/>
        </p:nvSpPr>
        <p:spPr>
          <a:xfrm>
            <a:off x="6535255" y="7929258"/>
            <a:ext cx="4451512" cy="269335"/>
          </a:xfrm>
          <a:prstGeom prst="rect">
            <a:avLst/>
          </a:prstGeom>
        </p:spPr>
        <p:txBody>
          <a:bodyPr lIns="0" tIns="0" rIns="0" bIns="0" rtlCol="0" anchor="t">
            <a:spAutoFit/>
          </a:bodyPr>
          <a:lstStyle/>
          <a:p>
            <a:pPr marL="0" lvl="0" indent="0" algn="ctr">
              <a:lnSpc>
                <a:spcPts val="1904"/>
              </a:lnSpc>
            </a:pPr>
            <a:r>
              <a:rPr lang="en-US" sz="2380" i="1">
                <a:solidFill>
                  <a:srgbClr val="240960"/>
                </a:solidFill>
                <a:latin typeface="Montserrat Italics"/>
                <a:ea typeface="Montserrat Italics"/>
                <a:cs typeface="Montserrat Italics"/>
                <a:sym typeface="Montserrat Italics"/>
              </a:rPr>
              <a:t>Des questions ?</a:t>
            </a:r>
          </a:p>
        </p:txBody>
      </p:sp>
      <p:sp>
        <p:nvSpPr>
          <p:cNvPr id="16" name="TextBox 16">
            <a:extLst>
              <a:ext uri="{FF2B5EF4-FFF2-40B4-BE49-F238E27FC236}">
                <a16:creationId xmlns:a16="http://schemas.microsoft.com/office/drawing/2014/main" id="{2710E343-83FB-7FB1-25C0-36AB4746E567}"/>
              </a:ext>
            </a:extLst>
          </p:cNvPr>
          <p:cNvSpPr txBox="1"/>
          <p:nvPr/>
        </p:nvSpPr>
        <p:spPr>
          <a:xfrm>
            <a:off x="16050268" y="9473025"/>
            <a:ext cx="724046" cy="242707"/>
          </a:xfrm>
          <a:prstGeom prst="rect">
            <a:avLst/>
          </a:prstGeom>
        </p:spPr>
        <p:txBody>
          <a:bodyPr lIns="0" tIns="0" rIns="0" bIns="0" rtlCol="0" anchor="t">
            <a:spAutoFit/>
          </a:bodyPr>
          <a:lstStyle/>
          <a:p>
            <a:pPr marL="0" lvl="0" indent="0" algn="l">
              <a:lnSpc>
                <a:spcPts val="1857"/>
              </a:lnSpc>
            </a:pPr>
            <a:r>
              <a:rPr lang="en-US" sz="1821" b="1" dirty="0">
                <a:solidFill>
                  <a:srgbClr val="240960"/>
                </a:solidFill>
                <a:latin typeface="Montserrat Bold"/>
                <a:ea typeface="Montserrat Bold"/>
                <a:cs typeface="Montserrat Bold"/>
                <a:sym typeface="Montserrat Bold"/>
              </a:rPr>
              <a:t>Page</a:t>
            </a:r>
          </a:p>
        </p:txBody>
      </p:sp>
      <p:sp>
        <p:nvSpPr>
          <p:cNvPr id="17" name="TextBox 17">
            <a:extLst>
              <a:ext uri="{FF2B5EF4-FFF2-40B4-BE49-F238E27FC236}">
                <a16:creationId xmlns:a16="http://schemas.microsoft.com/office/drawing/2014/main" id="{8C8460DD-C66B-7F45-5E80-ACC6E28CC779}"/>
              </a:ext>
            </a:extLst>
          </p:cNvPr>
          <p:cNvSpPr txBox="1"/>
          <p:nvPr/>
        </p:nvSpPr>
        <p:spPr>
          <a:xfrm>
            <a:off x="16774314" y="9507706"/>
            <a:ext cx="484986" cy="208026"/>
          </a:xfrm>
          <a:prstGeom prst="rect">
            <a:avLst/>
          </a:prstGeom>
        </p:spPr>
        <p:txBody>
          <a:bodyPr lIns="0" tIns="0" rIns="0" bIns="0" rtlCol="0" anchor="t">
            <a:spAutoFit/>
          </a:bodyPr>
          <a:lstStyle/>
          <a:p>
            <a:pPr marL="0" lvl="0" indent="0" algn="l">
              <a:lnSpc>
                <a:spcPts val="1631"/>
              </a:lnSpc>
            </a:pPr>
            <a:r>
              <a:rPr lang="en-US" sz="1599" dirty="0">
                <a:solidFill>
                  <a:srgbClr val="240960"/>
                </a:solidFill>
                <a:latin typeface="Montserrat"/>
                <a:ea typeface="Montserrat"/>
                <a:cs typeface="Montserrat"/>
                <a:sym typeface="Montserrat"/>
              </a:rPr>
              <a:t>10</a:t>
            </a:r>
          </a:p>
        </p:txBody>
      </p:sp>
      <p:sp>
        <p:nvSpPr>
          <p:cNvPr id="19" name="Freeform 30">
            <a:extLst>
              <a:ext uri="{FF2B5EF4-FFF2-40B4-BE49-F238E27FC236}">
                <a16:creationId xmlns:a16="http://schemas.microsoft.com/office/drawing/2014/main" id="{5CD06B1E-B796-06EA-AA85-EEA93CC8FF05}"/>
              </a:ext>
            </a:extLst>
          </p:cNvPr>
          <p:cNvSpPr/>
          <p:nvPr/>
        </p:nvSpPr>
        <p:spPr>
          <a:xfrm>
            <a:off x="1028700" y="9444450"/>
            <a:ext cx="415258" cy="415258"/>
          </a:xfrm>
          <a:custGeom>
            <a:avLst/>
            <a:gdLst/>
            <a:ahLst/>
            <a:cxnLst/>
            <a:rect l="l" t="t" r="r" b="b"/>
            <a:pathLst>
              <a:path w="415258" h="415258">
                <a:moveTo>
                  <a:pt x="0" y="0"/>
                </a:moveTo>
                <a:lnTo>
                  <a:pt x="415258" y="0"/>
                </a:lnTo>
                <a:lnTo>
                  <a:pt x="415258" y="415258"/>
                </a:lnTo>
                <a:lnTo>
                  <a:pt x="0" y="415258"/>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fr-FR"/>
          </a:p>
        </p:txBody>
      </p:sp>
    </p:spTree>
    <p:extLst>
      <p:ext uri="{BB962C8B-B14F-4D97-AF65-F5344CB8AC3E}">
        <p14:creationId xmlns:p14="http://schemas.microsoft.com/office/powerpoint/2010/main" val="35217972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DE5FF"/>
        </a:solidFill>
        <a:effectLst/>
      </p:bgPr>
    </p:bg>
    <p:spTree>
      <p:nvGrpSpPr>
        <p:cNvPr id="1" name=""/>
        <p:cNvGrpSpPr/>
        <p:nvPr/>
      </p:nvGrpSpPr>
      <p:grpSpPr>
        <a:xfrm>
          <a:off x="0" y="0"/>
          <a:ext cx="0" cy="0"/>
          <a:chOff x="0" y="0"/>
          <a:chExt cx="0" cy="0"/>
        </a:xfrm>
      </p:grpSpPr>
      <p:grpSp>
        <p:nvGrpSpPr>
          <p:cNvPr id="2" name="Group 2"/>
          <p:cNvGrpSpPr/>
          <p:nvPr/>
        </p:nvGrpSpPr>
        <p:grpSpPr>
          <a:xfrm>
            <a:off x="-381000" y="1356865"/>
            <a:ext cx="19526368" cy="1390117"/>
            <a:chOff x="0" y="0"/>
            <a:chExt cx="5142747" cy="366121"/>
          </a:xfrm>
        </p:grpSpPr>
        <p:sp>
          <p:nvSpPr>
            <p:cNvPr id="3" name="Freeform 3"/>
            <p:cNvSpPr/>
            <p:nvPr/>
          </p:nvSpPr>
          <p:spPr>
            <a:xfrm>
              <a:off x="0" y="0"/>
              <a:ext cx="5142747" cy="366121"/>
            </a:xfrm>
            <a:custGeom>
              <a:avLst/>
              <a:gdLst/>
              <a:ahLst/>
              <a:cxnLst/>
              <a:rect l="l" t="t" r="r" b="b"/>
              <a:pathLst>
                <a:path w="5142747" h="366121">
                  <a:moveTo>
                    <a:pt x="0" y="0"/>
                  </a:moveTo>
                  <a:lnTo>
                    <a:pt x="5142747" y="0"/>
                  </a:lnTo>
                  <a:lnTo>
                    <a:pt x="5142747" y="366121"/>
                  </a:lnTo>
                  <a:lnTo>
                    <a:pt x="0" y="366121"/>
                  </a:lnTo>
                  <a:close/>
                </a:path>
              </a:pathLst>
            </a:custGeom>
            <a:gradFill rotWithShape="1">
              <a:gsLst>
                <a:gs pos="0">
                  <a:srgbClr val="3C67BF">
                    <a:alpha val="23000"/>
                  </a:srgbClr>
                </a:gs>
                <a:gs pos="50000">
                  <a:srgbClr val="6B4CAF">
                    <a:alpha val="13225"/>
                  </a:srgbClr>
                </a:gs>
                <a:gs pos="100000">
                  <a:srgbClr val="F7ACFF">
                    <a:alpha val="0"/>
                  </a:srgbClr>
                </a:gs>
              </a:gsLst>
              <a:lin ang="0"/>
            </a:gradFill>
          </p:spPr>
        </p:sp>
        <p:sp>
          <p:nvSpPr>
            <p:cNvPr id="4" name="TextBox 4"/>
            <p:cNvSpPr txBox="1"/>
            <p:nvPr/>
          </p:nvSpPr>
          <p:spPr>
            <a:xfrm>
              <a:off x="0" y="-38100"/>
              <a:ext cx="5142747" cy="404221"/>
            </a:xfrm>
            <a:prstGeom prst="rect">
              <a:avLst/>
            </a:prstGeom>
          </p:spPr>
          <p:txBody>
            <a:bodyPr lIns="50800" tIns="50800" rIns="50800" bIns="50800" rtlCol="0" anchor="ctr"/>
            <a:lstStyle/>
            <a:p>
              <a:pPr marL="0" lvl="0" indent="0" algn="ctr">
                <a:lnSpc>
                  <a:spcPts val="2659"/>
                </a:lnSpc>
              </a:pPr>
              <a:endParaRPr/>
            </a:p>
          </p:txBody>
        </p:sp>
      </p:grpSp>
      <p:sp>
        <p:nvSpPr>
          <p:cNvPr id="5" name="Freeform 5"/>
          <p:cNvSpPr/>
          <p:nvPr/>
        </p:nvSpPr>
        <p:spPr>
          <a:xfrm>
            <a:off x="1247490" y="651441"/>
            <a:ext cx="696088" cy="639901"/>
          </a:xfrm>
          <a:custGeom>
            <a:avLst/>
            <a:gdLst/>
            <a:ahLst/>
            <a:cxnLst/>
            <a:rect l="l" t="t" r="r" b="b"/>
            <a:pathLst>
              <a:path w="696088" h="639901">
                <a:moveTo>
                  <a:pt x="0" y="0"/>
                </a:moveTo>
                <a:lnTo>
                  <a:pt x="696087" y="0"/>
                </a:lnTo>
                <a:lnTo>
                  <a:pt x="696087" y="639901"/>
                </a:lnTo>
                <a:lnTo>
                  <a:pt x="0" y="639901"/>
                </a:lnTo>
                <a:lnTo>
                  <a:pt x="0" y="0"/>
                </a:lnTo>
                <a:close/>
              </a:path>
            </a:pathLst>
          </a:custGeom>
          <a:blipFill>
            <a:blip r:embed="rId2"/>
            <a:stretch>
              <a:fillRect/>
            </a:stretch>
          </a:blipFill>
        </p:spPr>
      </p:sp>
      <p:sp>
        <p:nvSpPr>
          <p:cNvPr id="6" name="TextBox 6"/>
          <p:cNvSpPr txBox="1"/>
          <p:nvPr/>
        </p:nvSpPr>
        <p:spPr>
          <a:xfrm>
            <a:off x="1996708" y="844897"/>
            <a:ext cx="1194260" cy="426539"/>
          </a:xfrm>
          <a:prstGeom prst="rect">
            <a:avLst/>
          </a:prstGeom>
        </p:spPr>
        <p:txBody>
          <a:bodyPr lIns="0" tIns="0" rIns="0" bIns="0" rtlCol="0" anchor="t">
            <a:spAutoFit/>
          </a:bodyPr>
          <a:lstStyle/>
          <a:p>
            <a:pPr marL="0" lvl="0" indent="0" algn="l">
              <a:lnSpc>
                <a:spcPts val="1676"/>
              </a:lnSpc>
            </a:pPr>
            <a:r>
              <a:rPr lang="en-US" sz="1643" b="1">
                <a:solidFill>
                  <a:srgbClr val="240960"/>
                </a:solidFill>
                <a:latin typeface="Montserrat Bold"/>
                <a:ea typeface="Montserrat Bold"/>
                <a:cs typeface="Montserrat Bold"/>
                <a:sym typeface="Montserrat Bold"/>
              </a:rPr>
              <a:t>Raft</a:t>
            </a:r>
          </a:p>
          <a:p>
            <a:pPr marL="0" lvl="0" indent="0" algn="l">
              <a:lnSpc>
                <a:spcPts val="1676"/>
              </a:lnSpc>
            </a:pPr>
            <a:r>
              <a:rPr lang="en-US" sz="1643" b="1">
                <a:solidFill>
                  <a:srgbClr val="240960"/>
                </a:solidFill>
                <a:latin typeface="Montserrat Bold"/>
                <a:ea typeface="Montserrat Bold"/>
                <a:cs typeface="Montserrat Bold"/>
                <a:sym typeface="Montserrat Bold"/>
              </a:rPr>
              <a:t>Consensus</a:t>
            </a:r>
          </a:p>
        </p:txBody>
      </p:sp>
      <p:sp>
        <p:nvSpPr>
          <p:cNvPr id="7" name="TextBox 7"/>
          <p:cNvSpPr txBox="1"/>
          <p:nvPr/>
        </p:nvSpPr>
        <p:spPr>
          <a:xfrm>
            <a:off x="2939551" y="1623565"/>
            <a:ext cx="7310908" cy="766010"/>
          </a:xfrm>
          <a:prstGeom prst="rect">
            <a:avLst/>
          </a:prstGeom>
        </p:spPr>
        <p:txBody>
          <a:bodyPr lIns="0" tIns="0" rIns="0" bIns="0" rtlCol="0" anchor="t">
            <a:spAutoFit/>
          </a:bodyPr>
          <a:lstStyle/>
          <a:p>
            <a:pPr marL="0" lvl="0" indent="0" algn="ctr">
              <a:lnSpc>
                <a:spcPts val="5463"/>
              </a:lnSpc>
            </a:pPr>
            <a:r>
              <a:rPr lang="en-US" sz="6828" b="1" dirty="0">
                <a:solidFill>
                  <a:srgbClr val="240960"/>
                </a:solidFill>
                <a:latin typeface="Montserrat Bold"/>
                <a:ea typeface="Montserrat Bold"/>
                <a:cs typeface="Montserrat Bold"/>
                <a:sym typeface="Montserrat Bold"/>
              </a:rPr>
              <a:t>Les </a:t>
            </a:r>
          </a:p>
        </p:txBody>
      </p:sp>
      <p:sp>
        <p:nvSpPr>
          <p:cNvPr id="8" name="TextBox 8"/>
          <p:cNvSpPr txBox="1"/>
          <p:nvPr/>
        </p:nvSpPr>
        <p:spPr>
          <a:xfrm>
            <a:off x="6769629" y="1885642"/>
            <a:ext cx="4632515" cy="766010"/>
          </a:xfrm>
          <a:prstGeom prst="rect">
            <a:avLst/>
          </a:prstGeom>
        </p:spPr>
        <p:txBody>
          <a:bodyPr lIns="0" tIns="0" rIns="0" bIns="0" rtlCol="0" anchor="t">
            <a:spAutoFit/>
          </a:bodyPr>
          <a:lstStyle/>
          <a:p>
            <a:pPr marL="0" lvl="0" indent="0" algn="ctr">
              <a:lnSpc>
                <a:spcPts val="5463"/>
              </a:lnSpc>
            </a:pPr>
            <a:r>
              <a:rPr lang="en-US" sz="6828">
                <a:solidFill>
                  <a:srgbClr val="240960"/>
                </a:solidFill>
                <a:latin typeface="Montserrat"/>
                <a:ea typeface="Montserrat"/>
                <a:cs typeface="Montserrat"/>
                <a:sym typeface="Montserrat"/>
              </a:rPr>
              <a:t>sources</a:t>
            </a:r>
          </a:p>
        </p:txBody>
      </p:sp>
      <p:grpSp>
        <p:nvGrpSpPr>
          <p:cNvPr id="9" name="Group 9"/>
          <p:cNvGrpSpPr/>
          <p:nvPr/>
        </p:nvGrpSpPr>
        <p:grpSpPr>
          <a:xfrm>
            <a:off x="-135218" y="9473025"/>
            <a:ext cx="18651818" cy="813975"/>
            <a:chOff x="0" y="0"/>
            <a:chExt cx="5142747" cy="590171"/>
          </a:xfrm>
        </p:grpSpPr>
        <p:sp>
          <p:nvSpPr>
            <p:cNvPr id="10" name="Freeform 10"/>
            <p:cNvSpPr/>
            <p:nvPr/>
          </p:nvSpPr>
          <p:spPr>
            <a:xfrm>
              <a:off x="0" y="0"/>
              <a:ext cx="5142747" cy="590171"/>
            </a:xfrm>
            <a:custGeom>
              <a:avLst/>
              <a:gdLst/>
              <a:ahLst/>
              <a:cxnLst/>
              <a:rect l="l" t="t" r="r" b="b"/>
              <a:pathLst>
                <a:path w="5142747" h="590171">
                  <a:moveTo>
                    <a:pt x="0" y="0"/>
                  </a:moveTo>
                  <a:lnTo>
                    <a:pt x="5142747" y="0"/>
                  </a:lnTo>
                  <a:lnTo>
                    <a:pt x="5142747" y="590171"/>
                  </a:lnTo>
                  <a:lnTo>
                    <a:pt x="0" y="590171"/>
                  </a:lnTo>
                  <a:close/>
                </a:path>
              </a:pathLst>
            </a:custGeom>
            <a:gradFill rotWithShape="1">
              <a:gsLst>
                <a:gs pos="0">
                  <a:srgbClr val="3C67BF">
                    <a:alpha val="23000"/>
                  </a:srgbClr>
                </a:gs>
                <a:gs pos="50000">
                  <a:srgbClr val="6B4CAF">
                    <a:alpha val="13225"/>
                  </a:srgbClr>
                </a:gs>
                <a:gs pos="100000">
                  <a:srgbClr val="F7ACFF">
                    <a:alpha val="0"/>
                  </a:srgbClr>
                </a:gs>
              </a:gsLst>
              <a:lin ang="0"/>
            </a:gradFill>
          </p:spPr>
        </p:sp>
        <p:sp>
          <p:nvSpPr>
            <p:cNvPr id="11" name="TextBox 11"/>
            <p:cNvSpPr txBox="1"/>
            <p:nvPr/>
          </p:nvSpPr>
          <p:spPr>
            <a:xfrm>
              <a:off x="0" y="-38100"/>
              <a:ext cx="5142747" cy="628271"/>
            </a:xfrm>
            <a:prstGeom prst="rect">
              <a:avLst/>
            </a:prstGeom>
          </p:spPr>
          <p:txBody>
            <a:bodyPr lIns="50800" tIns="50800" rIns="50800" bIns="50800" rtlCol="0" anchor="ctr"/>
            <a:lstStyle/>
            <a:p>
              <a:pPr marL="0" lvl="0" indent="0" algn="ctr">
                <a:lnSpc>
                  <a:spcPts val="2659"/>
                </a:lnSpc>
              </a:pPr>
              <a:endParaRPr/>
            </a:p>
          </p:txBody>
        </p:sp>
      </p:grpSp>
      <p:grpSp>
        <p:nvGrpSpPr>
          <p:cNvPr id="12" name="Group 12"/>
          <p:cNvGrpSpPr/>
          <p:nvPr/>
        </p:nvGrpSpPr>
        <p:grpSpPr>
          <a:xfrm>
            <a:off x="15650032" y="-230555"/>
            <a:ext cx="2866568" cy="1941370"/>
            <a:chOff x="0" y="0"/>
            <a:chExt cx="5142747" cy="590171"/>
          </a:xfrm>
        </p:grpSpPr>
        <p:sp>
          <p:nvSpPr>
            <p:cNvPr id="13" name="Freeform 13"/>
            <p:cNvSpPr/>
            <p:nvPr/>
          </p:nvSpPr>
          <p:spPr>
            <a:xfrm>
              <a:off x="0" y="0"/>
              <a:ext cx="5142747" cy="590171"/>
            </a:xfrm>
            <a:custGeom>
              <a:avLst/>
              <a:gdLst/>
              <a:ahLst/>
              <a:cxnLst/>
              <a:rect l="l" t="t" r="r" b="b"/>
              <a:pathLst>
                <a:path w="5142747" h="590171">
                  <a:moveTo>
                    <a:pt x="0" y="0"/>
                  </a:moveTo>
                  <a:lnTo>
                    <a:pt x="5142747" y="0"/>
                  </a:lnTo>
                  <a:lnTo>
                    <a:pt x="5142747" y="590171"/>
                  </a:lnTo>
                  <a:lnTo>
                    <a:pt x="0" y="590171"/>
                  </a:lnTo>
                  <a:close/>
                </a:path>
              </a:pathLst>
            </a:custGeom>
            <a:gradFill rotWithShape="1">
              <a:gsLst>
                <a:gs pos="0">
                  <a:srgbClr val="3C67BF">
                    <a:alpha val="23000"/>
                  </a:srgbClr>
                </a:gs>
                <a:gs pos="50000">
                  <a:srgbClr val="6B4CAF">
                    <a:alpha val="13225"/>
                  </a:srgbClr>
                </a:gs>
                <a:gs pos="100000">
                  <a:srgbClr val="F7ACFF">
                    <a:alpha val="0"/>
                  </a:srgbClr>
                </a:gs>
              </a:gsLst>
              <a:lin ang="0"/>
            </a:gradFill>
          </p:spPr>
        </p:sp>
        <p:sp>
          <p:nvSpPr>
            <p:cNvPr id="14" name="TextBox 14"/>
            <p:cNvSpPr txBox="1"/>
            <p:nvPr/>
          </p:nvSpPr>
          <p:spPr>
            <a:xfrm>
              <a:off x="0" y="-38100"/>
              <a:ext cx="5142747" cy="628271"/>
            </a:xfrm>
            <a:prstGeom prst="rect">
              <a:avLst/>
            </a:prstGeom>
          </p:spPr>
          <p:txBody>
            <a:bodyPr lIns="50800" tIns="50800" rIns="50800" bIns="50800" rtlCol="0" anchor="ctr"/>
            <a:lstStyle/>
            <a:p>
              <a:pPr marL="0" lvl="0" indent="0" algn="ctr">
                <a:lnSpc>
                  <a:spcPts val="2659"/>
                </a:lnSpc>
              </a:pPr>
              <a:endParaRPr/>
            </a:p>
          </p:txBody>
        </p:sp>
      </p:grpSp>
      <p:sp>
        <p:nvSpPr>
          <p:cNvPr id="15" name="Freeform 15"/>
          <p:cNvSpPr/>
          <p:nvPr/>
        </p:nvSpPr>
        <p:spPr>
          <a:xfrm>
            <a:off x="996474" y="9445162"/>
            <a:ext cx="451701" cy="415590"/>
          </a:xfrm>
          <a:custGeom>
            <a:avLst/>
            <a:gdLst/>
            <a:ahLst/>
            <a:cxnLst/>
            <a:rect l="l" t="t" r="r" b="b"/>
            <a:pathLst>
              <a:path w="451701" h="415590">
                <a:moveTo>
                  <a:pt x="0" y="0"/>
                </a:moveTo>
                <a:lnTo>
                  <a:pt x="451701" y="0"/>
                </a:lnTo>
                <a:lnTo>
                  <a:pt x="451701" y="415590"/>
                </a:lnTo>
                <a:lnTo>
                  <a:pt x="0" y="415590"/>
                </a:lnTo>
                <a:lnTo>
                  <a:pt x="0" y="0"/>
                </a:lnTo>
                <a:close/>
              </a:path>
            </a:pathLst>
          </a:custGeom>
          <a:blipFill>
            <a:blip r:embed="rId3"/>
            <a:stretch>
              <a:fillRect/>
            </a:stretch>
          </a:blipFill>
        </p:spPr>
      </p:sp>
      <p:grpSp>
        <p:nvGrpSpPr>
          <p:cNvPr id="16" name="Group 16"/>
          <p:cNvGrpSpPr/>
          <p:nvPr/>
        </p:nvGrpSpPr>
        <p:grpSpPr>
          <a:xfrm>
            <a:off x="9814702" y="2746981"/>
            <a:ext cx="6748785" cy="4165429"/>
            <a:chOff x="0" y="0"/>
            <a:chExt cx="1777458" cy="709314"/>
          </a:xfrm>
        </p:grpSpPr>
        <p:sp>
          <p:nvSpPr>
            <p:cNvPr id="17" name="Freeform 17"/>
            <p:cNvSpPr/>
            <p:nvPr/>
          </p:nvSpPr>
          <p:spPr>
            <a:xfrm>
              <a:off x="0" y="0"/>
              <a:ext cx="1777458" cy="709314"/>
            </a:xfrm>
            <a:custGeom>
              <a:avLst/>
              <a:gdLst/>
              <a:ahLst/>
              <a:cxnLst/>
              <a:rect l="l" t="t" r="r" b="b"/>
              <a:pathLst>
                <a:path w="1777458" h="709314">
                  <a:moveTo>
                    <a:pt x="0" y="0"/>
                  </a:moveTo>
                  <a:lnTo>
                    <a:pt x="1777458" y="0"/>
                  </a:lnTo>
                  <a:lnTo>
                    <a:pt x="1777458" y="709314"/>
                  </a:lnTo>
                  <a:lnTo>
                    <a:pt x="0" y="709314"/>
                  </a:lnTo>
                  <a:close/>
                </a:path>
              </a:pathLst>
            </a:custGeom>
            <a:ln w="57150" cap="sq">
              <a:gradFill>
                <a:gsLst>
                  <a:gs pos="0">
                    <a:srgbClr val="3C67BF">
                      <a:alpha val="100000"/>
                    </a:srgbClr>
                  </a:gs>
                  <a:gs pos="50000">
                    <a:srgbClr val="6B4CAF">
                      <a:alpha val="57500"/>
                    </a:srgbClr>
                  </a:gs>
                  <a:gs pos="100000">
                    <a:srgbClr val="F7ACFF">
                      <a:alpha val="0"/>
                    </a:srgbClr>
                  </a:gs>
                </a:gsLst>
                <a:lin ang="0"/>
              </a:gradFill>
              <a:prstDash val="solid"/>
              <a:miter/>
            </a:ln>
          </p:spPr>
        </p:sp>
        <p:sp>
          <p:nvSpPr>
            <p:cNvPr id="18" name="TextBox 18"/>
            <p:cNvSpPr txBox="1"/>
            <p:nvPr/>
          </p:nvSpPr>
          <p:spPr>
            <a:xfrm>
              <a:off x="0" y="-38100"/>
              <a:ext cx="1777458" cy="747414"/>
            </a:xfrm>
            <a:prstGeom prst="rect">
              <a:avLst/>
            </a:prstGeom>
          </p:spPr>
          <p:txBody>
            <a:bodyPr lIns="50800" tIns="50800" rIns="50800" bIns="50800" rtlCol="0" anchor="ctr"/>
            <a:lstStyle/>
            <a:p>
              <a:pPr marL="0" lvl="0" indent="0" algn="ctr">
                <a:lnSpc>
                  <a:spcPts val="2659"/>
                </a:lnSpc>
              </a:pPr>
              <a:endParaRPr/>
            </a:p>
          </p:txBody>
        </p:sp>
      </p:grpSp>
      <p:sp>
        <p:nvSpPr>
          <p:cNvPr id="19" name="TextBox 19"/>
          <p:cNvSpPr txBox="1"/>
          <p:nvPr/>
        </p:nvSpPr>
        <p:spPr>
          <a:xfrm>
            <a:off x="10592601" y="3548432"/>
            <a:ext cx="3980452" cy="290947"/>
          </a:xfrm>
          <a:prstGeom prst="rect">
            <a:avLst/>
          </a:prstGeom>
        </p:spPr>
        <p:txBody>
          <a:bodyPr lIns="0" tIns="0" rIns="0" bIns="0" rtlCol="0" anchor="t">
            <a:spAutoFit/>
          </a:bodyPr>
          <a:lstStyle/>
          <a:p>
            <a:pPr marL="0" lvl="0" indent="0" algn="l">
              <a:lnSpc>
                <a:spcPts val="2202"/>
              </a:lnSpc>
            </a:pPr>
            <a:r>
              <a:rPr lang="en-US" sz="1932" dirty="0">
                <a:solidFill>
                  <a:srgbClr val="240960"/>
                </a:solidFill>
                <a:latin typeface="Montserrat"/>
                <a:ea typeface="Montserrat"/>
                <a:cs typeface="Montserrat"/>
                <a:sym typeface="Montserrat"/>
              </a:rPr>
              <a:t>Fait par Guillemette sur Canvas</a:t>
            </a:r>
          </a:p>
        </p:txBody>
      </p:sp>
      <p:grpSp>
        <p:nvGrpSpPr>
          <p:cNvPr id="20" name="Group 20"/>
          <p:cNvGrpSpPr/>
          <p:nvPr/>
        </p:nvGrpSpPr>
        <p:grpSpPr>
          <a:xfrm>
            <a:off x="10243312" y="3088190"/>
            <a:ext cx="262038" cy="262038"/>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5B45B5">
                    <a:alpha val="96000"/>
                  </a:srgbClr>
                </a:gs>
                <a:gs pos="100000">
                  <a:srgbClr val="8875D7">
                    <a:alpha val="96000"/>
                  </a:srgbClr>
                </a:gs>
              </a:gsLst>
              <a:lin ang="0"/>
            </a:gradFill>
          </p:spPr>
        </p:sp>
        <p:sp>
          <p:nvSpPr>
            <p:cNvPr id="22" name="TextBox 22"/>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pPr>
              <a:endParaRPr/>
            </a:p>
          </p:txBody>
        </p:sp>
      </p:grpSp>
      <p:sp>
        <p:nvSpPr>
          <p:cNvPr id="23" name="TextBox 23"/>
          <p:cNvSpPr txBox="1"/>
          <p:nvPr/>
        </p:nvSpPr>
        <p:spPr>
          <a:xfrm>
            <a:off x="10592601" y="3130709"/>
            <a:ext cx="2869223" cy="272250"/>
          </a:xfrm>
          <a:prstGeom prst="rect">
            <a:avLst/>
          </a:prstGeom>
        </p:spPr>
        <p:txBody>
          <a:bodyPr lIns="0" tIns="0" rIns="0" bIns="0" rtlCol="0" anchor="t">
            <a:spAutoFit/>
          </a:bodyPr>
          <a:lstStyle/>
          <a:p>
            <a:pPr marL="0" lvl="0" indent="0" algn="l">
              <a:lnSpc>
                <a:spcPts val="1935"/>
              </a:lnSpc>
            </a:pPr>
            <a:r>
              <a:rPr lang="en-US" sz="2418" b="1">
                <a:solidFill>
                  <a:srgbClr val="240960"/>
                </a:solidFill>
                <a:latin typeface="Montserrat Bold"/>
                <a:ea typeface="Montserrat Bold"/>
                <a:cs typeface="Montserrat Bold"/>
                <a:sym typeface="Montserrat Bold"/>
              </a:rPr>
              <a:t>Images &amp; disigns</a:t>
            </a:r>
          </a:p>
        </p:txBody>
      </p:sp>
      <p:grpSp>
        <p:nvGrpSpPr>
          <p:cNvPr id="24" name="Group 24"/>
          <p:cNvGrpSpPr/>
          <p:nvPr/>
        </p:nvGrpSpPr>
        <p:grpSpPr>
          <a:xfrm>
            <a:off x="82681" y="3005603"/>
            <a:ext cx="1892038" cy="1892038"/>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C67BF">
                    <a:alpha val="96000"/>
                  </a:srgbClr>
                </a:gs>
                <a:gs pos="100000">
                  <a:srgbClr val="F7ACFF">
                    <a:alpha val="96000"/>
                  </a:srgbClr>
                </a:gs>
              </a:gsLst>
              <a:lin ang="0"/>
            </a:gradFill>
          </p:spPr>
        </p:sp>
        <p:sp>
          <p:nvSpPr>
            <p:cNvPr id="26" name="TextBox 26"/>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pPr>
              <a:endParaRPr/>
            </a:p>
          </p:txBody>
        </p:sp>
      </p:grpSp>
      <p:sp>
        <p:nvSpPr>
          <p:cNvPr id="27" name="TextBox 27"/>
          <p:cNvSpPr txBox="1"/>
          <p:nvPr/>
        </p:nvSpPr>
        <p:spPr>
          <a:xfrm>
            <a:off x="16050268" y="9473025"/>
            <a:ext cx="724046" cy="242707"/>
          </a:xfrm>
          <a:prstGeom prst="rect">
            <a:avLst/>
          </a:prstGeom>
        </p:spPr>
        <p:txBody>
          <a:bodyPr lIns="0" tIns="0" rIns="0" bIns="0" rtlCol="0" anchor="t">
            <a:spAutoFit/>
          </a:bodyPr>
          <a:lstStyle/>
          <a:p>
            <a:pPr marL="0" lvl="0" indent="0" algn="l">
              <a:lnSpc>
                <a:spcPts val="1857"/>
              </a:lnSpc>
            </a:pPr>
            <a:r>
              <a:rPr lang="en-US" sz="1821" b="1">
                <a:solidFill>
                  <a:srgbClr val="240960"/>
                </a:solidFill>
                <a:latin typeface="Montserrat Bold"/>
                <a:ea typeface="Montserrat Bold"/>
                <a:cs typeface="Montserrat Bold"/>
                <a:sym typeface="Montserrat Bold"/>
              </a:rPr>
              <a:t>Page</a:t>
            </a:r>
          </a:p>
        </p:txBody>
      </p:sp>
      <p:sp>
        <p:nvSpPr>
          <p:cNvPr id="28" name="TextBox 28"/>
          <p:cNvSpPr txBox="1"/>
          <p:nvPr/>
        </p:nvSpPr>
        <p:spPr>
          <a:xfrm>
            <a:off x="16774314" y="9507706"/>
            <a:ext cx="484986" cy="208026"/>
          </a:xfrm>
          <a:prstGeom prst="rect">
            <a:avLst/>
          </a:prstGeom>
        </p:spPr>
        <p:txBody>
          <a:bodyPr lIns="0" tIns="0" rIns="0" bIns="0" rtlCol="0" anchor="t">
            <a:spAutoFit/>
          </a:bodyPr>
          <a:lstStyle/>
          <a:p>
            <a:pPr marL="0" lvl="0" indent="0" algn="l">
              <a:lnSpc>
                <a:spcPts val="1631"/>
              </a:lnSpc>
            </a:pPr>
            <a:r>
              <a:rPr lang="en-US" sz="1599" dirty="0">
                <a:solidFill>
                  <a:srgbClr val="240960"/>
                </a:solidFill>
                <a:latin typeface="Montserrat"/>
                <a:ea typeface="Montserrat"/>
                <a:cs typeface="Montserrat"/>
                <a:sym typeface="Montserrat"/>
              </a:rPr>
              <a:t>11</a:t>
            </a:r>
          </a:p>
        </p:txBody>
      </p:sp>
      <p:grpSp>
        <p:nvGrpSpPr>
          <p:cNvPr id="29" name="Group 29"/>
          <p:cNvGrpSpPr/>
          <p:nvPr/>
        </p:nvGrpSpPr>
        <p:grpSpPr>
          <a:xfrm>
            <a:off x="2213251" y="2788803"/>
            <a:ext cx="6399580" cy="6678998"/>
            <a:chOff x="0" y="0"/>
            <a:chExt cx="1685486" cy="1508085"/>
          </a:xfrm>
        </p:grpSpPr>
        <p:sp>
          <p:nvSpPr>
            <p:cNvPr id="30" name="Freeform 30"/>
            <p:cNvSpPr/>
            <p:nvPr/>
          </p:nvSpPr>
          <p:spPr>
            <a:xfrm>
              <a:off x="0" y="0"/>
              <a:ext cx="1685486" cy="1508085"/>
            </a:xfrm>
            <a:custGeom>
              <a:avLst/>
              <a:gdLst/>
              <a:ahLst/>
              <a:cxnLst/>
              <a:rect l="l" t="t" r="r" b="b"/>
              <a:pathLst>
                <a:path w="1685486" h="1508085">
                  <a:moveTo>
                    <a:pt x="0" y="0"/>
                  </a:moveTo>
                  <a:lnTo>
                    <a:pt x="1685486" y="0"/>
                  </a:lnTo>
                  <a:lnTo>
                    <a:pt x="1685486" y="1508085"/>
                  </a:lnTo>
                  <a:lnTo>
                    <a:pt x="0" y="1508085"/>
                  </a:lnTo>
                  <a:close/>
                </a:path>
              </a:pathLst>
            </a:custGeom>
            <a:ln w="57150" cap="sq">
              <a:gradFill>
                <a:gsLst>
                  <a:gs pos="0">
                    <a:srgbClr val="3C67BF">
                      <a:alpha val="100000"/>
                    </a:srgbClr>
                  </a:gs>
                  <a:gs pos="50000">
                    <a:srgbClr val="6B4CAF">
                      <a:alpha val="57500"/>
                    </a:srgbClr>
                  </a:gs>
                  <a:gs pos="100000">
                    <a:srgbClr val="F7ACFF">
                      <a:alpha val="0"/>
                    </a:srgbClr>
                  </a:gs>
                </a:gsLst>
                <a:lin ang="0"/>
              </a:gradFill>
              <a:prstDash val="solid"/>
              <a:miter/>
            </a:ln>
          </p:spPr>
        </p:sp>
        <p:sp>
          <p:nvSpPr>
            <p:cNvPr id="31" name="TextBox 31"/>
            <p:cNvSpPr txBox="1"/>
            <p:nvPr/>
          </p:nvSpPr>
          <p:spPr>
            <a:xfrm>
              <a:off x="0" y="-38100"/>
              <a:ext cx="1685486" cy="1546185"/>
            </a:xfrm>
            <a:prstGeom prst="rect">
              <a:avLst/>
            </a:prstGeom>
          </p:spPr>
          <p:txBody>
            <a:bodyPr lIns="50800" tIns="50800" rIns="50800" bIns="50800" rtlCol="0" anchor="ctr"/>
            <a:lstStyle/>
            <a:p>
              <a:pPr marL="0" lvl="0" indent="0" algn="ctr">
                <a:lnSpc>
                  <a:spcPts val="2659"/>
                </a:lnSpc>
              </a:pPr>
              <a:endParaRPr/>
            </a:p>
          </p:txBody>
        </p:sp>
      </p:grpSp>
      <p:sp>
        <p:nvSpPr>
          <p:cNvPr id="32" name="TextBox 32"/>
          <p:cNvSpPr txBox="1"/>
          <p:nvPr/>
        </p:nvSpPr>
        <p:spPr>
          <a:xfrm>
            <a:off x="2832397" y="3572287"/>
            <a:ext cx="5877354" cy="4796185"/>
          </a:xfrm>
          <a:prstGeom prst="rect">
            <a:avLst/>
          </a:prstGeom>
        </p:spPr>
        <p:txBody>
          <a:bodyPr lIns="0" tIns="0" rIns="0" bIns="0" rtlCol="0" anchor="t">
            <a:spAutoFit/>
          </a:bodyPr>
          <a:lstStyle/>
          <a:p>
            <a:pPr algn="l">
              <a:lnSpc>
                <a:spcPts val="2202"/>
              </a:lnSpc>
            </a:pPr>
            <a:r>
              <a:rPr lang="en-US" sz="1932" u="sng" dirty="0">
                <a:solidFill>
                  <a:srgbClr val="240960"/>
                </a:solidFill>
                <a:latin typeface="Montserrat"/>
                <a:ea typeface="Montserrat"/>
                <a:cs typeface="Montserrat"/>
                <a:sym typeface="Montserrat"/>
              </a:rPr>
              <a:t>LinkedIn</a:t>
            </a:r>
            <a:endParaRPr lang="en-US" sz="1932" u="sng" dirty="0">
              <a:solidFill>
                <a:srgbClr val="240960"/>
              </a:solidFill>
              <a:latin typeface="Montserrat"/>
              <a:ea typeface="Montserrat"/>
              <a:cs typeface="Montserrat"/>
              <a:sym typeface="Montserrat"/>
              <a:hlinkClick r:id="rId4" tooltip="https://www.linkedin.com/advice/0/what-raft-consensus-algorithm-how-does-work-skills-blockchain-p4rmf?lang=fr"/>
            </a:endParaRPr>
          </a:p>
          <a:p>
            <a:pPr algn="l">
              <a:lnSpc>
                <a:spcPts val="2202"/>
              </a:lnSpc>
            </a:pPr>
            <a:endParaRPr lang="en-US" sz="1932" u="sng" dirty="0">
              <a:solidFill>
                <a:srgbClr val="240960"/>
              </a:solidFill>
              <a:latin typeface="Montserrat"/>
              <a:ea typeface="Montserrat"/>
              <a:cs typeface="Montserrat"/>
              <a:sym typeface="Montserrat"/>
              <a:hlinkClick r:id="rId4" tooltip="https://www.linkedin.com/advice/0/what-raft-consensus-algorithm-how-does-work-skills-blockchain-p4rmf?lang=fr"/>
            </a:endParaRPr>
          </a:p>
          <a:p>
            <a:pPr algn="l">
              <a:lnSpc>
                <a:spcPts val="2202"/>
              </a:lnSpc>
            </a:pPr>
            <a:endParaRPr lang="en-US" sz="1932" u="sng" dirty="0">
              <a:solidFill>
                <a:srgbClr val="240960"/>
              </a:solidFill>
              <a:latin typeface="Montserrat"/>
              <a:ea typeface="Montserrat"/>
              <a:cs typeface="Montserrat"/>
              <a:sym typeface="Montserrat"/>
              <a:hlinkClick r:id="rId4" tooltip="https://www.linkedin.com/advice/0/what-raft-consensus-algorithm-how-does-work-skills-blockchain-p4rmf?lang=fr"/>
            </a:endParaRPr>
          </a:p>
          <a:p>
            <a:pPr algn="l">
              <a:lnSpc>
                <a:spcPts val="2202"/>
              </a:lnSpc>
            </a:pPr>
            <a:endParaRPr lang="en-US" sz="1932" u="sng" dirty="0">
              <a:solidFill>
                <a:srgbClr val="240960"/>
              </a:solidFill>
              <a:latin typeface="Montserrat"/>
              <a:ea typeface="Montserrat"/>
              <a:cs typeface="Montserrat"/>
              <a:sym typeface="Montserrat"/>
              <a:hlinkClick r:id="rId4" tooltip="https://www.linkedin.com/advice/0/what-raft-consensus-algorithm-how-does-work-skills-blockchain-p4rmf?lang=fr"/>
            </a:endParaRPr>
          </a:p>
          <a:p>
            <a:pPr algn="l">
              <a:lnSpc>
                <a:spcPts val="2202"/>
              </a:lnSpc>
            </a:pPr>
            <a:endParaRPr lang="en-US" sz="1932" u="sng" dirty="0">
              <a:solidFill>
                <a:srgbClr val="240960"/>
              </a:solidFill>
              <a:latin typeface="Montserrat"/>
              <a:ea typeface="Montserrat"/>
              <a:cs typeface="Montserrat"/>
              <a:sym typeface="Montserrat"/>
              <a:hlinkClick r:id="rId4" tooltip="https://www.linkedin.com/advice/0/what-raft-consensus-algorithm-how-does-work-skills-blockchain-p4rmf?lang=fr"/>
            </a:endParaRPr>
          </a:p>
          <a:p>
            <a:pPr algn="l">
              <a:lnSpc>
                <a:spcPts val="2202"/>
              </a:lnSpc>
            </a:pPr>
            <a:r>
              <a:rPr lang="en-US" sz="1932" u="sng" dirty="0" err="1">
                <a:solidFill>
                  <a:srgbClr val="240960"/>
                </a:solidFill>
                <a:latin typeface="Montserrat"/>
                <a:ea typeface="Montserrat"/>
                <a:cs typeface="Montserrat"/>
                <a:sym typeface="Montserrat"/>
              </a:rPr>
              <a:t>Wikipédia</a:t>
            </a:r>
            <a:endParaRPr lang="en-US" sz="1932" u="sng" dirty="0">
              <a:solidFill>
                <a:srgbClr val="240960"/>
              </a:solidFill>
              <a:latin typeface="Montserrat"/>
              <a:ea typeface="Montserrat"/>
              <a:cs typeface="Montserrat"/>
              <a:sym typeface="Montserrat"/>
            </a:endParaRPr>
          </a:p>
          <a:p>
            <a:pPr algn="l">
              <a:lnSpc>
                <a:spcPts val="2202"/>
              </a:lnSpc>
            </a:pPr>
            <a:endParaRPr lang="en-US" sz="1932" u="sng" dirty="0">
              <a:solidFill>
                <a:srgbClr val="240960"/>
              </a:solidFill>
              <a:latin typeface="Montserrat"/>
              <a:ea typeface="Montserrat"/>
              <a:cs typeface="Montserrat"/>
              <a:sym typeface="Montserrat"/>
            </a:endParaRPr>
          </a:p>
          <a:p>
            <a:pPr algn="l">
              <a:lnSpc>
                <a:spcPts val="2202"/>
              </a:lnSpc>
            </a:pPr>
            <a:endParaRPr lang="en-US" sz="1932" u="sng" dirty="0">
              <a:solidFill>
                <a:srgbClr val="240960"/>
              </a:solidFill>
              <a:latin typeface="Montserrat"/>
              <a:ea typeface="Montserrat"/>
              <a:cs typeface="Montserrat"/>
              <a:sym typeface="Montserrat"/>
            </a:endParaRPr>
          </a:p>
          <a:p>
            <a:pPr algn="l">
              <a:lnSpc>
                <a:spcPts val="2202"/>
              </a:lnSpc>
            </a:pPr>
            <a:endParaRPr lang="en-US" sz="1932" u="sng" dirty="0">
              <a:solidFill>
                <a:srgbClr val="240960"/>
              </a:solidFill>
              <a:latin typeface="Montserrat"/>
              <a:ea typeface="Montserrat"/>
              <a:cs typeface="Montserrat"/>
              <a:sym typeface="Montserrat"/>
            </a:endParaRPr>
          </a:p>
          <a:p>
            <a:pPr algn="l">
              <a:lnSpc>
                <a:spcPts val="2202"/>
              </a:lnSpc>
            </a:pPr>
            <a:endParaRPr lang="en-US" sz="1932" u="sng" dirty="0">
              <a:solidFill>
                <a:srgbClr val="240960"/>
              </a:solidFill>
              <a:latin typeface="Montserrat"/>
              <a:ea typeface="Montserrat"/>
              <a:cs typeface="Montserrat"/>
              <a:sym typeface="Montserrat"/>
            </a:endParaRPr>
          </a:p>
          <a:p>
            <a:pPr algn="l">
              <a:lnSpc>
                <a:spcPts val="2202"/>
              </a:lnSpc>
            </a:pPr>
            <a:endParaRPr lang="en-US" sz="1932" u="sng" dirty="0">
              <a:solidFill>
                <a:srgbClr val="240960"/>
              </a:solidFill>
              <a:latin typeface="Montserrat"/>
              <a:ea typeface="Montserrat"/>
              <a:cs typeface="Montserrat"/>
              <a:sym typeface="Montserrat"/>
            </a:endParaRPr>
          </a:p>
          <a:p>
            <a:pPr algn="l">
              <a:lnSpc>
                <a:spcPts val="2202"/>
              </a:lnSpc>
            </a:pPr>
            <a:endParaRPr lang="en-US" sz="1932" u="sng" dirty="0">
              <a:solidFill>
                <a:srgbClr val="240960"/>
              </a:solidFill>
              <a:latin typeface="Montserrat"/>
              <a:ea typeface="Montserrat"/>
              <a:cs typeface="Montserrat"/>
              <a:sym typeface="Montserrat"/>
            </a:endParaRPr>
          </a:p>
          <a:p>
            <a:pPr algn="l">
              <a:lnSpc>
                <a:spcPts val="2202"/>
              </a:lnSpc>
            </a:pPr>
            <a:endParaRPr lang="en-US" sz="1932" u="sng" dirty="0">
              <a:solidFill>
                <a:srgbClr val="240960"/>
              </a:solidFill>
              <a:latin typeface="Montserrat"/>
              <a:ea typeface="Montserrat"/>
              <a:cs typeface="Montserrat"/>
              <a:sym typeface="Montserrat"/>
            </a:endParaRPr>
          </a:p>
          <a:p>
            <a:pPr marL="0" lvl="0" indent="0" algn="l">
              <a:lnSpc>
                <a:spcPts val="2202"/>
              </a:lnSpc>
            </a:pPr>
            <a:r>
              <a:rPr lang="en-US" sz="1932" u="sng" dirty="0">
                <a:solidFill>
                  <a:srgbClr val="240960"/>
                </a:solidFill>
                <a:latin typeface="Montserrat"/>
                <a:ea typeface="Montserrat"/>
                <a:cs typeface="Montserrat"/>
                <a:sym typeface="Montserrat"/>
              </a:rPr>
              <a:t>GitHub</a:t>
            </a:r>
          </a:p>
          <a:p>
            <a:pPr marL="0" lvl="0" indent="0" algn="l">
              <a:lnSpc>
                <a:spcPts val="2202"/>
              </a:lnSpc>
            </a:pPr>
            <a:endParaRPr lang="en-US" sz="1932" u="sng" dirty="0">
              <a:solidFill>
                <a:srgbClr val="240960"/>
              </a:solidFill>
              <a:latin typeface="Montserrat"/>
              <a:ea typeface="Montserrat"/>
              <a:cs typeface="Montserrat"/>
              <a:sym typeface="Montserrat"/>
            </a:endParaRPr>
          </a:p>
          <a:p>
            <a:pPr marL="0" lvl="0" indent="0" algn="l">
              <a:lnSpc>
                <a:spcPts val="2202"/>
              </a:lnSpc>
            </a:pPr>
            <a:endParaRPr lang="en-US" sz="1932" u="sng" dirty="0">
              <a:solidFill>
                <a:srgbClr val="240960"/>
              </a:solidFill>
              <a:latin typeface="Montserrat"/>
              <a:ea typeface="Montserrat"/>
              <a:cs typeface="Montserrat"/>
              <a:sym typeface="Montserrat"/>
            </a:endParaRPr>
          </a:p>
          <a:p>
            <a:pPr marL="0" lvl="0" indent="0" algn="l">
              <a:lnSpc>
                <a:spcPts val="2202"/>
              </a:lnSpc>
            </a:pPr>
            <a:r>
              <a:rPr lang="en-US" sz="1932" u="sng" dirty="0">
                <a:solidFill>
                  <a:srgbClr val="240960"/>
                </a:solidFill>
                <a:latin typeface="Montserrat"/>
                <a:ea typeface="Montserrat"/>
                <a:cs typeface="Montserrat"/>
                <a:sym typeface="Montserrat"/>
              </a:rPr>
              <a:t>IBM</a:t>
            </a:r>
          </a:p>
        </p:txBody>
      </p:sp>
      <p:sp>
        <p:nvSpPr>
          <p:cNvPr id="33" name="TextBox 33"/>
          <p:cNvSpPr txBox="1"/>
          <p:nvPr/>
        </p:nvSpPr>
        <p:spPr>
          <a:xfrm>
            <a:off x="2960653" y="3158607"/>
            <a:ext cx="3685807" cy="272250"/>
          </a:xfrm>
          <a:prstGeom prst="rect">
            <a:avLst/>
          </a:prstGeom>
        </p:spPr>
        <p:txBody>
          <a:bodyPr lIns="0" tIns="0" rIns="0" bIns="0" rtlCol="0" anchor="t">
            <a:spAutoFit/>
          </a:bodyPr>
          <a:lstStyle/>
          <a:p>
            <a:pPr marL="0" lvl="0" indent="0" algn="l">
              <a:lnSpc>
                <a:spcPts val="1935"/>
              </a:lnSpc>
            </a:pPr>
            <a:r>
              <a:rPr lang="en-US" sz="2418" b="1" dirty="0">
                <a:solidFill>
                  <a:srgbClr val="240960"/>
                </a:solidFill>
                <a:latin typeface="Montserrat Bold"/>
                <a:ea typeface="Montserrat Bold"/>
                <a:cs typeface="Montserrat Bold"/>
                <a:sym typeface="Montserrat Bold"/>
              </a:rPr>
              <a:t>Articles</a:t>
            </a:r>
          </a:p>
        </p:txBody>
      </p:sp>
      <p:grpSp>
        <p:nvGrpSpPr>
          <p:cNvPr id="34" name="Group 34"/>
          <p:cNvGrpSpPr/>
          <p:nvPr/>
        </p:nvGrpSpPr>
        <p:grpSpPr>
          <a:xfrm>
            <a:off x="2554344" y="3116088"/>
            <a:ext cx="262038" cy="262038"/>
            <a:chOff x="0" y="0"/>
            <a:chExt cx="812800" cy="812800"/>
          </a:xfrm>
        </p:grpSpPr>
        <p:sp>
          <p:nvSpPr>
            <p:cNvPr id="35" name="Freeform 3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5B45B5">
                    <a:alpha val="96000"/>
                  </a:srgbClr>
                </a:gs>
                <a:gs pos="100000">
                  <a:srgbClr val="8875D7">
                    <a:alpha val="96000"/>
                  </a:srgbClr>
                </a:gs>
              </a:gsLst>
              <a:lin ang="0"/>
            </a:gradFill>
          </p:spPr>
        </p:sp>
        <p:sp>
          <p:nvSpPr>
            <p:cNvPr id="36" name="TextBox 36"/>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pPr>
              <a:endParaRPr/>
            </a:p>
          </p:txBody>
        </p:sp>
      </p:grpSp>
      <p:sp>
        <p:nvSpPr>
          <p:cNvPr id="37" name="TextBox 37"/>
          <p:cNvSpPr txBox="1"/>
          <p:nvPr/>
        </p:nvSpPr>
        <p:spPr>
          <a:xfrm>
            <a:off x="10592601" y="4449896"/>
            <a:ext cx="3980452" cy="290947"/>
          </a:xfrm>
          <a:prstGeom prst="rect">
            <a:avLst/>
          </a:prstGeom>
        </p:spPr>
        <p:txBody>
          <a:bodyPr lIns="0" tIns="0" rIns="0" bIns="0" rtlCol="0" anchor="t">
            <a:spAutoFit/>
          </a:bodyPr>
          <a:lstStyle/>
          <a:p>
            <a:pPr marL="0" lvl="0" indent="0" algn="l">
              <a:lnSpc>
                <a:spcPts val="2202"/>
              </a:lnSpc>
            </a:pPr>
            <a:r>
              <a:rPr lang="en-US" sz="1932">
                <a:solidFill>
                  <a:srgbClr val="240960"/>
                </a:solidFill>
                <a:latin typeface="Montserrat"/>
                <a:ea typeface="Montserrat"/>
                <a:cs typeface="Montserrat"/>
                <a:sym typeface="Montserrat"/>
              </a:rPr>
              <a:t>Licence Education</a:t>
            </a:r>
          </a:p>
        </p:txBody>
      </p:sp>
      <p:sp>
        <p:nvSpPr>
          <p:cNvPr id="38" name="TextBox 38"/>
          <p:cNvSpPr txBox="1"/>
          <p:nvPr/>
        </p:nvSpPr>
        <p:spPr>
          <a:xfrm>
            <a:off x="11122255" y="3913089"/>
            <a:ext cx="2987980" cy="290947"/>
          </a:xfrm>
          <a:prstGeom prst="rect">
            <a:avLst/>
          </a:prstGeom>
        </p:spPr>
        <p:txBody>
          <a:bodyPr lIns="0" tIns="0" rIns="0" bIns="0" rtlCol="0" anchor="t">
            <a:spAutoFit/>
          </a:bodyPr>
          <a:lstStyle/>
          <a:p>
            <a:pPr algn="l">
              <a:lnSpc>
                <a:spcPts val="2202"/>
              </a:lnSpc>
            </a:pPr>
            <a:r>
              <a:rPr lang="en-US" sz="1932" u="sng">
                <a:solidFill>
                  <a:srgbClr val="240960"/>
                </a:solidFill>
                <a:latin typeface="Montserrat"/>
                <a:ea typeface="Montserrat"/>
                <a:cs typeface="Montserrat"/>
                <a:sym typeface="Montserrat"/>
                <a:hlinkClick r:id="rId5" tooltip="https://www.canva.com"/>
              </a:rPr>
              <a:t>https://www.canva.com</a:t>
            </a:r>
          </a:p>
        </p:txBody>
      </p:sp>
      <p:grpSp>
        <p:nvGrpSpPr>
          <p:cNvPr id="39" name="Group 39"/>
          <p:cNvGrpSpPr/>
          <p:nvPr/>
        </p:nvGrpSpPr>
        <p:grpSpPr>
          <a:xfrm>
            <a:off x="14457408" y="5811048"/>
            <a:ext cx="3185721" cy="3185721"/>
            <a:chOff x="0" y="0"/>
            <a:chExt cx="812800" cy="812800"/>
          </a:xfrm>
        </p:grpSpPr>
        <p:sp>
          <p:nvSpPr>
            <p:cNvPr id="40" name="Freeform 4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C67BF">
                    <a:alpha val="58000"/>
                  </a:srgbClr>
                </a:gs>
                <a:gs pos="100000">
                  <a:srgbClr val="F7ACFF">
                    <a:alpha val="0"/>
                  </a:srgbClr>
                </a:gs>
              </a:gsLst>
              <a:lin ang="0"/>
            </a:gradFill>
          </p:spPr>
        </p:sp>
        <p:sp>
          <p:nvSpPr>
            <p:cNvPr id="41" name="TextBox 41"/>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pPr>
              <a:endParaRPr/>
            </a:p>
          </p:txBody>
        </p:sp>
      </p:grpSp>
      <p:sp>
        <p:nvSpPr>
          <p:cNvPr id="42" name="TextBox 42"/>
          <p:cNvSpPr txBox="1"/>
          <p:nvPr/>
        </p:nvSpPr>
        <p:spPr>
          <a:xfrm>
            <a:off x="3206902" y="3905554"/>
            <a:ext cx="5462101" cy="5360442"/>
          </a:xfrm>
          <a:prstGeom prst="rect">
            <a:avLst/>
          </a:prstGeom>
        </p:spPr>
        <p:txBody>
          <a:bodyPr wrap="square" lIns="0" tIns="0" rIns="0" bIns="0" rtlCol="0" anchor="t">
            <a:spAutoFit/>
          </a:bodyPr>
          <a:lstStyle/>
          <a:p>
            <a:pPr algn="l">
              <a:lnSpc>
                <a:spcPts val="2202"/>
              </a:lnSpc>
            </a:pPr>
            <a:r>
              <a:rPr lang="en-US" sz="1932" u="sng" dirty="0">
                <a:solidFill>
                  <a:srgbClr val="240960"/>
                </a:solidFill>
                <a:latin typeface="Montserrat"/>
                <a:ea typeface="Montserrat"/>
                <a:cs typeface="Montserrat"/>
                <a:sym typeface="Montserrat"/>
                <a:hlinkClick r:id="rId4" tooltip="https://www.linkedin.com/advice/0/what-raft-consensus-algorithm-how-does-work-skills-blockchain-p4rmf?lang=fr"/>
              </a:rPr>
              <a:t>https://www.linkedin.com/advice/0/what-raft-consensus-algorithm-how-does-work-skills-blockchain-p4rmf?lang=fr</a:t>
            </a:r>
          </a:p>
          <a:p>
            <a:pPr algn="l">
              <a:lnSpc>
                <a:spcPts val="2202"/>
              </a:lnSpc>
            </a:pPr>
            <a:endParaRPr lang="en-US" sz="1932" u="sng" dirty="0">
              <a:solidFill>
                <a:srgbClr val="240960"/>
              </a:solidFill>
              <a:latin typeface="Montserrat"/>
              <a:ea typeface="Montserrat"/>
              <a:cs typeface="Montserrat"/>
              <a:sym typeface="Montserrat"/>
              <a:hlinkClick r:id="rId4" tooltip="https://www.linkedin.com/advice/0/what-raft-consensus-algorithm-how-does-work-skills-blockchain-p4rmf?lang=fr"/>
            </a:endParaRPr>
          </a:p>
          <a:p>
            <a:pPr algn="l">
              <a:lnSpc>
                <a:spcPts val="2202"/>
              </a:lnSpc>
            </a:pPr>
            <a:endParaRPr lang="en-US" sz="1932" u="sng" dirty="0">
              <a:solidFill>
                <a:srgbClr val="240960"/>
              </a:solidFill>
              <a:latin typeface="Montserrat"/>
              <a:ea typeface="Montserrat"/>
              <a:cs typeface="Montserrat"/>
              <a:sym typeface="Montserrat"/>
              <a:hlinkClick r:id="rId4" tooltip="https://www.linkedin.com/advice/0/what-raft-consensus-algorithm-how-does-work-skills-blockchain-p4rmf?lang=fr"/>
            </a:endParaRPr>
          </a:p>
          <a:p>
            <a:pPr marL="342900" indent="-342900" algn="l">
              <a:lnSpc>
                <a:spcPts val="2202"/>
              </a:lnSpc>
              <a:buFont typeface="Arial" panose="020B0604020202020204" pitchFamily="34" charset="0"/>
              <a:buChar char="•"/>
            </a:pPr>
            <a:r>
              <a:rPr lang="en-US" sz="1932" u="sng" dirty="0">
                <a:solidFill>
                  <a:srgbClr val="240960"/>
                </a:solidFill>
                <a:latin typeface="Montserrat"/>
                <a:ea typeface="Montserrat"/>
                <a:cs typeface="Montserrat"/>
                <a:sym typeface="Montserrat"/>
                <a:hlinkClick r:id="rId6"/>
              </a:rPr>
              <a:t>https://fr.wikipedia.org/wiki/Probl%C3%A8me_du_consensus</a:t>
            </a:r>
            <a:endParaRPr lang="en-US" sz="1932" u="sng" dirty="0">
              <a:solidFill>
                <a:srgbClr val="240960"/>
              </a:solidFill>
              <a:latin typeface="Montserrat"/>
              <a:ea typeface="Montserrat"/>
              <a:cs typeface="Montserrat"/>
              <a:sym typeface="Montserrat"/>
            </a:endParaRPr>
          </a:p>
          <a:p>
            <a:pPr marL="342900" indent="-342900">
              <a:lnSpc>
                <a:spcPts val="2202"/>
              </a:lnSpc>
              <a:buFont typeface="Arial" panose="020B0604020202020204" pitchFamily="34" charset="0"/>
              <a:buChar char="•"/>
            </a:pPr>
            <a:r>
              <a:rPr lang="en-US" sz="1932" u="sng" dirty="0">
                <a:solidFill>
                  <a:srgbClr val="240960"/>
                </a:solidFill>
                <a:latin typeface="Montserrat"/>
                <a:ea typeface="Montserrat"/>
                <a:cs typeface="Montserrat"/>
                <a:sym typeface="Montserrat"/>
                <a:hlinkClick r:id="rId7"/>
              </a:rPr>
              <a:t>https://en-wikipedia-org.translate.goog/wiki/Raft_(algorithm)?_x_tr_sl=en&amp;_x_tr_tl=fr&amp;_x_tr_hl=fr&amp;_x_tr_pto=rq</a:t>
            </a:r>
            <a:endParaRPr lang="en-US" sz="1932" u="sng" dirty="0">
              <a:solidFill>
                <a:srgbClr val="240960"/>
              </a:solidFill>
              <a:latin typeface="Montserrat"/>
              <a:ea typeface="Montserrat"/>
              <a:cs typeface="Montserrat"/>
              <a:sym typeface="Montserrat"/>
            </a:endParaRPr>
          </a:p>
          <a:p>
            <a:pPr marL="342900" indent="-342900">
              <a:lnSpc>
                <a:spcPts val="2202"/>
              </a:lnSpc>
              <a:buFont typeface="Arial" panose="020B0604020202020204" pitchFamily="34" charset="0"/>
              <a:buChar char="•"/>
            </a:pPr>
            <a:endParaRPr lang="en-US" sz="1932" u="sng" dirty="0">
              <a:solidFill>
                <a:srgbClr val="240960"/>
              </a:solidFill>
              <a:latin typeface="Montserrat"/>
              <a:ea typeface="Montserrat"/>
              <a:cs typeface="Montserrat"/>
              <a:sym typeface="Montserrat"/>
            </a:endParaRPr>
          </a:p>
          <a:p>
            <a:pPr algn="l">
              <a:lnSpc>
                <a:spcPts val="2202"/>
              </a:lnSpc>
            </a:pPr>
            <a:endParaRPr lang="en-US" sz="1932" u="sng" dirty="0">
              <a:solidFill>
                <a:srgbClr val="240960"/>
              </a:solidFill>
              <a:latin typeface="Montserrat"/>
              <a:ea typeface="Montserrat"/>
              <a:cs typeface="Montserrat"/>
              <a:sym typeface="Montserrat"/>
            </a:endParaRPr>
          </a:p>
          <a:p>
            <a:pPr marL="0" lvl="0" indent="0" algn="l">
              <a:lnSpc>
                <a:spcPts val="2202"/>
              </a:lnSpc>
            </a:pPr>
            <a:r>
              <a:rPr lang="en-US" sz="1932" u="sng" dirty="0">
                <a:solidFill>
                  <a:srgbClr val="240960"/>
                </a:solidFill>
                <a:latin typeface="Montserrat"/>
                <a:ea typeface="Montserrat"/>
                <a:cs typeface="Montserrat"/>
                <a:sym typeface="Montserrat"/>
                <a:hlinkClick r:id="rId8"/>
              </a:rPr>
              <a:t>https://raft.github.io/</a:t>
            </a:r>
            <a:endParaRPr lang="en-US" sz="1932" u="sng" dirty="0">
              <a:solidFill>
                <a:srgbClr val="240960"/>
              </a:solidFill>
              <a:latin typeface="Montserrat"/>
              <a:ea typeface="Montserrat"/>
              <a:cs typeface="Montserrat"/>
              <a:sym typeface="Montserrat"/>
            </a:endParaRPr>
          </a:p>
          <a:p>
            <a:pPr marL="0" lvl="0" indent="0" algn="l">
              <a:lnSpc>
                <a:spcPts val="2202"/>
              </a:lnSpc>
            </a:pPr>
            <a:endParaRPr lang="en-US" sz="1932" u="sng" dirty="0">
              <a:solidFill>
                <a:srgbClr val="240960"/>
              </a:solidFill>
              <a:latin typeface="Montserrat"/>
              <a:ea typeface="Montserrat"/>
              <a:cs typeface="Montserrat"/>
              <a:sym typeface="Montserrat"/>
            </a:endParaRPr>
          </a:p>
          <a:p>
            <a:pPr marL="0" lvl="0" indent="0" algn="l">
              <a:lnSpc>
                <a:spcPts val="2202"/>
              </a:lnSpc>
            </a:pPr>
            <a:endParaRPr lang="en-US" sz="1932" u="sng" dirty="0">
              <a:solidFill>
                <a:srgbClr val="240960"/>
              </a:solidFill>
              <a:latin typeface="Montserrat"/>
              <a:ea typeface="Montserrat"/>
              <a:cs typeface="Montserrat"/>
              <a:sym typeface="Montserrat"/>
            </a:endParaRPr>
          </a:p>
          <a:p>
            <a:pPr lvl="0">
              <a:lnSpc>
                <a:spcPts val="2202"/>
              </a:lnSpc>
            </a:pPr>
            <a:r>
              <a:rPr lang="en-US" sz="1932" u="sng" dirty="0">
                <a:solidFill>
                  <a:srgbClr val="240960"/>
                </a:solidFill>
                <a:latin typeface="Montserrat"/>
                <a:ea typeface="Montserrat"/>
                <a:cs typeface="Montserrat"/>
                <a:sym typeface="Montserrat"/>
                <a:hlinkClick r:id="rId9"/>
              </a:rPr>
              <a:t>https://www.ibm.com/fr-fr/think/topics/etcd</a:t>
            </a:r>
            <a:endParaRPr lang="en-US" sz="1932" u="sng" dirty="0">
              <a:solidFill>
                <a:srgbClr val="240960"/>
              </a:solidFill>
              <a:latin typeface="Montserrat"/>
              <a:ea typeface="Montserrat"/>
              <a:cs typeface="Montserrat"/>
              <a:sym typeface="Montserrat"/>
            </a:endParaRPr>
          </a:p>
          <a:p>
            <a:pPr lvl="0">
              <a:lnSpc>
                <a:spcPts val="2202"/>
              </a:lnSpc>
            </a:pPr>
            <a:endParaRPr lang="en-US" sz="1932" u="sng" dirty="0">
              <a:solidFill>
                <a:srgbClr val="240960"/>
              </a:solidFill>
              <a:latin typeface="Montserrat"/>
              <a:ea typeface="Montserrat"/>
              <a:cs typeface="Montserrat"/>
              <a:sym typeface="Montserrat"/>
            </a:endParaRPr>
          </a:p>
          <a:p>
            <a:pPr marL="0" lvl="0" indent="0" algn="l">
              <a:lnSpc>
                <a:spcPts val="2202"/>
              </a:lnSpc>
            </a:pPr>
            <a:endParaRPr lang="en-US" sz="1932" u="sng" dirty="0">
              <a:solidFill>
                <a:srgbClr val="240960"/>
              </a:solidFill>
              <a:latin typeface="Montserrat"/>
              <a:ea typeface="Montserrat"/>
              <a:cs typeface="Montserrat"/>
              <a:sym typeface="Montserrat"/>
            </a:endParaRPr>
          </a:p>
        </p:txBody>
      </p:sp>
      <p:sp>
        <p:nvSpPr>
          <p:cNvPr id="43" name="TextBox 37">
            <a:extLst>
              <a:ext uri="{FF2B5EF4-FFF2-40B4-BE49-F238E27FC236}">
                <a16:creationId xmlns:a16="http://schemas.microsoft.com/office/drawing/2014/main" id="{BBA05324-5969-02BF-63CB-47391333E8B7}"/>
              </a:ext>
            </a:extLst>
          </p:cNvPr>
          <p:cNvSpPr txBox="1"/>
          <p:nvPr/>
        </p:nvSpPr>
        <p:spPr>
          <a:xfrm>
            <a:off x="10597856" y="4994098"/>
            <a:ext cx="4857747" cy="1974900"/>
          </a:xfrm>
          <a:prstGeom prst="rect">
            <a:avLst/>
          </a:prstGeom>
        </p:spPr>
        <p:txBody>
          <a:bodyPr wrap="square" lIns="0" tIns="0" rIns="0" bIns="0" rtlCol="0" anchor="t">
            <a:spAutoFit/>
          </a:bodyPr>
          <a:lstStyle/>
          <a:p>
            <a:pPr lvl="0">
              <a:lnSpc>
                <a:spcPts val="2202"/>
              </a:lnSpc>
            </a:pPr>
            <a:r>
              <a:rPr lang="en-US" sz="1932" dirty="0">
                <a:solidFill>
                  <a:srgbClr val="240960"/>
                </a:solidFill>
                <a:latin typeface="Montserrat"/>
                <a:ea typeface="Montserrat"/>
                <a:cs typeface="Montserrat"/>
                <a:sym typeface="Montserrat"/>
              </a:rPr>
              <a:t>Image “</a:t>
            </a:r>
            <a:r>
              <a:rPr lang="en-US" sz="1932" dirty="0" err="1">
                <a:solidFill>
                  <a:srgbClr val="240960"/>
                </a:solidFill>
                <a:latin typeface="Montserrat"/>
                <a:ea typeface="Montserrat"/>
                <a:cs typeface="Montserrat"/>
                <a:sym typeface="Montserrat"/>
              </a:rPr>
              <a:t>Atteindre</a:t>
            </a:r>
            <a:r>
              <a:rPr lang="en-US" sz="1932" dirty="0">
                <a:solidFill>
                  <a:srgbClr val="240960"/>
                </a:solidFill>
                <a:latin typeface="Montserrat"/>
                <a:ea typeface="Montserrat"/>
                <a:cs typeface="Montserrat"/>
                <a:sym typeface="Montserrat"/>
              </a:rPr>
              <a:t> le consensus dans les systems </a:t>
            </a:r>
            <a:r>
              <a:rPr lang="en-US" sz="1932" dirty="0" err="1">
                <a:solidFill>
                  <a:srgbClr val="240960"/>
                </a:solidFill>
                <a:latin typeface="Montserrat"/>
                <a:ea typeface="Montserrat"/>
                <a:cs typeface="Montserrat"/>
                <a:sym typeface="Montserrat"/>
              </a:rPr>
              <a:t>distribués</a:t>
            </a:r>
            <a:r>
              <a:rPr lang="en-US" sz="1932" dirty="0">
                <a:solidFill>
                  <a:srgbClr val="240960"/>
                </a:solidFill>
                <a:latin typeface="Montserrat"/>
                <a:ea typeface="Montserrat"/>
                <a:cs typeface="Montserrat"/>
                <a:sym typeface="Montserrat"/>
              </a:rPr>
              <a:t>” original : </a:t>
            </a:r>
            <a:r>
              <a:rPr lang="en-US" sz="1932" dirty="0">
                <a:solidFill>
                  <a:srgbClr val="240960"/>
                </a:solidFill>
                <a:latin typeface="Montserrat"/>
                <a:ea typeface="Montserrat"/>
                <a:cs typeface="Montserrat"/>
                <a:sym typeface="Montserrat"/>
                <a:hlinkClick r:id="rId10"/>
              </a:rPr>
              <a:t>https://aws.plainenglish.io/raft-consensus-algorithm-explained-making-distributed-systems-understandable-de032f13b372</a:t>
            </a:r>
            <a:endParaRPr lang="en-US" sz="1932" dirty="0">
              <a:solidFill>
                <a:srgbClr val="240960"/>
              </a:solidFill>
              <a:latin typeface="Montserrat"/>
              <a:ea typeface="Montserrat"/>
              <a:cs typeface="Montserrat"/>
              <a:sym typeface="Montserrat"/>
            </a:endParaRPr>
          </a:p>
          <a:p>
            <a:pPr lvl="0">
              <a:lnSpc>
                <a:spcPts val="2202"/>
              </a:lnSpc>
            </a:pPr>
            <a:endParaRPr lang="en-US" sz="1932" dirty="0">
              <a:solidFill>
                <a:srgbClr val="240960"/>
              </a:solidFill>
              <a:latin typeface="Montserrat"/>
              <a:ea typeface="Montserrat"/>
              <a:cs typeface="Montserrat"/>
              <a:sym typeface="Montserrat"/>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351</TotalTime>
  <Words>2965</Words>
  <Application>Microsoft Office PowerPoint</Application>
  <PresentationFormat>Personnalisé</PresentationFormat>
  <Paragraphs>415</Paragraphs>
  <Slides>14</Slides>
  <Notes>11</Notes>
  <HiddenSlides>3</HiddenSlides>
  <MMClips>0</MMClips>
  <ScaleCrop>false</ScaleCrop>
  <HeadingPairs>
    <vt:vector size="6" baseType="variant">
      <vt:variant>
        <vt:lpstr>Polices utilisées</vt:lpstr>
      </vt:variant>
      <vt:variant>
        <vt:i4>8</vt:i4>
      </vt:variant>
      <vt:variant>
        <vt:lpstr>Thème</vt:lpstr>
      </vt:variant>
      <vt:variant>
        <vt:i4>1</vt:i4>
      </vt:variant>
      <vt:variant>
        <vt:lpstr>Titres des diapositives</vt:lpstr>
      </vt:variant>
      <vt:variant>
        <vt:i4>14</vt:i4>
      </vt:variant>
    </vt:vector>
  </HeadingPairs>
  <TitlesOfParts>
    <vt:vector size="23" baseType="lpstr">
      <vt:lpstr>Montserrat Italics</vt:lpstr>
      <vt:lpstr>Arial</vt:lpstr>
      <vt:lpstr>Aptos</vt:lpstr>
      <vt:lpstr>Canva Sans Bold</vt:lpstr>
      <vt:lpstr>Canva Sans</vt:lpstr>
      <vt:lpstr>Montserrat Bold</vt:lpstr>
      <vt:lpstr>Calibri</vt:lpstr>
      <vt:lpstr>Montserrat</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Raft : algorithme de consensus (fr)</dc:title>
  <dc:creator>Guillemette COUVRAND</dc:creator>
  <cp:lastModifiedBy>Guillemette COUVRAND</cp:lastModifiedBy>
  <cp:revision>15</cp:revision>
  <dcterms:created xsi:type="dcterms:W3CDTF">2006-08-16T00:00:00Z</dcterms:created>
  <dcterms:modified xsi:type="dcterms:W3CDTF">2026-04-16T07:20:55Z</dcterms:modified>
  <dc:identifier>DAHGpdWfI-k</dc:identifier>
</cp:coreProperties>
</file>