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657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RAFT</a:t>
            </a:r>
            <a:endParaRPr lang="en-US" sz="8600" dirty="0"/>
          </a:p>
        </p:txBody>
      </p:sp>
      <p:sp>
        <p:nvSpPr>
          <p:cNvPr id="5" name="Text 2"/>
          <p:cNvSpPr/>
          <p:nvPr/>
        </p:nvSpPr>
        <p:spPr>
          <a:xfrm>
            <a:off x="0" y="3063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38BDF8"/>
                </a:solidFill>
              </a:rPr>
              <a:t>L'algorithme de consensus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3703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A3C8"/>
                </a:solidFill>
              </a:rPr>
              <a:t>Diego Ongaro &amp; John Ousterhout · Stanford · 2014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3C8"/>
                </a:solidFill>
              </a:rPr>
              <a:t>Présentation systèmes distribués · 10-15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Le problème : plusieurs serveurs, une seule vérité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6868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Serveur A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1097280" y="2103120"/>
            <a:ext cx="13716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6BB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9728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F6F"/>
                </a:solidFill>
              </a:rPr>
              <a:t>x = 3 ?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868680"/>
            <a:ext cx="822960" cy="822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4904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Serveur B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3749040" y="2103120"/>
            <a:ext cx="13716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74904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x = 5 ?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868680"/>
            <a:ext cx="822960" cy="8229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Serveur C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400800" y="2103120"/>
            <a:ext cx="13716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6BB5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40080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F6F"/>
                </a:solidFill>
              </a:rPr>
              <a:t>x = 3 ?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2514600" y="1234440"/>
            <a:ext cx="1234440" cy="73152"/>
          </a:xfrm>
          <a:prstGeom prst="rect">
            <a:avLst/>
          </a:prstGeom>
          <a:solidFill>
            <a:srgbClr val="7BA3C8"/>
          </a:solidFill>
          <a:ln w="12700">
            <a:solidFill>
              <a:srgbClr val="7BA3C8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514600" y="10972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7171"/>
                </a:solidFill>
              </a:rPr>
              <a:t>≠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5166360" y="1234440"/>
            <a:ext cx="1234440" cy="73152"/>
          </a:xfrm>
          <a:prstGeom prst="rect">
            <a:avLst/>
          </a:prstGeom>
          <a:solidFill>
            <a:srgbClr val="7BA3C8"/>
          </a:solidFill>
          <a:ln w="12700">
            <a:solidFill>
              <a:srgbClr val="7BA3C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166360" y="10972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7171"/>
                </a:solidFill>
              </a:rPr>
              <a:t>≠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365760" y="2788920"/>
            <a:ext cx="841248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48640" y="28163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</a:rPr>
              <a:t>❌  Incohérence : les serveurs ne sont pas d'accord sur la même valeur. Quel serveur a raison ?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65760" y="3520440"/>
            <a:ext cx="8412480" cy="1325880"/>
          </a:xfrm>
          <a:prstGeom prst="rect">
            <a:avLst/>
          </a:prstGeom>
          <a:solidFill>
            <a:srgbClr val="FFFFFF"/>
          </a:solidFill>
          <a:ln w="3810">
            <a:solidFill>
              <a:srgbClr val="7BA3C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65760" y="3520440"/>
            <a:ext cx="64008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</a:rPr>
              <a:t>Ce qu'on veut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Tous les serveurs voient les mêmes données dans le même ordre
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Le système continue de fonctionner même si certains serveurs tombent en panne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Raft — un algorithme de consensus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8412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A3C8"/>
                </a:solidFill>
              </a:rPr>
              <a:t>Raft = Reliable, Replicated, Redundant And Fault-Tolerant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2606040" cy="329184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325880"/>
            <a:ext cx="2606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Consensus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2633472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Faire en sorte que plusieurs machines s'accordent sur une même valeur, même quand certaines tombent en panne.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325880"/>
            <a:ext cx="2606040" cy="329184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325880"/>
            <a:ext cx="2606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200400" y="2148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Simple par conception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337560" y="2633472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Créé en 2014 pour être plus facile à comprendre que son prédécesseur Paxos, réputé très complexe.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1325880"/>
            <a:ext cx="2606040" cy="329184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1325880"/>
            <a:ext cx="2606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1463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035040" y="2148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Utilisé partout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72200" y="2633472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Kubernetes, etcd, CockroachDB, Kafka, Consul… les infrastructures modernes reposent dessus.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Les trois rôles d'un serveur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26060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868680"/>
            <a:ext cx="26060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005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1508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400E"/>
                </a:solidFill>
              </a:rPr>
              <a:t>Leader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205740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Il y en a exactement un à la fois.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Il reçoit toutes les requêtes des clients et coordonne les autres.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Il envoie régulièrement un signal « je suis vivant ».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00400" y="868680"/>
            <a:ext cx="26060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00400" y="868680"/>
            <a:ext cx="260604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005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0400" y="1508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Follower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337560" y="205740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État par défaut de tous les serveurs.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Il écoute le Leader et applique ses instructions.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S'il n'entend plus le Leader, il déclenche une élection.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035040" y="868680"/>
            <a:ext cx="26060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35040" y="868680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0058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0" y="1508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</a:rPr>
              <a:t>Candidate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172200" y="205740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État temporaire lors d'une élection.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Un Follower qui n'entend plus le Leader se déclare Candidat et demande des votes.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S'il obtient la majorité, il devient Leader.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A3C8"/>
                </a:solidFill>
              </a:rPr>
              <a:t>Follower  →  Candidate  →  Leader  →  Follower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L'élection du Leader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3977640" cy="1783080"/>
          </a:xfrm>
          <a:prstGeom prst="rect">
            <a:avLst/>
          </a:prstGeom>
          <a:solidFill>
            <a:srgbClr val="0F204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14400"/>
            <a:ext cx="39776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097280"/>
            <a:ext cx="502920" cy="502920"/>
          </a:xfrm>
          <a:prstGeom prst="oval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5568" y="1078992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Timeout écoulé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57276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Un Follower n'entend plus le Leader pendant un délai aléatoire (150-300ms). Il passe en mode Candidat.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3977640" cy="1783080"/>
          </a:xfrm>
          <a:prstGeom prst="rect">
            <a:avLst/>
          </a:prstGeom>
          <a:solidFill>
            <a:srgbClr val="0F20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914400"/>
            <a:ext cx="3977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00600" y="1097280"/>
            <a:ext cx="502920" cy="502920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13248" y="1078992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Demande de votes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00600" y="157276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Le Candidat s'auto-vote, incrémente son numéro de mandat (terme) et envoie une demande de vote à tous les autres.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65760" y="2926080"/>
            <a:ext cx="3977640" cy="1783080"/>
          </a:xfrm>
          <a:prstGeom prst="rect">
            <a:avLst/>
          </a:prstGeom>
          <a:solidFill>
            <a:srgbClr val="0F204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926080"/>
            <a:ext cx="39776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108960"/>
            <a:ext cx="502920" cy="502920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15568" y="3090672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Vote majoritaire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358444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Chaque serveur vote pour le premier candidat qui lui demande, dans ce terme. Le Candidat qui obtient la majorité gagne.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663440" y="2926080"/>
            <a:ext cx="3977640" cy="1783080"/>
          </a:xfrm>
          <a:prstGeom prst="rect">
            <a:avLst/>
          </a:prstGeom>
          <a:solidFill>
            <a:srgbClr val="0F20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2926080"/>
            <a:ext cx="39776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00600" y="3108960"/>
            <a:ext cx="502920" cy="502920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13248" y="3090672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Règne du Leader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00600" y="358444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Le nouveau Leader envoie aussitôt des messages à tous pour signaler son élection et éviter de nouvelles élections.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A3C8"/>
                </a:solidFill>
              </a:rPr>
              <a:t>Le terme (mandat) est un compteur qui augmente à chaque élection — il garantit qu'on ne vote pas deux fois pour le même terme.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La réplication du log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96112"/>
            <a:ext cx="320040" cy="3200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70432"/>
            <a:ext cx="594360" cy="5943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4320" y="1783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Leader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1463040" y="960120"/>
            <a:ext cx="1600200" cy="5029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46304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set x=3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463040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✓ validé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246120" y="960120"/>
            <a:ext cx="1600200" cy="5029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24612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set y=7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246120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✓ validé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029200" y="960120"/>
            <a:ext cx="1600200" cy="5029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2920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del z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0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✓ validé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812280" y="960120"/>
            <a:ext cx="1600200" cy="502920"/>
          </a:xfrm>
          <a:prstGeom prst="rect">
            <a:avLst/>
          </a:prstGeom>
          <a:solidFill>
            <a:srgbClr val="FEF9C3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81228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set x=9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812280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en attente…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148840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8600" y="274320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F6F"/>
                </a:solidFill>
              </a:rPr>
              <a:t>Follower 1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960120" y="2377440"/>
            <a:ext cx="457200" cy="54864"/>
          </a:xfrm>
          <a:prstGeom prst="rect">
            <a:avLst/>
          </a:prstGeom>
          <a:solidFill>
            <a:srgbClr val="1E6BB5"/>
          </a:solidFill>
          <a:ln w="12700">
            <a:solidFill>
              <a:srgbClr val="1E6BB5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307592" y="22768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6BB5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463040" y="225856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463040" y="2258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set x=3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46120" y="225856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246120" y="2258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set y=7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029200" y="225856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29200" y="2258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del z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812280" y="225856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812280" y="225856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set x=9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017520"/>
            <a:ext cx="594360" cy="5943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28600" y="361188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F6F"/>
                </a:solidFill>
              </a:rPr>
              <a:t>Follower 2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960120" y="3246120"/>
            <a:ext cx="457200" cy="54864"/>
          </a:xfrm>
          <a:prstGeom prst="rect">
            <a:avLst/>
          </a:prstGeom>
          <a:solidFill>
            <a:srgbClr val="1E6BB5"/>
          </a:solidFill>
          <a:ln w="12700">
            <a:solidFill>
              <a:srgbClr val="1E6BB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307592" y="314553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6BB5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1463040" y="312724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463040" y="31272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set x=3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3246120" y="312724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246120" y="31272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set y=7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5029200" y="312724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029200" y="31272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del z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812280" y="3127248"/>
            <a:ext cx="1600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812280" y="31272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—</a:t>
            </a:r>
            <a:endParaRPr lang="en-US" sz="11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886200"/>
            <a:ext cx="594360" cy="59436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228600" y="44805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F6F"/>
                </a:solidFill>
              </a:rPr>
              <a:t>Follower 3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960120" y="4114800"/>
            <a:ext cx="457200" cy="54864"/>
          </a:xfrm>
          <a:prstGeom prst="rect">
            <a:avLst/>
          </a:prstGeom>
          <a:solidFill>
            <a:srgbClr val="1E6BB5"/>
          </a:solidFill>
          <a:ln w="12700">
            <a:solidFill>
              <a:srgbClr val="1E6BB5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1307592" y="40142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6BB5"/>
                </a:solidFill>
              </a:rPr>
              <a:t>▶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1463040" y="399592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463040" y="39959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set x=3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3246120" y="399592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3246120" y="39959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set y=7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5029200" y="3995928"/>
            <a:ext cx="1600200" cy="45720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029200" y="39959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del z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6812280" y="3995928"/>
            <a:ext cx="1600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6812280" y="39959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—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1E6BB5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548640" y="468172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F6F"/>
                </a:solidFill>
              </a:rPr>
              <a:t>✓  Une entrée est « validée » quand la majorité des serveurs l'a copiée — même si un serveur est en panne.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Tolérance aux pannes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914400" y="1005840"/>
            <a:ext cx="7315200" cy="123444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005840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Cluster de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</a:t>
            </a:r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  serveurs  →  tolère  </a:t>
            </a:r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(N-1)/2</a:t>
            </a:r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  pannes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2514600" cy="2377440"/>
          </a:xfrm>
          <a:prstGeom prst="rect">
            <a:avLst/>
          </a:prstGeom>
          <a:solidFill>
            <a:srgbClr val="0F2044"/>
          </a:solidFill>
          <a:ln w="3810">
            <a:solidFill>
              <a:srgbClr val="7BA3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5420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serveurs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8529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tolère 1 panne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218688"/>
            <a:ext cx="457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07008" y="3218688"/>
            <a:ext cx="457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7008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773936" y="3218688"/>
            <a:ext cx="457200" cy="457200"/>
          </a:xfrm>
          <a:prstGeom prst="rect">
            <a:avLst/>
          </a:prstGeom>
          <a:solidFill>
            <a:srgbClr val="2D151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73936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✕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91840" y="2468880"/>
            <a:ext cx="2514600" cy="2377440"/>
          </a:xfrm>
          <a:prstGeom prst="rect">
            <a:avLst/>
          </a:prstGeom>
          <a:solidFill>
            <a:srgbClr val="0F2044"/>
          </a:solidFill>
          <a:ln w="3810">
            <a:solidFill>
              <a:srgbClr val="7BA3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25420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serveurs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91840" y="28529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tolère 2 pannes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0" y="3218688"/>
            <a:ext cx="457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041648" y="3218688"/>
            <a:ext cx="457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41648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08576" y="3218688"/>
            <a:ext cx="457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08576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175504" y="3218688"/>
            <a:ext cx="457200" cy="457200"/>
          </a:xfrm>
          <a:prstGeom prst="rect">
            <a:avLst/>
          </a:prstGeom>
          <a:solidFill>
            <a:srgbClr val="2D151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75504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✕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474720" y="3858768"/>
            <a:ext cx="457200" cy="457200"/>
          </a:xfrm>
          <a:prstGeom prst="rect">
            <a:avLst/>
          </a:prstGeom>
          <a:solidFill>
            <a:srgbClr val="2D151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✕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126480" y="2468880"/>
            <a:ext cx="2514600" cy="2377440"/>
          </a:xfrm>
          <a:prstGeom prst="rect">
            <a:avLst/>
          </a:prstGeom>
          <a:solidFill>
            <a:srgbClr val="0F2044"/>
          </a:solidFill>
          <a:ln w="3810">
            <a:solidFill>
              <a:srgbClr val="7BA3C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6480" y="25420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 serveurs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126480" y="28529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tolère 3 pannes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09360" y="3218688"/>
            <a:ext cx="457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0936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876288" y="3218688"/>
            <a:ext cx="457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76288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443216" y="3218688"/>
            <a:ext cx="457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43216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010144" y="3218688"/>
            <a:ext cx="457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10144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309360" y="3858768"/>
            <a:ext cx="457200" cy="457200"/>
          </a:xfrm>
          <a:prstGeom prst="rect">
            <a:avLst/>
          </a:prstGeom>
          <a:solidFill>
            <a:srgbClr val="2D151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0936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✕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876288" y="3858768"/>
            <a:ext cx="457200" cy="457200"/>
          </a:xfrm>
          <a:prstGeom prst="rect">
            <a:avLst/>
          </a:prstGeom>
          <a:solidFill>
            <a:srgbClr val="2D151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76288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✕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7443216" y="3858768"/>
            <a:ext cx="457200" cy="457200"/>
          </a:xfrm>
          <a:prstGeom prst="rect">
            <a:avLst/>
          </a:prstGeom>
          <a:solidFill>
            <a:srgbClr val="2D151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43216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✕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A3C8"/>
                </a:solidFill>
              </a:rPr>
              <a:t>La règle : il faut toujours une majorité (quorum) de serveurs actifs pour que le cluster fonctionne.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Raft dans le monde réel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14400"/>
            <a:ext cx="260604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1051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etcd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" y="1463040"/>
            <a:ext cx="23774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</a:rPr>
              <a:t>Config &amp; coordination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Utilisé par Kubernetes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14400"/>
            <a:ext cx="2606040" cy="640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1051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</a:rPr>
              <a:t>CockroachDB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310128" y="1463040"/>
            <a:ext cx="237744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Base de données SQL distribuée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10128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Finance, e-commerce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91440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914400"/>
            <a:ext cx="2606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1051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Consul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44768" y="1463040"/>
            <a:ext cx="2377440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44768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Découverte de services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44768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Architectures microservices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28346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2834640"/>
            <a:ext cx="2606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" y="2971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</a:rPr>
              <a:t>Kafka (KRaft)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75488" y="3383280"/>
            <a:ext cx="237744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2410C"/>
                </a:solidFill>
              </a:rPr>
              <a:t>Streaming de données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5488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Temps réel, logs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0" y="28346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00400" y="2834640"/>
            <a:ext cx="26060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10128" y="2971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TiKV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3310128" y="3383280"/>
            <a:ext cx="2377440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</a:rPr>
              <a:t>Stockage distribué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310128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TiDB, cloud natif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035040" y="28346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834640"/>
            <a:ext cx="2606040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44768" y="2971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NATS JetStream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6144768" y="3383280"/>
            <a:ext cx="23774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44768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40AF"/>
                </a:solidFill>
              </a:rPr>
              <a:t>Messagerie distribuée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144768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IoT, finance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Ce que Raft ne fait pas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8412480" cy="1115568"/>
          </a:xfrm>
          <a:prstGeom prst="rect">
            <a:avLst/>
          </a:prstGeom>
          <a:solidFill>
            <a:srgbClr val="FFFFFF"/>
          </a:solidFill>
          <a:ln w="3810">
            <a:solidFill>
              <a:srgbClr val="7BA3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14400"/>
            <a:ext cx="64008" cy="11155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914400"/>
            <a:ext cx="685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98448" y="10058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</a:rPr>
              <a:t>Pas pour les pannes byzantines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98448" y="1408176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Raft suppose que les serveurs tombent en panne honnêtement. Si un serveur envoie de fausses informations volontairement — comme dans une blockchain — Raft ne s'en protège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176272"/>
            <a:ext cx="8412480" cy="1115568"/>
          </a:xfrm>
          <a:prstGeom prst="rect">
            <a:avLst/>
          </a:prstGeom>
          <a:solidFill>
            <a:srgbClr val="FFFFFF"/>
          </a:solidFill>
          <a:ln w="3810">
            <a:solidFill>
              <a:srgbClr val="7BA3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176272"/>
            <a:ext cx="64008" cy="11155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2176272"/>
            <a:ext cx="685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98448" y="226771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</a:rPr>
              <a:t>Pas conçu pour des milliers de nœuds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98448" y="2670048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Raft fonctionne très bien avec 3 à 7 serveurs. Au-delà, le coût de la coordination explose. Pour de très grandes échelles, d'autres architectures sont nécessaires.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438144"/>
            <a:ext cx="8412480" cy="1115568"/>
          </a:xfrm>
          <a:prstGeom prst="rect">
            <a:avLst/>
          </a:prstGeom>
          <a:solidFill>
            <a:srgbClr val="FFFFFF"/>
          </a:solidFill>
          <a:ln w="3810">
            <a:solidFill>
              <a:srgbClr val="7BA3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438144"/>
            <a:ext cx="64008" cy="11155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3438144"/>
            <a:ext cx="685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298448" y="352958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</a:rPr>
              <a:t>La majorité peut bloquer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98448" y="393192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Si plus de la moitié des serveurs sont en panne simultanément, le cluster s'arrête de fonctionner complètement pour éviter des incohérences. C'est un choix de sécurité, pas un bug.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286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600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résumé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274320" y="2423160"/>
            <a:ext cx="1993392" cy="233172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2423160"/>
            <a:ext cx="19933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48716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74320" y="3063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Consensus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493008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Plusieurs machines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d'accord sur une même vérité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41448" y="2423160"/>
            <a:ext cx="1993392" cy="233172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41448" y="2423160"/>
            <a:ext cx="19933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41448" y="248716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441448" y="3063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 seul Leader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32888" y="3493008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Coordonne tout,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remplacé automatiquement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08576" y="2423160"/>
            <a:ext cx="1993392" cy="233172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08576" y="2423160"/>
            <a:ext cx="19933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248716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608576" y="3063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 répliqué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00016" y="3493008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Chaque décision copiée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sur la majorité des serveurs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75704" y="2423160"/>
            <a:ext cx="1993392" cy="2331720"/>
          </a:xfrm>
          <a:prstGeom prst="rect">
            <a:avLst/>
          </a:prstGeom>
          <a:solidFill>
            <a:srgbClr val="0F2044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75704" y="2423160"/>
            <a:ext cx="19933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75704" y="248716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775704" y="3063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Tolérant aux pannes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67144" y="3493008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Résiste à (N-1)/2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pannes simultanées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3C8"/>
                </a:solidFill>
              </a:rPr>
              <a:t>RFC 7748 → raft.github.io  ·  Paper : « In Search of an Understandable Consensus Algorithm »  ·  Ongaro &amp; Ousterhout, 2014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Raft — Algorithme de consensus</dc:title>
  <dc:subject>PptxGenJS Presentation</dc:subject>
  <dc:creator>PptxGenJS</dc:creator>
  <cp:lastModifiedBy>PptxGenJS</cp:lastModifiedBy>
  <cp:revision>1</cp:revision>
  <dcterms:created xsi:type="dcterms:W3CDTF">2026-04-09T08:31:56Z</dcterms:created>
  <dcterms:modified xsi:type="dcterms:W3CDTF">2026-04-09T08:31:56Z</dcterms:modified>
</cp:coreProperties>
</file>