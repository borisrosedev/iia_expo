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déplacer la diapo</a:t>
            </a:r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modifier le format des notes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111FDD3-E8CA-48E7-B773-8EF8DD531B9D}" type="slidenum"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6D29DD6-6FEE-458E-BAD8-A993EB2744D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3E644A-6B84-4A89-AADB-4EFDFBFC7AA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2C28420-F67A-40E8-9438-C8773D13A3A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5543B79-6975-40CE-8005-8CD3F2DA505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321FB32-FEF3-435F-9F42-B5B62F3E430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1444A43-6E40-42E2-BE4F-8DB8D3CF23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2EB31E0-EE38-446B-B62A-C7119AD47AF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EC1B8ED-0F02-4BDC-AA5B-655D3C5ECB1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9D2A7D6-C346-4F44-A2AD-1FE885A5723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F3AA42-F099-4C26-9296-F1BDBFFF853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AE1B967-185D-420A-96C0-F4932FB9A8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A6D3016-043A-442F-A779-281EF6BBEC1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texte-</a:t>
            </a: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titre</a:t>
            </a:r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lang="fr-F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6583680" y="-731520"/>
            <a:ext cx="4114440" cy="4114440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7406640" y="2286000"/>
            <a:ext cx="2285640" cy="2285640"/>
          </a:xfrm>
          <a:prstGeom prst="ellipse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548640" y="1005840"/>
            <a:ext cx="77720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pc="400" strike="noStrike">
                <a:solidFill>
                  <a:srgbClr val="FFFFFF"/>
                </a:solidFill>
                <a:effectLst/>
                <a:uFillTx/>
                <a:latin typeface="Calibri"/>
              </a:rPr>
              <a:t>TCP CUBIC</a:t>
            </a:r>
            <a:endParaRPr lang="fr-FR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548640" y="2331720"/>
            <a:ext cx="77720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5EEAD4"/>
                </a:solidFill>
                <a:effectLst/>
                <a:uFillTx/>
                <a:latin typeface="Calibri"/>
              </a:rPr>
              <a:t>Contrôle de congestion pour les réseaux modernes</a:t>
            </a: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4"/>
          <p:cNvSpPr/>
          <p:nvPr/>
        </p:nvSpPr>
        <p:spPr>
          <a:xfrm>
            <a:off x="548640" y="2926080"/>
            <a:ext cx="3200040" cy="45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548640" y="310896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548640" y="352044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8"/>
          <p:cNvSpPr/>
          <p:nvPr/>
        </p:nvSpPr>
        <p:spPr>
          <a:xfrm>
            <a:off x="548640" y="438912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1"/>
          <p:cNvSpPr/>
          <p:nvPr/>
        </p:nvSpPr>
        <p:spPr>
          <a:xfrm>
            <a:off x="0" y="0"/>
            <a:ext cx="164160" cy="776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2"/>
          <p:cNvSpPr/>
          <p:nvPr/>
        </p:nvSpPr>
        <p:spPr>
          <a:xfrm>
            <a:off x="292680" y="0"/>
            <a:ext cx="85035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Rappel — Le contrôle de congestion TCP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3"/>
          <p:cNvSpPr/>
          <p:nvPr/>
        </p:nvSpPr>
        <p:spPr>
          <a:xfrm>
            <a:off x="292680" y="777240"/>
            <a:ext cx="8503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Bases nécessaires pour comprendre CUBIC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4"/>
          <p:cNvSpPr/>
          <p:nvPr/>
        </p:nvSpPr>
        <p:spPr>
          <a:xfrm>
            <a:off x="0" y="4983480"/>
            <a:ext cx="9143640" cy="159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5"/>
          <p:cNvSpPr/>
          <p:nvPr/>
        </p:nvSpPr>
        <p:spPr>
          <a:xfrm>
            <a:off x="182880" y="4983480"/>
            <a:ext cx="877788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6"/>
          <p:cNvSpPr/>
          <p:nvPr/>
        </p:nvSpPr>
        <p:spPr>
          <a:xfrm>
            <a:off x="274320" y="1143000"/>
            <a:ext cx="4205880" cy="1325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7"/>
          <p:cNvSpPr/>
          <p:nvPr/>
        </p:nvSpPr>
        <p:spPr>
          <a:xfrm>
            <a:off x="274320" y="1143000"/>
            <a:ext cx="109440" cy="13255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8"/>
          <p:cNvSpPr/>
          <p:nvPr/>
        </p:nvSpPr>
        <p:spPr>
          <a:xfrm>
            <a:off x="475560" y="1252800"/>
            <a:ext cx="38401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Slow Start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9"/>
          <p:cNvSpPr/>
          <p:nvPr/>
        </p:nvSpPr>
        <p:spPr>
          <a:xfrm>
            <a:off x="475560" y="1627560"/>
            <a:ext cx="3840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cwnd double à chaque RTT (croissance exponentielle)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10"/>
          <p:cNvSpPr/>
          <p:nvPr/>
        </p:nvSpPr>
        <p:spPr>
          <a:xfrm>
            <a:off x="274320" y="2651760"/>
            <a:ext cx="4205880" cy="1325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1"/>
          <p:cNvSpPr/>
          <p:nvPr/>
        </p:nvSpPr>
        <p:spPr>
          <a:xfrm>
            <a:off x="274320" y="2651760"/>
            <a:ext cx="109440" cy="13255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2"/>
          <p:cNvSpPr/>
          <p:nvPr/>
        </p:nvSpPr>
        <p:spPr>
          <a:xfrm>
            <a:off x="475560" y="2761560"/>
            <a:ext cx="38401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Congestion Avoidance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3"/>
          <p:cNvSpPr/>
          <p:nvPr/>
        </p:nvSpPr>
        <p:spPr>
          <a:xfrm>
            <a:off x="475560" y="3136320"/>
            <a:ext cx="3840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cwnd +1 MSS par RTT (croissance linéaire — AIMD)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14"/>
          <p:cNvSpPr/>
          <p:nvPr/>
        </p:nvSpPr>
        <p:spPr>
          <a:xfrm>
            <a:off x="4754880" y="1143000"/>
            <a:ext cx="4205880" cy="1325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5"/>
          <p:cNvSpPr/>
          <p:nvPr/>
        </p:nvSpPr>
        <p:spPr>
          <a:xfrm>
            <a:off x="4754880" y="1143000"/>
            <a:ext cx="109440" cy="1325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6"/>
          <p:cNvSpPr/>
          <p:nvPr/>
        </p:nvSpPr>
        <p:spPr>
          <a:xfrm>
            <a:off x="4956120" y="1252800"/>
            <a:ext cx="38401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Fast Retransmit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7"/>
          <p:cNvSpPr/>
          <p:nvPr/>
        </p:nvSpPr>
        <p:spPr>
          <a:xfrm>
            <a:off x="4956120" y="1627560"/>
            <a:ext cx="3840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Retransmission immédiate sur 3 ACK dupliqués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8"/>
          <p:cNvSpPr/>
          <p:nvPr/>
        </p:nvSpPr>
        <p:spPr>
          <a:xfrm>
            <a:off x="4754880" y="2651760"/>
            <a:ext cx="4205880" cy="1325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9"/>
          <p:cNvSpPr/>
          <p:nvPr/>
        </p:nvSpPr>
        <p:spPr>
          <a:xfrm>
            <a:off x="4754880" y="2651760"/>
            <a:ext cx="109440" cy="1325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0"/>
          <p:cNvSpPr/>
          <p:nvPr/>
        </p:nvSpPr>
        <p:spPr>
          <a:xfrm>
            <a:off x="4956120" y="2761560"/>
            <a:ext cx="38401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A4A"/>
                </a:solidFill>
                <a:effectLst/>
                <a:uFillTx/>
                <a:latin typeface="Calibri"/>
              </a:rPr>
              <a:t>Fast Recovery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21"/>
          <p:cNvSpPr/>
          <p:nvPr/>
        </p:nvSpPr>
        <p:spPr>
          <a:xfrm>
            <a:off x="4956120" y="3136320"/>
            <a:ext cx="3840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cwnd → ssthresh ; évite de revenir à Slow Start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22"/>
          <p:cNvSpPr/>
          <p:nvPr/>
        </p:nvSpPr>
        <p:spPr>
          <a:xfrm>
            <a:off x="274320" y="4343400"/>
            <a:ext cx="8595000" cy="456840"/>
          </a:xfrm>
          <a:prstGeom prst="rect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23"/>
          <p:cNvSpPr/>
          <p:nvPr/>
        </p:nvSpPr>
        <p:spPr>
          <a:xfrm>
            <a:off x="457200" y="4343400"/>
            <a:ext cx="8320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1B2A4A"/>
                </a:solidFill>
                <a:effectLst/>
                <a:uFillTx/>
                <a:latin typeface="Calibri"/>
              </a:rPr>
              <a:t>Principe AIMD : Additive Increase, Multiplicative Decrease — augmentation progressive, réduction brutale en cas de perte.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"/>
          <p:cNvSpPr/>
          <p:nvPr/>
        </p:nvSpPr>
        <p:spPr>
          <a:xfrm>
            <a:off x="0" y="0"/>
            <a:ext cx="164160" cy="776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"/>
          <p:cNvSpPr/>
          <p:nvPr/>
        </p:nvSpPr>
        <p:spPr>
          <a:xfrm>
            <a:off x="292680" y="0"/>
            <a:ext cx="85035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Limites des algorithmes classiques (Reno)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3"/>
          <p:cNvSpPr/>
          <p:nvPr/>
        </p:nvSpPr>
        <p:spPr>
          <a:xfrm>
            <a:off x="292680" y="777240"/>
            <a:ext cx="8503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Pourquoi avait-on besoin de quelque chose de mieux ?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4"/>
          <p:cNvSpPr/>
          <p:nvPr/>
        </p:nvSpPr>
        <p:spPr>
          <a:xfrm>
            <a:off x="0" y="4983480"/>
            <a:ext cx="9143640" cy="159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5"/>
          <p:cNvSpPr/>
          <p:nvPr/>
        </p:nvSpPr>
        <p:spPr>
          <a:xfrm>
            <a:off x="182880" y="4983480"/>
            <a:ext cx="877788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6"/>
          <p:cNvSpPr/>
          <p:nvPr/>
        </p:nvSpPr>
        <p:spPr>
          <a:xfrm>
            <a:off x="274320" y="1005840"/>
            <a:ext cx="4114440" cy="356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7"/>
          <p:cNvSpPr/>
          <p:nvPr/>
        </p:nvSpPr>
        <p:spPr>
          <a:xfrm>
            <a:off x="274320" y="1005840"/>
            <a:ext cx="4114440" cy="5025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8"/>
          <p:cNvSpPr/>
          <p:nvPr/>
        </p:nvSpPr>
        <p:spPr>
          <a:xfrm>
            <a:off x="411480" y="1005840"/>
            <a:ext cx="3840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⚠ Problèmes de Reno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9"/>
          <p:cNvSpPr/>
          <p:nvPr/>
        </p:nvSpPr>
        <p:spPr>
          <a:xfrm>
            <a:off x="457200" y="1645920"/>
            <a:ext cx="3657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1. </a:t>
            </a:r>
            <a:r>
              <a:rPr lang="en-US" sz="105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Sur les réseaux Long Fat Networks (LFN), la croissance linéaire est trop lente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0"/>
          <p:cNvSpPr/>
          <p:nvPr/>
        </p:nvSpPr>
        <p:spPr>
          <a:xfrm>
            <a:off x="457200" y="2331720"/>
            <a:ext cx="3657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2. </a:t>
            </a:r>
            <a:r>
              <a:rPr lang="en-US" sz="105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Des centaines de RTT nécessaires pour récupérer après une perte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1"/>
          <p:cNvSpPr/>
          <p:nvPr/>
        </p:nvSpPr>
        <p:spPr>
          <a:xfrm>
            <a:off x="457200" y="3017520"/>
            <a:ext cx="3657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3. </a:t>
            </a:r>
            <a:r>
              <a:rPr lang="en-US" sz="105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La capacité des liens fibre n'est jamais pleinement exploitée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2"/>
          <p:cNvSpPr/>
          <p:nvPr/>
        </p:nvSpPr>
        <p:spPr>
          <a:xfrm>
            <a:off x="457200" y="3703320"/>
            <a:ext cx="3657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4. </a:t>
            </a:r>
            <a:r>
              <a:rPr lang="en-US" sz="105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Iniquité : les flux à RTT court reçoivent les ACKs plus vite → fenêtre plus grande → plus de bande passante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3"/>
          <p:cNvSpPr/>
          <p:nvPr/>
        </p:nvSpPr>
        <p:spPr>
          <a:xfrm>
            <a:off x="4754880" y="1005840"/>
            <a:ext cx="4114440" cy="356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4"/>
          <p:cNvSpPr/>
          <p:nvPr/>
        </p:nvSpPr>
        <p:spPr>
          <a:xfrm>
            <a:off x="4754880" y="1005840"/>
            <a:ext cx="4114440" cy="5025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5"/>
          <p:cNvSpPr/>
          <p:nvPr/>
        </p:nvSpPr>
        <p:spPr>
          <a:xfrm>
            <a:off x="4892040" y="1005840"/>
            <a:ext cx="3840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Long Fat Network (LFN)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6"/>
          <p:cNvSpPr/>
          <p:nvPr/>
        </p:nvSpPr>
        <p:spPr>
          <a:xfrm>
            <a:off x="4892040" y="1600200"/>
            <a:ext cx="38401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Un réseau est dit Long Fat quand le produit bande passante × délai (BDP) est élevé.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17"/>
          <p:cNvSpPr/>
          <p:nvPr/>
        </p:nvSpPr>
        <p:spPr>
          <a:xfrm>
            <a:off x="4892040" y="2331720"/>
            <a:ext cx="3748680" cy="52992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8"/>
          <p:cNvSpPr/>
          <p:nvPr/>
        </p:nvSpPr>
        <p:spPr>
          <a:xfrm>
            <a:off x="5010840" y="2359080"/>
            <a:ext cx="2194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B2A4A"/>
                </a:solidFill>
                <a:effectLst/>
                <a:uFillTx/>
                <a:latin typeface="Calibri"/>
              </a:rPr>
              <a:t>Fibre intercontinentale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9"/>
          <p:cNvSpPr/>
          <p:nvPr/>
        </p:nvSpPr>
        <p:spPr>
          <a:xfrm>
            <a:off x="7223760" y="2359080"/>
            <a:ext cx="13712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100 Gbps, 150 ms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0"/>
          <p:cNvSpPr/>
          <p:nvPr/>
        </p:nvSpPr>
        <p:spPr>
          <a:xfrm>
            <a:off x="4892040" y="2990160"/>
            <a:ext cx="3748680" cy="52992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1"/>
          <p:cNvSpPr/>
          <p:nvPr/>
        </p:nvSpPr>
        <p:spPr>
          <a:xfrm>
            <a:off x="5010840" y="3017520"/>
            <a:ext cx="2194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B2A4A"/>
                </a:solidFill>
                <a:effectLst/>
                <a:uFillTx/>
                <a:latin typeface="Calibri"/>
              </a:rPr>
              <a:t>Lien satellite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2"/>
          <p:cNvSpPr/>
          <p:nvPr/>
        </p:nvSpPr>
        <p:spPr>
          <a:xfrm>
            <a:off x="7223760" y="3017520"/>
            <a:ext cx="13712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10 Mbps, 600 ms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23"/>
          <p:cNvSpPr/>
          <p:nvPr/>
        </p:nvSpPr>
        <p:spPr>
          <a:xfrm>
            <a:off x="4892040" y="3648600"/>
            <a:ext cx="3748680" cy="52992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4"/>
          <p:cNvSpPr/>
          <p:nvPr/>
        </p:nvSpPr>
        <p:spPr>
          <a:xfrm>
            <a:off x="5010840" y="3675960"/>
            <a:ext cx="2194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B2A4A"/>
                </a:solidFill>
                <a:effectLst/>
                <a:uFillTx/>
                <a:latin typeface="Calibri"/>
              </a:rPr>
              <a:t>Data center haute densité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5"/>
          <p:cNvSpPr/>
          <p:nvPr/>
        </p:nvSpPr>
        <p:spPr>
          <a:xfrm>
            <a:off x="7223760" y="3675960"/>
            <a:ext cx="13712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25 Gbps, 1 ms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6"/>
          <p:cNvSpPr/>
          <p:nvPr/>
        </p:nvSpPr>
        <p:spPr>
          <a:xfrm>
            <a:off x="4892040" y="4251960"/>
            <a:ext cx="3840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i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Sur ces réseaux, Reno est inefficace et injuste.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"/>
          <p:cNvSpPr/>
          <p:nvPr/>
        </p:nvSpPr>
        <p:spPr>
          <a:xfrm>
            <a:off x="0" y="0"/>
            <a:ext cx="164160" cy="776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"/>
          <p:cNvSpPr/>
          <p:nvPr/>
        </p:nvSpPr>
        <p:spPr>
          <a:xfrm>
            <a:off x="292680" y="0"/>
            <a:ext cx="85035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 BIC-TCP à CUBIC — L'évolution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3"/>
          <p:cNvSpPr/>
          <p:nvPr/>
        </p:nvSpPr>
        <p:spPr>
          <a:xfrm>
            <a:off x="292680" y="777240"/>
            <a:ext cx="8503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Comment CUBIC est né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4"/>
          <p:cNvSpPr/>
          <p:nvPr/>
        </p:nvSpPr>
        <p:spPr>
          <a:xfrm>
            <a:off x="0" y="4983480"/>
            <a:ext cx="9143640" cy="159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5"/>
          <p:cNvSpPr/>
          <p:nvPr/>
        </p:nvSpPr>
        <p:spPr>
          <a:xfrm>
            <a:off x="182880" y="4983480"/>
            <a:ext cx="877788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6"/>
          <p:cNvSpPr/>
          <p:nvPr/>
        </p:nvSpPr>
        <p:spPr>
          <a:xfrm>
            <a:off x="457200" y="3063240"/>
            <a:ext cx="8229240" cy="637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7"/>
          <p:cNvSpPr/>
          <p:nvPr/>
        </p:nvSpPr>
        <p:spPr>
          <a:xfrm>
            <a:off x="960120" y="2926080"/>
            <a:ext cx="273960" cy="27396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8"/>
          <p:cNvSpPr/>
          <p:nvPr/>
        </p:nvSpPr>
        <p:spPr>
          <a:xfrm>
            <a:off x="548640" y="3246120"/>
            <a:ext cx="1279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2004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9"/>
          <p:cNvSpPr/>
          <p:nvPr/>
        </p:nvSpPr>
        <p:spPr>
          <a:xfrm>
            <a:off x="502920" y="1051560"/>
            <a:ext cx="1416960" cy="173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0"/>
          <p:cNvSpPr/>
          <p:nvPr/>
        </p:nvSpPr>
        <p:spPr>
          <a:xfrm>
            <a:off x="502920" y="1051560"/>
            <a:ext cx="1416960" cy="727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1"/>
          <p:cNvSpPr/>
          <p:nvPr/>
        </p:nvSpPr>
        <p:spPr>
          <a:xfrm>
            <a:off x="548640" y="1143000"/>
            <a:ext cx="1325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BIC-TCP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2"/>
          <p:cNvSpPr/>
          <p:nvPr/>
        </p:nvSpPr>
        <p:spPr>
          <a:xfrm>
            <a:off x="548640" y="1554480"/>
            <a:ext cx="13255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Recherche binaire entre Wmax et cible. Défaut Linux 2.6.8.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3"/>
          <p:cNvSpPr/>
          <p:nvPr/>
        </p:nvSpPr>
        <p:spPr>
          <a:xfrm>
            <a:off x="2624400" y="2926080"/>
            <a:ext cx="273960" cy="2739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4"/>
          <p:cNvSpPr/>
          <p:nvPr/>
        </p:nvSpPr>
        <p:spPr>
          <a:xfrm>
            <a:off x="2212920" y="3246120"/>
            <a:ext cx="1279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2006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5"/>
          <p:cNvSpPr/>
          <p:nvPr/>
        </p:nvSpPr>
        <p:spPr>
          <a:xfrm>
            <a:off x="2167200" y="1051560"/>
            <a:ext cx="1416960" cy="173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6"/>
          <p:cNvSpPr/>
          <p:nvPr/>
        </p:nvSpPr>
        <p:spPr>
          <a:xfrm>
            <a:off x="2167200" y="1051560"/>
            <a:ext cx="1416960" cy="72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7"/>
          <p:cNvSpPr/>
          <p:nvPr/>
        </p:nvSpPr>
        <p:spPr>
          <a:xfrm>
            <a:off x="2212920" y="1143000"/>
            <a:ext cx="1325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CUBIC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8"/>
          <p:cNvSpPr/>
          <p:nvPr/>
        </p:nvSpPr>
        <p:spPr>
          <a:xfrm>
            <a:off x="2212920" y="1554480"/>
            <a:ext cx="13255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Fonction cubique lisse. Défaut Linux 2.6.19.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19"/>
          <p:cNvSpPr/>
          <p:nvPr/>
        </p:nvSpPr>
        <p:spPr>
          <a:xfrm>
            <a:off x="4288680" y="2926080"/>
            <a:ext cx="273960" cy="27396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0"/>
          <p:cNvSpPr/>
          <p:nvPr/>
        </p:nvSpPr>
        <p:spPr>
          <a:xfrm>
            <a:off x="3877200" y="3246120"/>
            <a:ext cx="1279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2A4A"/>
                </a:solidFill>
                <a:effectLst/>
                <a:uFillTx/>
                <a:latin typeface="Calibri"/>
              </a:rPr>
              <a:t>2008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21"/>
          <p:cNvSpPr/>
          <p:nvPr/>
        </p:nvSpPr>
        <p:spPr>
          <a:xfrm>
            <a:off x="3831480" y="1051560"/>
            <a:ext cx="1416960" cy="173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2"/>
          <p:cNvSpPr/>
          <p:nvPr/>
        </p:nvSpPr>
        <p:spPr>
          <a:xfrm>
            <a:off x="3831480" y="1051560"/>
            <a:ext cx="1416960" cy="72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3877200" y="1143000"/>
            <a:ext cx="1325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2A4A"/>
                </a:solidFill>
                <a:effectLst/>
                <a:uFillTx/>
                <a:latin typeface="Calibri"/>
              </a:rPr>
              <a:t>RFC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4"/>
          <p:cNvSpPr/>
          <p:nvPr/>
        </p:nvSpPr>
        <p:spPr>
          <a:xfrm>
            <a:off x="3877200" y="1554480"/>
            <a:ext cx="13255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Publication ACM SIGOPS. Ha, Rhee, Xu.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25"/>
          <p:cNvSpPr/>
          <p:nvPr/>
        </p:nvSpPr>
        <p:spPr>
          <a:xfrm>
            <a:off x="5952600" y="2926080"/>
            <a:ext cx="273960" cy="2739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6"/>
          <p:cNvSpPr/>
          <p:nvPr/>
        </p:nvSpPr>
        <p:spPr>
          <a:xfrm>
            <a:off x="5541120" y="3246120"/>
            <a:ext cx="1279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2017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27"/>
          <p:cNvSpPr/>
          <p:nvPr/>
        </p:nvSpPr>
        <p:spPr>
          <a:xfrm>
            <a:off x="5495400" y="1051560"/>
            <a:ext cx="1416960" cy="173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8"/>
          <p:cNvSpPr/>
          <p:nvPr/>
        </p:nvSpPr>
        <p:spPr>
          <a:xfrm>
            <a:off x="5495400" y="1051560"/>
            <a:ext cx="1416960" cy="72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9"/>
          <p:cNvSpPr/>
          <p:nvPr/>
        </p:nvSpPr>
        <p:spPr>
          <a:xfrm>
            <a:off x="5541120" y="1143000"/>
            <a:ext cx="1325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Windows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30"/>
          <p:cNvSpPr/>
          <p:nvPr/>
        </p:nvSpPr>
        <p:spPr>
          <a:xfrm>
            <a:off x="5541120" y="1554480"/>
            <a:ext cx="13255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Intégré dans Windows 10 (v1709) et Server 2019.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31"/>
          <p:cNvSpPr/>
          <p:nvPr/>
        </p:nvSpPr>
        <p:spPr>
          <a:xfrm>
            <a:off x="7616880" y="2926080"/>
            <a:ext cx="273960" cy="2739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32"/>
          <p:cNvSpPr/>
          <p:nvPr/>
        </p:nvSpPr>
        <p:spPr>
          <a:xfrm>
            <a:off x="7205400" y="3246120"/>
            <a:ext cx="1279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2018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33"/>
          <p:cNvSpPr/>
          <p:nvPr/>
        </p:nvSpPr>
        <p:spPr>
          <a:xfrm>
            <a:off x="7159680" y="1051560"/>
            <a:ext cx="1416960" cy="173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34"/>
          <p:cNvSpPr/>
          <p:nvPr/>
        </p:nvSpPr>
        <p:spPr>
          <a:xfrm>
            <a:off x="7159680" y="1051560"/>
            <a:ext cx="1416960" cy="72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35"/>
          <p:cNvSpPr/>
          <p:nvPr/>
        </p:nvSpPr>
        <p:spPr>
          <a:xfrm>
            <a:off x="7205400" y="1143000"/>
            <a:ext cx="1325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RFC 8312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36"/>
          <p:cNvSpPr/>
          <p:nvPr/>
        </p:nvSpPr>
        <p:spPr>
          <a:xfrm>
            <a:off x="7205400" y="1554480"/>
            <a:ext cx="13255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Standardisation IETF officielle.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37"/>
          <p:cNvSpPr/>
          <p:nvPr/>
        </p:nvSpPr>
        <p:spPr>
          <a:xfrm>
            <a:off x="274320" y="3749040"/>
            <a:ext cx="8595000" cy="1005480"/>
          </a:xfrm>
          <a:prstGeom prst="rect">
            <a:avLst/>
          </a:prstGeom>
          <a:solidFill>
            <a:srgbClr val="1B2A4A">
              <a:alpha val="95000"/>
            </a:srgbClr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8"/>
          <p:cNvSpPr/>
          <p:nvPr/>
        </p:nvSpPr>
        <p:spPr>
          <a:xfrm>
            <a:off x="457200" y="3749040"/>
            <a:ext cx="8229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CUBIC améliore BIC en remplaçant la croissance linéaire par morceaux par une courbe cubique lisse, réduisant l'agressivité et améliorant l'équité.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1"/>
          <p:cNvSpPr/>
          <p:nvPr/>
        </p:nvSpPr>
        <p:spPr>
          <a:xfrm>
            <a:off x="0" y="0"/>
            <a:ext cx="164160" cy="776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"/>
          <p:cNvSpPr/>
          <p:nvPr/>
        </p:nvSpPr>
        <p:spPr>
          <a:xfrm>
            <a:off x="292680" y="0"/>
            <a:ext cx="85035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La fonction cubique — W(t) = C × (t − K)³ + W_max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3"/>
          <p:cNvSpPr/>
          <p:nvPr/>
        </p:nvSpPr>
        <p:spPr>
          <a:xfrm>
            <a:off x="292680" y="777240"/>
            <a:ext cx="8503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Le cœur mathématique de CUBIC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4"/>
          <p:cNvSpPr/>
          <p:nvPr/>
        </p:nvSpPr>
        <p:spPr>
          <a:xfrm>
            <a:off x="0" y="4983480"/>
            <a:ext cx="9143640" cy="159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5"/>
          <p:cNvSpPr/>
          <p:nvPr/>
        </p:nvSpPr>
        <p:spPr>
          <a:xfrm>
            <a:off x="182880" y="4983480"/>
            <a:ext cx="877788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6"/>
          <p:cNvSpPr/>
          <p:nvPr/>
        </p:nvSpPr>
        <p:spPr>
          <a:xfrm>
            <a:off x="274320" y="1005840"/>
            <a:ext cx="8595000" cy="959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7"/>
          <p:cNvSpPr/>
          <p:nvPr/>
        </p:nvSpPr>
        <p:spPr>
          <a:xfrm>
            <a:off x="274320" y="1005840"/>
            <a:ext cx="85950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201" strike="noStrike">
                <a:solidFill>
                  <a:srgbClr val="5EEAD4"/>
                </a:solidFill>
                <a:effectLst/>
                <a:uFillTx/>
                <a:latin typeface="Calibri"/>
              </a:rPr>
              <a:t>W(t)  =  C  ×  (t − K)³  +  W_max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8"/>
          <p:cNvSpPr/>
          <p:nvPr/>
        </p:nvSpPr>
        <p:spPr>
          <a:xfrm>
            <a:off x="274320" y="2148840"/>
            <a:ext cx="2697120" cy="914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9"/>
          <p:cNvSpPr/>
          <p:nvPr/>
        </p:nvSpPr>
        <p:spPr>
          <a:xfrm>
            <a:off x="274320" y="2148840"/>
            <a:ext cx="91080" cy="914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0"/>
          <p:cNvSpPr/>
          <p:nvPr/>
        </p:nvSpPr>
        <p:spPr>
          <a:xfrm>
            <a:off x="457200" y="2221920"/>
            <a:ext cx="2377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W(t)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1"/>
          <p:cNvSpPr/>
          <p:nvPr/>
        </p:nvSpPr>
        <p:spPr>
          <a:xfrm>
            <a:off x="457200" y="2569320"/>
            <a:ext cx="23770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Taille de la fenêtre de congestion à l'instant t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12"/>
          <p:cNvSpPr/>
          <p:nvPr/>
        </p:nvSpPr>
        <p:spPr>
          <a:xfrm>
            <a:off x="3200400" y="2148840"/>
            <a:ext cx="2697120" cy="914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13"/>
          <p:cNvSpPr/>
          <p:nvPr/>
        </p:nvSpPr>
        <p:spPr>
          <a:xfrm>
            <a:off x="3200400" y="2148840"/>
            <a:ext cx="91080" cy="914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4"/>
          <p:cNvSpPr/>
          <p:nvPr/>
        </p:nvSpPr>
        <p:spPr>
          <a:xfrm>
            <a:off x="3383280" y="2221920"/>
            <a:ext cx="2377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C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5"/>
          <p:cNvSpPr/>
          <p:nvPr/>
        </p:nvSpPr>
        <p:spPr>
          <a:xfrm>
            <a:off x="3383280" y="2569320"/>
            <a:ext cx="23770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Constante d'échelle (contrôle l'agressivité de la croissance)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16"/>
          <p:cNvSpPr/>
          <p:nvPr/>
        </p:nvSpPr>
        <p:spPr>
          <a:xfrm>
            <a:off x="6126480" y="2148840"/>
            <a:ext cx="2697120" cy="914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7"/>
          <p:cNvSpPr/>
          <p:nvPr/>
        </p:nvSpPr>
        <p:spPr>
          <a:xfrm>
            <a:off x="6126480" y="2148840"/>
            <a:ext cx="91080" cy="9140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8"/>
          <p:cNvSpPr/>
          <p:nvPr/>
        </p:nvSpPr>
        <p:spPr>
          <a:xfrm>
            <a:off x="6309360" y="2221920"/>
            <a:ext cx="2377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K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9"/>
          <p:cNvSpPr/>
          <p:nvPr/>
        </p:nvSpPr>
        <p:spPr>
          <a:xfrm>
            <a:off x="6309360" y="2569320"/>
            <a:ext cx="23770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Instant où W(t) = W_max (point d'inflexion de la courbe)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20"/>
          <p:cNvSpPr/>
          <p:nvPr/>
        </p:nvSpPr>
        <p:spPr>
          <a:xfrm>
            <a:off x="1737360" y="3337560"/>
            <a:ext cx="2697120" cy="914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21"/>
          <p:cNvSpPr/>
          <p:nvPr/>
        </p:nvSpPr>
        <p:spPr>
          <a:xfrm>
            <a:off x="1737360" y="3337560"/>
            <a:ext cx="91080" cy="914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2"/>
          <p:cNvSpPr/>
          <p:nvPr/>
        </p:nvSpPr>
        <p:spPr>
          <a:xfrm>
            <a:off x="1920240" y="3410640"/>
            <a:ext cx="2377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W_max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3"/>
          <p:cNvSpPr/>
          <p:nvPr/>
        </p:nvSpPr>
        <p:spPr>
          <a:xfrm>
            <a:off x="1920240" y="3758040"/>
            <a:ext cx="23770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Taille de la fenêtre au moment de la dernière perte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4"/>
          <p:cNvSpPr/>
          <p:nvPr/>
        </p:nvSpPr>
        <p:spPr>
          <a:xfrm>
            <a:off x="4663440" y="3337560"/>
            <a:ext cx="2697120" cy="914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25"/>
          <p:cNvSpPr/>
          <p:nvPr/>
        </p:nvSpPr>
        <p:spPr>
          <a:xfrm>
            <a:off x="4663440" y="3337560"/>
            <a:ext cx="91080" cy="9140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6"/>
          <p:cNvSpPr/>
          <p:nvPr/>
        </p:nvSpPr>
        <p:spPr>
          <a:xfrm>
            <a:off x="4846320" y="3410640"/>
            <a:ext cx="2377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A4A"/>
                </a:solidFill>
                <a:effectLst/>
                <a:uFillTx/>
                <a:latin typeface="Calibri"/>
              </a:rPr>
              <a:t>t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7"/>
          <p:cNvSpPr/>
          <p:nvPr/>
        </p:nvSpPr>
        <p:spPr>
          <a:xfrm>
            <a:off x="4846320" y="3758040"/>
            <a:ext cx="23770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Temps écoulé depuis le dernier événement de congestion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8"/>
          <p:cNvSpPr/>
          <p:nvPr/>
        </p:nvSpPr>
        <p:spPr>
          <a:xfrm>
            <a:off x="274320" y="4434840"/>
            <a:ext cx="8595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⭢  La croissance dépend du TEMPS, pas du nombre d'ACKs reçus → indépendance vis-à-vis du RTT.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1"/>
          <p:cNvSpPr/>
          <p:nvPr/>
        </p:nvSpPr>
        <p:spPr>
          <a:xfrm>
            <a:off x="0" y="0"/>
            <a:ext cx="164160" cy="776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"/>
          <p:cNvSpPr/>
          <p:nvPr/>
        </p:nvSpPr>
        <p:spPr>
          <a:xfrm>
            <a:off x="292680" y="0"/>
            <a:ext cx="85035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Les 4 principes de conception — RFC 8312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3"/>
          <p:cNvSpPr/>
          <p:nvPr/>
        </p:nvSpPr>
        <p:spPr>
          <a:xfrm>
            <a:off x="292680" y="777240"/>
            <a:ext cx="8503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Les garanties formelles de CUBIC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4"/>
          <p:cNvSpPr/>
          <p:nvPr/>
        </p:nvSpPr>
        <p:spPr>
          <a:xfrm>
            <a:off x="0" y="4983480"/>
            <a:ext cx="9143640" cy="159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5"/>
          <p:cNvSpPr/>
          <p:nvPr/>
        </p:nvSpPr>
        <p:spPr>
          <a:xfrm>
            <a:off x="182880" y="4983480"/>
            <a:ext cx="877788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6"/>
          <p:cNvSpPr/>
          <p:nvPr/>
        </p:nvSpPr>
        <p:spPr>
          <a:xfrm>
            <a:off x="274320" y="1051560"/>
            <a:ext cx="4114440" cy="1691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7"/>
          <p:cNvSpPr/>
          <p:nvPr/>
        </p:nvSpPr>
        <p:spPr>
          <a:xfrm>
            <a:off x="411480" y="1280160"/>
            <a:ext cx="502560" cy="5025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8"/>
          <p:cNvSpPr/>
          <p:nvPr/>
        </p:nvSpPr>
        <p:spPr>
          <a:xfrm>
            <a:off x="411480" y="1280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9"/>
          <p:cNvSpPr/>
          <p:nvPr/>
        </p:nvSpPr>
        <p:spPr>
          <a:xfrm>
            <a:off x="1024200" y="1234440"/>
            <a:ext cx="3200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Utilisation &amp; Stabilité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0"/>
          <p:cNvSpPr/>
          <p:nvPr/>
        </p:nvSpPr>
        <p:spPr>
          <a:xfrm>
            <a:off x="1024200" y="1673280"/>
            <a:ext cx="3200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Utilise les deux profils (concave ET convexe) de la courbe cubique. Évite les bursts massifs autour du point de saturation.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1"/>
          <p:cNvSpPr/>
          <p:nvPr/>
        </p:nvSpPr>
        <p:spPr>
          <a:xfrm>
            <a:off x="4709160" y="1051560"/>
            <a:ext cx="4114440" cy="1691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12"/>
          <p:cNvSpPr/>
          <p:nvPr/>
        </p:nvSpPr>
        <p:spPr>
          <a:xfrm>
            <a:off x="4846320" y="1280160"/>
            <a:ext cx="502560" cy="5025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3"/>
          <p:cNvSpPr/>
          <p:nvPr/>
        </p:nvSpPr>
        <p:spPr>
          <a:xfrm>
            <a:off x="4846320" y="12801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4"/>
          <p:cNvSpPr/>
          <p:nvPr/>
        </p:nvSpPr>
        <p:spPr>
          <a:xfrm>
            <a:off x="5459040" y="1234440"/>
            <a:ext cx="3200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TCP-Friendly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5"/>
          <p:cNvSpPr/>
          <p:nvPr/>
        </p:nvSpPr>
        <p:spPr>
          <a:xfrm>
            <a:off x="5459040" y="1673280"/>
            <a:ext cx="3200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Sur les petits réseaux, CUBIC adopte le comportement de TCP standard pour ne pas pénaliser les flux classiques.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6"/>
          <p:cNvSpPr/>
          <p:nvPr/>
        </p:nvSpPr>
        <p:spPr>
          <a:xfrm>
            <a:off x="274320" y="2926080"/>
            <a:ext cx="4114440" cy="1691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17"/>
          <p:cNvSpPr/>
          <p:nvPr/>
        </p:nvSpPr>
        <p:spPr>
          <a:xfrm>
            <a:off x="411480" y="3154680"/>
            <a:ext cx="502560" cy="5025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8"/>
          <p:cNvSpPr/>
          <p:nvPr/>
        </p:nvSpPr>
        <p:spPr>
          <a:xfrm>
            <a:off x="411480" y="31546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9"/>
          <p:cNvSpPr/>
          <p:nvPr/>
        </p:nvSpPr>
        <p:spPr>
          <a:xfrm>
            <a:off x="1024200" y="3108960"/>
            <a:ext cx="3200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RTT-Fairness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20"/>
          <p:cNvSpPr/>
          <p:nvPr/>
        </p:nvSpPr>
        <p:spPr>
          <a:xfrm>
            <a:off x="1024200" y="3547800"/>
            <a:ext cx="3200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La fenêtre croît selon le temps réel écoulé. Résultat : équité de bande passante entre flux de RTT différents.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21"/>
          <p:cNvSpPr/>
          <p:nvPr/>
        </p:nvSpPr>
        <p:spPr>
          <a:xfrm>
            <a:off x="4709160" y="2926080"/>
            <a:ext cx="4114440" cy="1691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22"/>
          <p:cNvSpPr/>
          <p:nvPr/>
        </p:nvSpPr>
        <p:spPr>
          <a:xfrm>
            <a:off x="4846320" y="3154680"/>
            <a:ext cx="502560" cy="50256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3"/>
          <p:cNvSpPr/>
          <p:nvPr/>
        </p:nvSpPr>
        <p:spPr>
          <a:xfrm>
            <a:off x="4846320" y="31546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4"/>
          <p:cNvSpPr/>
          <p:nvPr/>
        </p:nvSpPr>
        <p:spPr>
          <a:xfrm>
            <a:off x="5459040" y="3108960"/>
            <a:ext cx="3200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A4A"/>
                </a:solidFill>
                <a:effectLst/>
                <a:uFillTx/>
                <a:latin typeface="Calibri"/>
              </a:rPr>
              <a:t>Facteur β de réduction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5"/>
          <p:cNvSpPr/>
          <p:nvPr/>
        </p:nvSpPr>
        <p:spPr>
          <a:xfrm>
            <a:off x="5459040" y="3547800"/>
            <a:ext cx="3200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CUBIC calibre soigneusement β (≈ 0.7) pour équilibrer la vitesse de convergence et la scalabilité.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1"/>
          <p:cNvSpPr/>
          <p:nvPr/>
        </p:nvSpPr>
        <p:spPr>
          <a:xfrm>
            <a:off x="0" y="0"/>
            <a:ext cx="164160" cy="776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2"/>
          <p:cNvSpPr/>
          <p:nvPr/>
        </p:nvSpPr>
        <p:spPr>
          <a:xfrm>
            <a:off x="292680" y="0"/>
            <a:ext cx="85035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Comportement de la fenêtre — Concave puis Convexe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3"/>
          <p:cNvSpPr/>
          <p:nvPr/>
        </p:nvSpPr>
        <p:spPr>
          <a:xfrm>
            <a:off x="292680" y="777240"/>
            <a:ext cx="8503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La courbe en S de CUBIC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4"/>
          <p:cNvSpPr/>
          <p:nvPr/>
        </p:nvSpPr>
        <p:spPr>
          <a:xfrm>
            <a:off x="0" y="4983480"/>
            <a:ext cx="9143640" cy="159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5"/>
          <p:cNvSpPr/>
          <p:nvPr/>
        </p:nvSpPr>
        <p:spPr>
          <a:xfrm>
            <a:off x="182880" y="4983480"/>
            <a:ext cx="877788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6"/>
          <p:cNvSpPr/>
          <p:nvPr/>
        </p:nvSpPr>
        <p:spPr>
          <a:xfrm>
            <a:off x="274320" y="1005840"/>
            <a:ext cx="4114440" cy="379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7"/>
          <p:cNvSpPr/>
          <p:nvPr/>
        </p:nvSpPr>
        <p:spPr>
          <a:xfrm>
            <a:off x="274320" y="1005840"/>
            <a:ext cx="4114440" cy="456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8"/>
          <p:cNvSpPr/>
          <p:nvPr/>
        </p:nvSpPr>
        <p:spPr>
          <a:xfrm>
            <a:off x="411480" y="1005840"/>
            <a:ext cx="3840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Phase CONCAVE  (→ W_max)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9"/>
          <p:cNvSpPr/>
          <p:nvPr/>
        </p:nvSpPr>
        <p:spPr>
          <a:xfrm>
            <a:off x="457200" y="1600200"/>
            <a:ext cx="3748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1. Une perte survient → CUBIC enregistre W_max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0"/>
          <p:cNvSpPr/>
          <p:nvPr/>
        </p:nvSpPr>
        <p:spPr>
          <a:xfrm>
            <a:off x="457200" y="2148840"/>
            <a:ext cx="3748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2. cwnd est réduit multiplicativement (β ≈ 0.7)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1"/>
          <p:cNvSpPr/>
          <p:nvPr/>
        </p:nvSpPr>
        <p:spPr>
          <a:xfrm>
            <a:off x="457200" y="2697480"/>
            <a:ext cx="3748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3. Croissance rapide d'abord, puis de plus en plus lente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2"/>
          <p:cNvSpPr/>
          <p:nvPr/>
        </p:nvSpPr>
        <p:spPr>
          <a:xfrm>
            <a:off x="457200" y="3246120"/>
            <a:ext cx="3748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4. La fenêtre s'approche prudemment de W_max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3"/>
          <p:cNvSpPr/>
          <p:nvPr/>
        </p:nvSpPr>
        <p:spPr>
          <a:xfrm>
            <a:off x="457200" y="3794760"/>
            <a:ext cx="3748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→ Comportement stable et respectueux des autres flux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4"/>
          <p:cNvSpPr/>
          <p:nvPr/>
        </p:nvSpPr>
        <p:spPr>
          <a:xfrm>
            <a:off x="4754880" y="1005840"/>
            <a:ext cx="4114440" cy="379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15"/>
          <p:cNvSpPr/>
          <p:nvPr/>
        </p:nvSpPr>
        <p:spPr>
          <a:xfrm>
            <a:off x="4754880" y="1005840"/>
            <a:ext cx="4114440" cy="456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6"/>
          <p:cNvSpPr/>
          <p:nvPr/>
        </p:nvSpPr>
        <p:spPr>
          <a:xfrm>
            <a:off x="4892040" y="1005840"/>
            <a:ext cx="3840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Phase CONVEXE  (au-delà de W_max)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7"/>
          <p:cNvSpPr/>
          <p:nvPr/>
        </p:nvSpPr>
        <p:spPr>
          <a:xfrm>
            <a:off x="4937760" y="1600200"/>
            <a:ext cx="3748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1. W_max atteint sans nouvelle perte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8"/>
          <p:cNvSpPr/>
          <p:nvPr/>
        </p:nvSpPr>
        <p:spPr>
          <a:xfrm>
            <a:off x="4937760" y="2148840"/>
            <a:ext cx="3748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2. CUBIC suppose qu'il y a plus de bande passante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9"/>
          <p:cNvSpPr/>
          <p:nvPr/>
        </p:nvSpPr>
        <p:spPr>
          <a:xfrm>
            <a:off x="4937760" y="2697480"/>
            <a:ext cx="3748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3. Croissance lente d'abord, puis accélération progressive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20"/>
          <p:cNvSpPr/>
          <p:nvPr/>
        </p:nvSpPr>
        <p:spPr>
          <a:xfrm>
            <a:off x="4937760" y="3246120"/>
            <a:ext cx="3748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4. La fenêtre explore un nouveau point de saturation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1"/>
          <p:cNvSpPr/>
          <p:nvPr/>
        </p:nvSpPr>
        <p:spPr>
          <a:xfrm>
            <a:off x="4937760" y="3794760"/>
            <a:ext cx="3748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B2A4A"/>
                </a:solidFill>
                <a:effectLst/>
                <a:uFillTx/>
                <a:latin typeface="Calibri"/>
              </a:rPr>
              <a:t>→ Utilisation maximale et stable du réseau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22"/>
          <p:cNvSpPr/>
          <p:nvPr/>
        </p:nvSpPr>
        <p:spPr>
          <a:xfrm>
            <a:off x="274320" y="4800600"/>
            <a:ext cx="8595000" cy="18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1"/>
          <p:cNvSpPr/>
          <p:nvPr/>
        </p:nvSpPr>
        <p:spPr>
          <a:xfrm>
            <a:off x="0" y="0"/>
            <a:ext cx="164160" cy="776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"/>
          <p:cNvSpPr/>
          <p:nvPr/>
        </p:nvSpPr>
        <p:spPr>
          <a:xfrm>
            <a:off x="292680" y="0"/>
            <a:ext cx="85035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RTT-Fairness — L'équité entre flux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3"/>
          <p:cNvSpPr/>
          <p:nvPr/>
        </p:nvSpPr>
        <p:spPr>
          <a:xfrm>
            <a:off x="292680" y="777240"/>
            <a:ext cx="8503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Une innovation majeure de CUBIC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4"/>
          <p:cNvSpPr/>
          <p:nvPr/>
        </p:nvSpPr>
        <p:spPr>
          <a:xfrm>
            <a:off x="0" y="4983480"/>
            <a:ext cx="9143640" cy="159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5"/>
          <p:cNvSpPr/>
          <p:nvPr/>
        </p:nvSpPr>
        <p:spPr>
          <a:xfrm>
            <a:off x="182880" y="4983480"/>
            <a:ext cx="877788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2" name="Table 0"/>
          <p:cNvGraphicFramePr/>
          <p:nvPr/>
        </p:nvGraphicFramePr>
        <p:xfrm>
          <a:off x="457200" y="1097280"/>
          <a:ext cx="8229240" cy="155412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1828800"/>
                <a:gridCol w="1828800"/>
              </a:tblGrid>
              <a:tr h="518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Algorithme</a:t>
                      </a:r>
                      <a:endParaRPr lang="fr-F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Base de croissance</a:t>
                      </a:r>
                      <a:endParaRPr lang="fr-F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RTT court</a:t>
                      </a:r>
                      <a:endParaRPr lang="fr-F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RTT long</a:t>
                      </a:r>
                      <a:endParaRPr lang="fr-F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518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</a:rPr>
                        <a:t>TCP Reno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Calibri"/>
                        </a:rPr>
                        <a:t>Nombre d'ACKs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0B981"/>
                          </a:solidFill>
                          <a:effectLst/>
                          <a:uFillTx/>
                          <a:latin typeface="Calibri"/>
                        </a:rPr>
                        <a:t>✓ Avantagé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F4444"/>
                          </a:solidFill>
                          <a:effectLst/>
                          <a:uFillTx/>
                          <a:latin typeface="Calibri"/>
                        </a:rPr>
                        <a:t>✗ Pénalisé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8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</a:rPr>
                        <a:t>CUBIC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Calibri"/>
                        </a:rPr>
                        <a:t>Temps réel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0B981"/>
                          </a:solidFill>
                          <a:effectLst/>
                          <a:uFillTx/>
                          <a:latin typeface="Calibri"/>
                        </a:rPr>
                        <a:t>= Neutre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0B981"/>
                          </a:solidFill>
                          <a:effectLst/>
                          <a:uFillTx/>
                          <a:latin typeface="Calibri"/>
                        </a:rPr>
                        <a:t>= Neutre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193" name="Shape 6"/>
          <p:cNvSpPr/>
          <p:nvPr/>
        </p:nvSpPr>
        <p:spPr>
          <a:xfrm>
            <a:off x="274320" y="2834640"/>
            <a:ext cx="8595000" cy="54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9720" rIns="90000" bIns="972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7"/>
          <p:cNvSpPr/>
          <p:nvPr/>
        </p:nvSpPr>
        <p:spPr>
          <a:xfrm>
            <a:off x="274320" y="2971800"/>
            <a:ext cx="8595000" cy="1645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8"/>
          <p:cNvSpPr/>
          <p:nvPr/>
        </p:nvSpPr>
        <p:spPr>
          <a:xfrm>
            <a:off x="457200" y="301752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A4A"/>
                </a:solidFill>
                <a:effectLst/>
                <a:uFillTx/>
                <a:latin typeface="Calibri"/>
              </a:rPr>
              <a:t>Comment CUBIC atteint cette équité ?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9"/>
          <p:cNvSpPr/>
          <p:nvPr/>
        </p:nvSpPr>
        <p:spPr>
          <a:xfrm>
            <a:off x="457200" y="3429000"/>
            <a:ext cx="82292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• </a:t>
            </a:r>
            <a:r>
              <a:rPr lang="en-US" sz="105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TCP Reno : la fenêtre augmente de 1 MSS par ACK reçu. Un flux avec RTT=10ms reçoit 20× plus d'ACKs qu'un flux avec RTT=200ms → 20× plus de croissance.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• 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CUBIC : la fenêtre est calculée en fonction du temps écoulé, pas des ACKs. Les deux flux évoluent au même rythme temporel → partage équitable.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0"/>
          <p:cNvSpPr/>
          <p:nvPr/>
        </p:nvSpPr>
        <p:spPr>
          <a:xfrm>
            <a:off x="274320" y="4645080"/>
            <a:ext cx="8595000" cy="5025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1"/>
          <p:cNvSpPr/>
          <p:nvPr/>
        </p:nvSpPr>
        <p:spPr>
          <a:xfrm>
            <a:off x="457200" y="464508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CUBIC ajuste sa fenêtre à intervalles réguliers basés sur le temps — indépendamment de la fréquence d'arrivée des ACKs.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"/>
          <p:cNvSpPr/>
          <p:nvPr/>
        </p:nvSpPr>
        <p:spPr>
          <a:xfrm>
            <a:off x="0" y="0"/>
            <a:ext cx="164160" cy="776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2"/>
          <p:cNvSpPr/>
          <p:nvPr/>
        </p:nvSpPr>
        <p:spPr>
          <a:xfrm>
            <a:off x="292680" y="0"/>
            <a:ext cx="85035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Déploiement mondial et support système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3"/>
          <p:cNvSpPr/>
          <p:nvPr/>
        </p:nvSpPr>
        <p:spPr>
          <a:xfrm>
            <a:off x="292680" y="777240"/>
            <a:ext cx="8503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CUBIC est partout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4"/>
          <p:cNvSpPr/>
          <p:nvPr/>
        </p:nvSpPr>
        <p:spPr>
          <a:xfrm>
            <a:off x="0" y="4983480"/>
            <a:ext cx="9143640" cy="159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5"/>
          <p:cNvSpPr/>
          <p:nvPr/>
        </p:nvSpPr>
        <p:spPr>
          <a:xfrm>
            <a:off x="182880" y="4983480"/>
            <a:ext cx="877788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6"/>
          <p:cNvSpPr/>
          <p:nvPr/>
        </p:nvSpPr>
        <p:spPr>
          <a:xfrm>
            <a:off x="274320" y="1097280"/>
            <a:ext cx="5303160" cy="566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7"/>
          <p:cNvSpPr/>
          <p:nvPr/>
        </p:nvSpPr>
        <p:spPr>
          <a:xfrm>
            <a:off x="274320" y="1097280"/>
            <a:ext cx="91080" cy="5666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8"/>
          <p:cNvSpPr/>
          <p:nvPr/>
        </p:nvSpPr>
        <p:spPr>
          <a:xfrm>
            <a:off x="457200" y="1188720"/>
            <a:ext cx="29257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Linux ≥ 2.6.19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9"/>
          <p:cNvSpPr/>
          <p:nvPr/>
        </p:nvSpPr>
        <p:spPr>
          <a:xfrm>
            <a:off x="3566160" y="1188720"/>
            <a:ext cx="1188360" cy="383760"/>
          </a:xfrm>
          <a:prstGeom prst="rect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0"/>
          <p:cNvSpPr/>
          <p:nvPr/>
        </p:nvSpPr>
        <p:spPr>
          <a:xfrm>
            <a:off x="3566160" y="1188720"/>
            <a:ext cx="1188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Par défaut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1"/>
          <p:cNvSpPr/>
          <p:nvPr/>
        </p:nvSpPr>
        <p:spPr>
          <a:xfrm>
            <a:off x="4937760" y="1188720"/>
            <a:ext cx="5482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2006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12"/>
          <p:cNvSpPr/>
          <p:nvPr/>
        </p:nvSpPr>
        <p:spPr>
          <a:xfrm>
            <a:off x="274320" y="1755720"/>
            <a:ext cx="5303160" cy="566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13"/>
          <p:cNvSpPr/>
          <p:nvPr/>
        </p:nvSpPr>
        <p:spPr>
          <a:xfrm>
            <a:off x="274320" y="1755720"/>
            <a:ext cx="91080" cy="566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14"/>
          <p:cNvSpPr/>
          <p:nvPr/>
        </p:nvSpPr>
        <p:spPr>
          <a:xfrm>
            <a:off x="457200" y="1847160"/>
            <a:ext cx="29257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Windows 10 (v1709+)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15"/>
          <p:cNvSpPr/>
          <p:nvPr/>
        </p:nvSpPr>
        <p:spPr>
          <a:xfrm>
            <a:off x="3566160" y="1847160"/>
            <a:ext cx="1188360" cy="383760"/>
          </a:xfrm>
          <a:prstGeom prst="rect">
            <a:avLst/>
          </a:prstGeom>
          <a:solidFill>
            <a:srgbClr val="1B2A4A">
              <a:alpha val="15000"/>
            </a:srgbClr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6"/>
          <p:cNvSpPr/>
          <p:nvPr/>
        </p:nvSpPr>
        <p:spPr>
          <a:xfrm>
            <a:off x="3566160" y="1847160"/>
            <a:ext cx="1188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B2A4A"/>
                </a:solidFill>
                <a:effectLst/>
                <a:uFillTx/>
                <a:latin typeface="Calibri"/>
              </a:rPr>
              <a:t>Intégré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7"/>
          <p:cNvSpPr/>
          <p:nvPr/>
        </p:nvSpPr>
        <p:spPr>
          <a:xfrm>
            <a:off x="4937760" y="1847160"/>
            <a:ext cx="5482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2017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18"/>
          <p:cNvSpPr/>
          <p:nvPr/>
        </p:nvSpPr>
        <p:spPr>
          <a:xfrm>
            <a:off x="274320" y="2414160"/>
            <a:ext cx="5303160" cy="566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19"/>
          <p:cNvSpPr/>
          <p:nvPr/>
        </p:nvSpPr>
        <p:spPr>
          <a:xfrm>
            <a:off x="274320" y="2414160"/>
            <a:ext cx="91080" cy="566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20"/>
          <p:cNvSpPr/>
          <p:nvPr/>
        </p:nvSpPr>
        <p:spPr>
          <a:xfrm>
            <a:off x="457200" y="2505600"/>
            <a:ext cx="29257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Windows Server 2019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21"/>
          <p:cNvSpPr/>
          <p:nvPr/>
        </p:nvSpPr>
        <p:spPr>
          <a:xfrm>
            <a:off x="3566160" y="2505600"/>
            <a:ext cx="1188360" cy="383760"/>
          </a:xfrm>
          <a:prstGeom prst="rect">
            <a:avLst/>
          </a:prstGeom>
          <a:solidFill>
            <a:srgbClr val="1B2A4A">
              <a:alpha val="15000"/>
            </a:srgbClr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22"/>
          <p:cNvSpPr/>
          <p:nvPr/>
        </p:nvSpPr>
        <p:spPr>
          <a:xfrm>
            <a:off x="3566160" y="2505600"/>
            <a:ext cx="1188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B2A4A"/>
                </a:solidFill>
                <a:effectLst/>
                <a:uFillTx/>
                <a:latin typeface="Calibri"/>
              </a:rPr>
              <a:t>Intégré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23"/>
          <p:cNvSpPr/>
          <p:nvPr/>
        </p:nvSpPr>
        <p:spPr>
          <a:xfrm>
            <a:off x="4937760" y="2505600"/>
            <a:ext cx="5482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2018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24"/>
          <p:cNvSpPr/>
          <p:nvPr/>
        </p:nvSpPr>
        <p:spPr>
          <a:xfrm>
            <a:off x="274320" y="3072240"/>
            <a:ext cx="5303160" cy="566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25"/>
          <p:cNvSpPr/>
          <p:nvPr/>
        </p:nvSpPr>
        <p:spPr>
          <a:xfrm>
            <a:off x="274320" y="3072240"/>
            <a:ext cx="91080" cy="5666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26"/>
          <p:cNvSpPr/>
          <p:nvPr/>
        </p:nvSpPr>
        <p:spPr>
          <a:xfrm>
            <a:off x="457200" y="3163680"/>
            <a:ext cx="29257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FreeBSD ≥ 14.x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27"/>
          <p:cNvSpPr/>
          <p:nvPr/>
        </p:nvSpPr>
        <p:spPr>
          <a:xfrm>
            <a:off x="3566160" y="3163680"/>
            <a:ext cx="1188360" cy="383760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28"/>
          <p:cNvSpPr/>
          <p:nvPr/>
        </p:nvSpPr>
        <p:spPr>
          <a:xfrm>
            <a:off x="3566160" y="3163680"/>
            <a:ext cx="1188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Par défaut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29"/>
          <p:cNvSpPr/>
          <p:nvPr/>
        </p:nvSpPr>
        <p:spPr>
          <a:xfrm>
            <a:off x="4937760" y="3163680"/>
            <a:ext cx="5482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2023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30"/>
          <p:cNvSpPr/>
          <p:nvPr/>
        </p:nvSpPr>
        <p:spPr>
          <a:xfrm>
            <a:off x="274320" y="3730680"/>
            <a:ext cx="5303160" cy="566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31"/>
          <p:cNvSpPr/>
          <p:nvPr/>
        </p:nvSpPr>
        <p:spPr>
          <a:xfrm>
            <a:off x="274320" y="3730680"/>
            <a:ext cx="91080" cy="5666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32"/>
          <p:cNvSpPr/>
          <p:nvPr/>
        </p:nvSpPr>
        <p:spPr>
          <a:xfrm>
            <a:off x="457200" y="3822120"/>
            <a:ext cx="29257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macOS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33"/>
          <p:cNvSpPr/>
          <p:nvPr/>
        </p:nvSpPr>
        <p:spPr>
          <a:xfrm>
            <a:off x="3566160" y="3822120"/>
            <a:ext cx="1188360" cy="383760"/>
          </a:xfrm>
          <a:prstGeom prst="rect">
            <a:avLst/>
          </a:prstGeom>
          <a:solidFill>
            <a:srgbClr val="64748B">
              <a:alpha val="40000"/>
            </a:srgbClr>
          </a:solidFill>
          <a:ln w="1270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34"/>
          <p:cNvSpPr/>
          <p:nvPr/>
        </p:nvSpPr>
        <p:spPr>
          <a:xfrm>
            <a:off x="3566160" y="3822120"/>
            <a:ext cx="1188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New Reno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35"/>
          <p:cNvSpPr/>
          <p:nvPr/>
        </p:nvSpPr>
        <p:spPr>
          <a:xfrm>
            <a:off x="4937760" y="3822120"/>
            <a:ext cx="5482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—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36"/>
          <p:cNvSpPr/>
          <p:nvPr/>
        </p:nvSpPr>
        <p:spPr>
          <a:xfrm>
            <a:off x="5806440" y="1051560"/>
            <a:ext cx="3062880" cy="26056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37"/>
          <p:cNvSpPr/>
          <p:nvPr/>
        </p:nvSpPr>
        <p:spPr>
          <a:xfrm>
            <a:off x="5943600" y="1143000"/>
            <a:ext cx="2834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E7B7"/>
                </a:solidFill>
                <a:effectLst/>
                <a:uFillTx/>
                <a:latin typeface="Consolas"/>
                <a:ea typeface="Consolas"/>
              </a:rPr>
              <a:t># Vérifier sur Linux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38"/>
          <p:cNvSpPr/>
          <p:nvPr/>
        </p:nvSpPr>
        <p:spPr>
          <a:xfrm>
            <a:off x="5943600" y="1463040"/>
            <a:ext cx="28342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$ sysctl net.ipv4.tcp_congestion_control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39"/>
          <p:cNvSpPr/>
          <p:nvPr/>
        </p:nvSpPr>
        <p:spPr>
          <a:xfrm>
            <a:off x="5943600" y="1710000"/>
            <a:ext cx="28342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5EEAD4"/>
                </a:solidFill>
                <a:effectLst/>
                <a:uFillTx/>
                <a:latin typeface="Consolas"/>
                <a:ea typeface="Consolas"/>
              </a:rPr>
              <a:t>→ cubic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40"/>
          <p:cNvSpPr/>
          <p:nvPr/>
        </p:nvSpPr>
        <p:spPr>
          <a:xfrm>
            <a:off x="5943600" y="1956960"/>
            <a:ext cx="28342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8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" name="Text 41"/>
          <p:cNvSpPr/>
          <p:nvPr/>
        </p:nvSpPr>
        <p:spPr>
          <a:xfrm>
            <a:off x="5943600" y="2203560"/>
            <a:ext cx="28342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$ sysctl net.ipv4.tcp_available\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42"/>
          <p:cNvSpPr/>
          <p:nvPr/>
        </p:nvSpPr>
        <p:spPr>
          <a:xfrm>
            <a:off x="5943600" y="2450520"/>
            <a:ext cx="28342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_congestion_control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43"/>
          <p:cNvSpPr/>
          <p:nvPr/>
        </p:nvSpPr>
        <p:spPr>
          <a:xfrm>
            <a:off x="5943600" y="2697480"/>
            <a:ext cx="28342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5EEAD4"/>
                </a:solidFill>
                <a:effectLst/>
                <a:uFillTx/>
                <a:latin typeface="Consolas"/>
                <a:ea typeface="Consolas"/>
              </a:rPr>
              <a:t>→ reno cubic bbr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44"/>
          <p:cNvSpPr/>
          <p:nvPr/>
        </p:nvSpPr>
        <p:spPr>
          <a:xfrm>
            <a:off x="5943600" y="2944440"/>
            <a:ext cx="28342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8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" name="Text 45"/>
          <p:cNvSpPr/>
          <p:nvPr/>
        </p:nvSpPr>
        <p:spPr>
          <a:xfrm>
            <a:off x="5943600" y="3191400"/>
            <a:ext cx="28342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6EE7B7"/>
                </a:solidFill>
                <a:effectLst/>
                <a:uFillTx/>
                <a:latin typeface="Consolas"/>
                <a:ea typeface="Consolas"/>
              </a:rPr>
              <a:t># Changer (temporaire)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46"/>
          <p:cNvSpPr/>
          <p:nvPr/>
        </p:nvSpPr>
        <p:spPr>
          <a:xfrm>
            <a:off x="5943600" y="3438000"/>
            <a:ext cx="283428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$ sysctl -w ...=bbr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1"/>
          <p:cNvSpPr/>
          <p:nvPr/>
        </p:nvSpPr>
        <p:spPr>
          <a:xfrm>
            <a:off x="0" y="0"/>
            <a:ext cx="164160" cy="776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2"/>
          <p:cNvSpPr/>
          <p:nvPr/>
        </p:nvSpPr>
        <p:spPr>
          <a:xfrm>
            <a:off x="292680" y="0"/>
            <a:ext cx="85035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CUBIC vs BBR — Quel est le meilleur ?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3"/>
          <p:cNvSpPr/>
          <p:nvPr/>
        </p:nvSpPr>
        <p:spPr>
          <a:xfrm>
            <a:off x="292680" y="777240"/>
            <a:ext cx="8503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Comparaison des deux algorithmes dominants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4"/>
          <p:cNvSpPr/>
          <p:nvPr/>
        </p:nvSpPr>
        <p:spPr>
          <a:xfrm>
            <a:off x="0" y="4983480"/>
            <a:ext cx="9143640" cy="159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5"/>
          <p:cNvSpPr/>
          <p:nvPr/>
        </p:nvSpPr>
        <p:spPr>
          <a:xfrm>
            <a:off x="182880" y="4983480"/>
            <a:ext cx="877788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2" name="Table 0"/>
          <p:cNvGraphicFramePr/>
          <p:nvPr/>
        </p:nvGraphicFramePr>
        <p:xfrm>
          <a:off x="274320" y="1005840"/>
          <a:ext cx="85950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292608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Critère</a:t>
                      </a:r>
                      <a:endParaRPr lang="fr-F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CUBIC</a:t>
                      </a:r>
                      <a:endParaRPr lang="fr-F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BBR</a:t>
                      </a:r>
                      <a:endParaRPr lang="fr-FR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Calibri"/>
                        </a:rPr>
                        <a:t>Base de détection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D9488"/>
                          </a:solidFill>
                          <a:effectLst/>
                          <a:uFillTx/>
                          <a:latin typeface="Calibri"/>
                        </a:rPr>
                        <a:t>Perte de paquets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</a:rPr>
                        <a:t>Modèle BW + RTT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Calibri"/>
                        </a:rPr>
                        <a:t>Réaction à la perte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D9488"/>
                          </a:solidFill>
                          <a:effectLst/>
                          <a:uFillTx/>
                          <a:latin typeface="Calibri"/>
                        </a:rPr>
                        <a:t>Réduction multiplicative cwnd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</a:rPr>
                        <a:t>Réestimation du débit optimal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Calibri"/>
                        </a:rPr>
                        <a:t>Réseau à pertes aléatoires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D9488"/>
                          </a:solidFill>
                          <a:effectLst/>
                          <a:uFillTx/>
                          <a:latin typeface="Calibri"/>
                        </a:rPr>
                        <a:t>Peut sous-performer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</a:rPr>
                        <a:t>Meilleure résistance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Calibri"/>
                        </a:rPr>
                        <a:t>Équité entre flux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D9488"/>
                          </a:solidFill>
                          <a:effectLst/>
                          <a:uFillTx/>
                          <a:latin typeface="Calibri"/>
                        </a:rPr>
                        <a:t>Bonne (RFC 8312)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</a:rPr>
                        <a:t>Contestée (BBRv1)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Calibri"/>
                        </a:rPr>
                        <a:t>Complexité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D9488"/>
                          </a:solidFill>
                          <a:effectLst/>
                          <a:uFillTx/>
                          <a:latin typeface="Calibri"/>
                        </a:rPr>
                        <a:t>Modérée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</a:rPr>
                        <a:t>Élevée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Calibri"/>
                        </a:rPr>
                        <a:t>Adoption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D9488"/>
                          </a:solidFill>
                          <a:effectLst/>
                          <a:uFillTx/>
                          <a:latin typeface="Calibri"/>
                        </a:rPr>
                        <a:t>Très large (défaut Linux)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</a:rPr>
                        <a:t>Croissante (YouTube, QUIC)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253" name="Shape 6"/>
          <p:cNvSpPr/>
          <p:nvPr/>
        </p:nvSpPr>
        <p:spPr>
          <a:xfrm>
            <a:off x="274320" y="4343400"/>
            <a:ext cx="8595000" cy="639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7"/>
          <p:cNvSpPr/>
          <p:nvPr/>
        </p:nvSpPr>
        <p:spPr>
          <a:xfrm>
            <a:off x="457200" y="434340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CUBIC = référence mondiale par sa stabilité prouvée et son déploiement massif. BBR = meilleur dans des contextes spécifiques (très haute perte, très haute latence).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0"/>
          <p:cNvSpPr/>
          <p:nvPr/>
        </p:nvSpPr>
        <p:spPr>
          <a:xfrm>
            <a:off x="6858000" y="-914400"/>
            <a:ext cx="4571640" cy="4571640"/>
          </a:xfrm>
          <a:prstGeom prst="ellipse">
            <a:avLst/>
          </a:prstGeom>
          <a:solidFill>
            <a:srgbClr val="0D9488">
              <a:alpha val="18000"/>
            </a:srgbClr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"/>
          <p:cNvSpPr/>
          <p:nvPr/>
        </p:nvSpPr>
        <p:spPr>
          <a:xfrm>
            <a:off x="457200" y="274320"/>
            <a:ext cx="5943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Conclusion</a:t>
            </a:r>
            <a:endParaRPr lang="fr-FR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2"/>
          <p:cNvSpPr/>
          <p:nvPr/>
        </p:nvSpPr>
        <p:spPr>
          <a:xfrm>
            <a:off x="457200" y="960120"/>
            <a:ext cx="2285640" cy="45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3"/>
          <p:cNvSpPr/>
          <p:nvPr/>
        </p:nvSpPr>
        <p:spPr>
          <a:xfrm>
            <a:off x="365760" y="1188720"/>
            <a:ext cx="4114440" cy="1508400"/>
          </a:xfrm>
          <a:prstGeom prst="rect">
            <a:avLst/>
          </a:prstGeom>
          <a:solidFill>
            <a:srgbClr val="1B3A5C"/>
          </a:solidFill>
          <a:ln w="12700">
            <a:solidFill>
              <a:srgbClr val="0D948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4"/>
          <p:cNvSpPr/>
          <p:nvPr/>
        </p:nvSpPr>
        <p:spPr>
          <a:xfrm>
            <a:off x="365760" y="1188720"/>
            <a:ext cx="109440" cy="1508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5"/>
          <p:cNvSpPr/>
          <p:nvPr/>
        </p:nvSpPr>
        <p:spPr>
          <a:xfrm>
            <a:off x="594360" y="1298520"/>
            <a:ext cx="37486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EEAD4"/>
                </a:solidFill>
                <a:effectLst/>
                <a:uFillTx/>
                <a:latin typeface="Calibri"/>
              </a:rPr>
              <a:t>Une seule modification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6"/>
          <p:cNvSpPr/>
          <p:nvPr/>
        </p:nvSpPr>
        <p:spPr>
          <a:xfrm>
            <a:off x="594360" y="1719000"/>
            <a:ext cx="3748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DB8CC"/>
                </a:solidFill>
                <a:effectLst/>
                <a:uFillTx/>
                <a:latin typeface="Calibri"/>
              </a:rPr>
              <a:t>CUBIC ne change que la fonction de croissance de cwnd — tout le reste de TCP reste intact.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7"/>
          <p:cNvSpPr/>
          <p:nvPr/>
        </p:nvSpPr>
        <p:spPr>
          <a:xfrm>
            <a:off x="4800600" y="1188720"/>
            <a:ext cx="4114440" cy="1508400"/>
          </a:xfrm>
          <a:prstGeom prst="rect">
            <a:avLst/>
          </a:prstGeom>
          <a:solidFill>
            <a:srgbClr val="1B3A5C"/>
          </a:solidFill>
          <a:ln w="12700">
            <a:solidFill>
              <a:srgbClr val="0D948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8"/>
          <p:cNvSpPr/>
          <p:nvPr/>
        </p:nvSpPr>
        <p:spPr>
          <a:xfrm>
            <a:off x="4800600" y="1188720"/>
            <a:ext cx="109440" cy="1508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9"/>
          <p:cNvSpPr/>
          <p:nvPr/>
        </p:nvSpPr>
        <p:spPr>
          <a:xfrm>
            <a:off x="5029200" y="1298520"/>
            <a:ext cx="37486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EEAD4"/>
                </a:solidFill>
                <a:effectLst/>
                <a:uFillTx/>
                <a:latin typeface="Calibri"/>
              </a:rPr>
              <a:t>Deux problèmes résolus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0"/>
          <p:cNvSpPr/>
          <p:nvPr/>
        </p:nvSpPr>
        <p:spPr>
          <a:xfrm>
            <a:off x="5029200" y="1719000"/>
            <a:ext cx="3748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DB8CC"/>
                </a:solidFill>
                <a:effectLst/>
                <a:uFillTx/>
                <a:latin typeface="Calibri"/>
              </a:rPr>
              <a:t>Sous-utilisation des LFN et iniquité entre flux de RTT différents, les deux grandes limites de Reno.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11"/>
          <p:cNvSpPr/>
          <p:nvPr/>
        </p:nvSpPr>
        <p:spPr>
          <a:xfrm>
            <a:off x="365760" y="2880360"/>
            <a:ext cx="4114440" cy="1508400"/>
          </a:xfrm>
          <a:prstGeom prst="rect">
            <a:avLst/>
          </a:prstGeom>
          <a:solidFill>
            <a:srgbClr val="1B3A5C"/>
          </a:solidFill>
          <a:ln w="12700">
            <a:solidFill>
              <a:srgbClr val="0D948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12"/>
          <p:cNvSpPr/>
          <p:nvPr/>
        </p:nvSpPr>
        <p:spPr>
          <a:xfrm>
            <a:off x="365760" y="2880360"/>
            <a:ext cx="109440" cy="1508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3"/>
          <p:cNvSpPr/>
          <p:nvPr/>
        </p:nvSpPr>
        <p:spPr>
          <a:xfrm>
            <a:off x="594360" y="2990160"/>
            <a:ext cx="37486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EEAD4"/>
                </a:solidFill>
                <a:effectLst/>
                <a:uFillTx/>
                <a:latin typeface="Calibri"/>
              </a:rPr>
              <a:t>Rétrocompatibilité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4"/>
          <p:cNvSpPr/>
          <p:nvPr/>
        </p:nvSpPr>
        <p:spPr>
          <a:xfrm>
            <a:off x="594360" y="3410640"/>
            <a:ext cx="3748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DB8CC"/>
                </a:solidFill>
                <a:effectLst/>
                <a:uFillTx/>
                <a:latin typeface="Calibri"/>
              </a:rPr>
              <a:t>Mode TCP-Friendly garantit la coexistence pacifique avec les flux Reno et New Reno classiques.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15"/>
          <p:cNvSpPr/>
          <p:nvPr/>
        </p:nvSpPr>
        <p:spPr>
          <a:xfrm>
            <a:off x="4800600" y="2880360"/>
            <a:ext cx="4114440" cy="1508400"/>
          </a:xfrm>
          <a:prstGeom prst="rect">
            <a:avLst/>
          </a:prstGeom>
          <a:solidFill>
            <a:srgbClr val="1B3A5C"/>
          </a:solidFill>
          <a:ln w="12700">
            <a:solidFill>
              <a:srgbClr val="0D948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16"/>
          <p:cNvSpPr/>
          <p:nvPr/>
        </p:nvSpPr>
        <p:spPr>
          <a:xfrm>
            <a:off x="4800600" y="2880360"/>
            <a:ext cx="109440" cy="1508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7"/>
          <p:cNvSpPr/>
          <p:nvPr/>
        </p:nvSpPr>
        <p:spPr>
          <a:xfrm>
            <a:off x="5029200" y="2990160"/>
            <a:ext cx="37486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EEAD4"/>
                </a:solidFill>
                <a:effectLst/>
                <a:uFillTx/>
                <a:latin typeface="Calibri"/>
              </a:rPr>
              <a:t>Stabilité prouvée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8"/>
          <p:cNvSpPr/>
          <p:nvPr/>
        </p:nvSpPr>
        <p:spPr>
          <a:xfrm>
            <a:off x="5029200" y="3410640"/>
            <a:ext cx="3748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9DB8CC"/>
                </a:solidFill>
                <a:effectLst/>
                <a:uFillTx/>
                <a:latin typeface="Calibri"/>
              </a:rPr>
              <a:t>Déployé sur des milliards de connexions depuis 2006, RFC 8312 standardisé en 2018.</a:t>
            </a:r>
            <a:endParaRPr lang="fr-F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9"/>
          <p:cNvSpPr/>
          <p:nvPr/>
        </p:nvSpPr>
        <p:spPr>
          <a:xfrm>
            <a:off x="914400" y="4572000"/>
            <a:ext cx="7314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i="1" u="none" strike="noStrike">
                <a:solidFill>
                  <a:srgbClr val="5EEAD4"/>
                </a:solidFill>
                <a:effectLst/>
                <a:uFillTx/>
                <a:latin typeface="Calibri"/>
              </a:rPr>
              <a:t>W(t) = C × (t − K)³ + W_max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1"/>
          <p:cNvSpPr/>
          <p:nvPr/>
        </p:nvSpPr>
        <p:spPr>
          <a:xfrm>
            <a:off x="0" y="0"/>
            <a:ext cx="164160" cy="776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"/>
          <p:cNvSpPr/>
          <p:nvPr/>
        </p:nvSpPr>
        <p:spPr>
          <a:xfrm>
            <a:off x="292680" y="0"/>
            <a:ext cx="85035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Sources et références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3"/>
          <p:cNvSpPr/>
          <p:nvPr/>
        </p:nvSpPr>
        <p:spPr>
          <a:xfrm>
            <a:off x="292680" y="777240"/>
            <a:ext cx="8503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Pour aller plus loin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4"/>
          <p:cNvSpPr/>
          <p:nvPr/>
        </p:nvSpPr>
        <p:spPr>
          <a:xfrm>
            <a:off x="0" y="4983480"/>
            <a:ext cx="9143640" cy="159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5"/>
          <p:cNvSpPr/>
          <p:nvPr/>
        </p:nvSpPr>
        <p:spPr>
          <a:xfrm>
            <a:off x="182880" y="4983480"/>
            <a:ext cx="877788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6"/>
          <p:cNvSpPr/>
          <p:nvPr/>
        </p:nvSpPr>
        <p:spPr>
          <a:xfrm>
            <a:off x="274320" y="1051560"/>
            <a:ext cx="8595000" cy="59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7"/>
          <p:cNvSpPr/>
          <p:nvPr/>
        </p:nvSpPr>
        <p:spPr>
          <a:xfrm>
            <a:off x="274320" y="1051560"/>
            <a:ext cx="91080" cy="594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8"/>
          <p:cNvSpPr/>
          <p:nvPr/>
        </p:nvSpPr>
        <p:spPr>
          <a:xfrm>
            <a:off x="457200" y="1051560"/>
            <a:ext cx="2285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RFC 8312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9"/>
          <p:cNvSpPr/>
          <p:nvPr/>
        </p:nvSpPr>
        <p:spPr>
          <a:xfrm>
            <a:off x="2834640" y="1051560"/>
            <a:ext cx="38401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CUBIC for Fast Long-Distance Networks — IETF, février 2018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10"/>
          <p:cNvSpPr/>
          <p:nvPr/>
        </p:nvSpPr>
        <p:spPr>
          <a:xfrm>
            <a:off x="6766560" y="1051560"/>
            <a:ext cx="2011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datatracker.ietf.org/doc/html/rfc8312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11"/>
          <p:cNvSpPr/>
          <p:nvPr/>
        </p:nvSpPr>
        <p:spPr>
          <a:xfrm>
            <a:off x="274320" y="1746360"/>
            <a:ext cx="8595000" cy="59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12"/>
          <p:cNvSpPr/>
          <p:nvPr/>
        </p:nvSpPr>
        <p:spPr>
          <a:xfrm>
            <a:off x="274320" y="1746360"/>
            <a:ext cx="91080" cy="594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13"/>
          <p:cNvSpPr/>
          <p:nvPr/>
        </p:nvSpPr>
        <p:spPr>
          <a:xfrm>
            <a:off x="457200" y="1746360"/>
            <a:ext cx="2285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Ha, Rhee, Xu (2008)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4"/>
          <p:cNvSpPr/>
          <p:nvPr/>
        </p:nvSpPr>
        <p:spPr>
          <a:xfrm>
            <a:off x="2834640" y="1746360"/>
            <a:ext cx="38401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CUBIC: A New TCP-Friendly High-Speed TCP Variant — ACM SIGOPS Operating Systems Review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5"/>
          <p:cNvSpPr/>
          <p:nvPr/>
        </p:nvSpPr>
        <p:spPr>
          <a:xfrm>
            <a:off x="6766560" y="1746360"/>
            <a:ext cx="2011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dl.acm.org/doi/10.1145/1400097.1400105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16"/>
          <p:cNvSpPr/>
          <p:nvPr/>
        </p:nvSpPr>
        <p:spPr>
          <a:xfrm>
            <a:off x="274320" y="2441520"/>
            <a:ext cx="8595000" cy="59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17"/>
          <p:cNvSpPr/>
          <p:nvPr/>
        </p:nvSpPr>
        <p:spPr>
          <a:xfrm>
            <a:off x="274320" y="2441520"/>
            <a:ext cx="91080" cy="594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8"/>
          <p:cNvSpPr/>
          <p:nvPr/>
        </p:nvSpPr>
        <p:spPr>
          <a:xfrm>
            <a:off x="457200" y="2441520"/>
            <a:ext cx="2285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Wikipedia CUBIC TCP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9"/>
          <p:cNvSpPr/>
          <p:nvPr/>
        </p:nvSpPr>
        <p:spPr>
          <a:xfrm>
            <a:off x="2834640" y="2441520"/>
            <a:ext cx="38401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CUBIC TCP — Wikipedia / Wikipédia (FR)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20"/>
          <p:cNvSpPr/>
          <p:nvPr/>
        </p:nvSpPr>
        <p:spPr>
          <a:xfrm>
            <a:off x="6766560" y="2441520"/>
            <a:ext cx="2011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fr.wikipedia.org/wiki/CUBIC_TCP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21"/>
          <p:cNvSpPr/>
          <p:nvPr/>
        </p:nvSpPr>
        <p:spPr>
          <a:xfrm>
            <a:off x="274320" y="3136320"/>
            <a:ext cx="8595000" cy="59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22"/>
          <p:cNvSpPr/>
          <p:nvPr/>
        </p:nvSpPr>
        <p:spPr>
          <a:xfrm>
            <a:off x="274320" y="3136320"/>
            <a:ext cx="91080" cy="594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23"/>
          <p:cNvSpPr/>
          <p:nvPr/>
        </p:nvSpPr>
        <p:spPr>
          <a:xfrm>
            <a:off x="457200" y="3136320"/>
            <a:ext cx="2285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Cours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24"/>
          <p:cNvSpPr/>
          <p:nvPr/>
        </p:nvSpPr>
        <p:spPr>
          <a:xfrm>
            <a:off x="2834640" y="3136320"/>
            <a:ext cx="38401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Boris Rose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25"/>
          <p:cNvSpPr/>
          <p:nvPr/>
        </p:nvSpPr>
        <p:spPr>
          <a:xfrm>
            <a:off x="6766560" y="3136320"/>
            <a:ext cx="2011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Cours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26"/>
          <p:cNvSpPr/>
          <p:nvPr/>
        </p:nvSpPr>
        <p:spPr>
          <a:xfrm>
            <a:off x="274320" y="3831480"/>
            <a:ext cx="8595000" cy="59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27"/>
          <p:cNvSpPr/>
          <p:nvPr/>
        </p:nvSpPr>
        <p:spPr>
          <a:xfrm>
            <a:off x="274320" y="3831480"/>
            <a:ext cx="91080" cy="594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28"/>
          <p:cNvSpPr/>
          <p:nvPr/>
        </p:nvSpPr>
        <p:spPr>
          <a:xfrm>
            <a:off x="457200" y="3831480"/>
            <a:ext cx="2285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9488"/>
                </a:solidFill>
                <a:effectLst/>
                <a:uFillTx/>
                <a:latin typeface="Calibri"/>
              </a:rPr>
              <a:t>TCP CC Systems Approach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29"/>
          <p:cNvSpPr/>
          <p:nvPr/>
        </p:nvSpPr>
        <p:spPr>
          <a:xfrm>
            <a:off x="2834640" y="3831480"/>
            <a:ext cx="38401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34155"/>
                </a:solidFill>
                <a:effectLst/>
                <a:uFillTx/>
                <a:latin typeface="Calibri"/>
              </a:rPr>
              <a:t>tcpcc.systemsapproach.org — Chapter 4: CUBIC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30"/>
          <p:cNvSpPr/>
          <p:nvPr/>
        </p:nvSpPr>
        <p:spPr>
          <a:xfrm>
            <a:off x="6766560" y="3831480"/>
            <a:ext cx="2011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tcpcc.systemsapproach.org/algorithm.html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32"/>
          <p:cNvSpPr/>
          <p:nvPr/>
        </p:nvSpPr>
        <p:spPr>
          <a:xfrm>
            <a:off x="274320" y="4572000"/>
            <a:ext cx="8595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2026-04-08T20:11:12Z</dcterms:created>
  <dc:creator>Boris Rose</dc:creator>
  <dc:description/>
  <dc:language>fr-FR</dc:language>
  <cp:lastModifiedBy/>
  <dcterms:modified xsi:type="dcterms:W3CDTF">2026-04-08T23:08:37Z</dcterms:modified>
  <cp:revision>2</cp:revision>
  <dc:subject>PptxGenJS Presentation</dc:subject>
  <dc:title>TCP CUBIC — RSX102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On-screen Show (16:9)</vt:lpwstr>
  </property>
  <property fmtid="{D5CDD505-2E9C-101B-9397-08002B2CF9AE}" pid="4" name="Slides">
    <vt:i4>12</vt:i4>
  </property>
</Properties>
</file>