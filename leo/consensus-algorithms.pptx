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640080"/>
            <a:ext cx="2926080" cy="292608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182880"/>
            <a:ext cx="2011680" cy="201168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4160520"/>
            <a:ext cx="41148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4366260"/>
            <a:ext cx="1371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4160520"/>
            <a:ext cx="411480" cy="411480"/>
          </a:xfrm>
          <a:prstGeom prst="rect">
            <a:avLst/>
          </a:prstGeom>
          <a:solidFill>
            <a:srgbClr val="F96167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4366260"/>
            <a:ext cx="1371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4160520"/>
            <a:ext cx="411480" cy="411480"/>
          </a:xfrm>
          <a:prstGeom prst="rect">
            <a:avLst/>
          </a:prstGeom>
          <a:solidFill>
            <a:srgbClr val="F96167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4366260"/>
            <a:ext cx="1371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4160520"/>
            <a:ext cx="411480" cy="411480"/>
          </a:xfrm>
          <a:prstGeom prst="rect">
            <a:avLst/>
          </a:prstGeom>
          <a:solidFill>
            <a:srgbClr val="F96167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28800"/>
            <a:ext cx="54864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SYSTÈMES DISTRIBUÉS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algorithmes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consensus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des machines se mettent d'accord, sans chef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 •  CNAM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BB8"/>
                </a:solidFill>
              </a:rPr>
              <a:t>Plusieurs machines, une seule vérité à maintenir.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651760"/>
            <a:ext cx="21945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651760"/>
            <a:ext cx="0" cy="14630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651760"/>
            <a:ext cx="2194560" cy="14630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2651760"/>
            <a:ext cx="-2194560" cy="14630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2651760"/>
            <a:ext cx="0" cy="14630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4114800"/>
            <a:ext cx="21945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286000"/>
            <a:ext cx="731520" cy="7315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395728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2286000"/>
            <a:ext cx="731520" cy="7315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395728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3749040"/>
            <a:ext cx="731520" cy="7315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858768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3749040"/>
            <a:ext cx="731520" cy="7315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3858768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N4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828800"/>
            <a:ext cx="411480" cy="411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4924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Pas de chef central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34924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</a:rPr>
              <a:t>Aucun nœud n'est maître par défaut.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788920"/>
            <a:ext cx="411480" cy="411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4924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Le réseau est imparfait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5349240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</a:rPr>
              <a:t>Messages perdus, en retard, dupliqués.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749040"/>
            <a:ext cx="411480" cy="4114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4924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Des machines tombent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349240" y="4087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</a:rPr>
              <a:t>Pannes, bugs, voire nœuds malveillants.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qu'un consensus 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109728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protocole qui permet à plusieurs machines de se mettre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d'accord sur une même valeur, malgré les pannes et les délais.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</a:rPr>
              <a:t>Les 3 propriétés clés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2651760" cy="132588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221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767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Accord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</a:rPr>
              <a:t>Tous les nœuds corrects finissent sur la même valeur.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3611880"/>
            <a:ext cx="2651760" cy="132588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374904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38221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23360" y="3767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Validité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4343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</a:rPr>
              <a:t>La valeur décidée a bien été proposée par un nœud.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3611880"/>
            <a:ext cx="2651760" cy="132588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74904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8221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3767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Terminaison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0" y="4343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</a:rPr>
              <a:t>Chaque nœud correct finit par décider.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grandes familles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BB8"/>
                </a:solidFill>
              </a:rPr>
              <a:t>Deux mondes : les datacenters fermés, et l'internet ouvert.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05740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Crash Fault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Tolerant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</a:rPr>
              <a:t>CFT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Tolère les pannes simples. Nœuds connus à l'avance.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9C74F"/>
                </a:solidFill>
              </a:rPr>
              <a:t>Paxos • Raft • Zab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37560" y="182880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3400" y="205740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2402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Byzantine Fault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Tolerant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7472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</a:rPr>
              <a:t>BFT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6616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Tolère aussi les nœuds qui mentent. Groupes fermés.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47472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9C74F"/>
                </a:solidFill>
              </a:rPr>
              <a:t>PBFT • Tendermint • HotStuff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17920" y="1828800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17920" y="1828800"/>
            <a:ext cx="27432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23760" y="205740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24028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5508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Consensus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blockchain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35508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</a:rPr>
              <a:t>Nakamoto &amp; co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4652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Environnement ouvert, sans permission, à l'échelle d'internet.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35508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9C74F"/>
                </a:solidFill>
              </a:rPr>
              <a:t>PoW • PoS • DPoS • PoH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126480" y="4983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96167"/>
                </a:solidFill>
              </a:rPr>
              <a:t>Notre focus 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qu'une blockchain 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BB8"/>
                </a:solidFill>
              </a:rPr>
              <a:t>Une chaîne de blocs liés par cryptographie.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463040" cy="1645920"/>
          </a:xfrm>
          <a:prstGeom prst="rect">
            <a:avLst/>
          </a:prstGeom>
          <a:solidFill>
            <a:srgbClr val="1E2761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11680"/>
            <a:ext cx="146304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 #0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Hash précédent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000000...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807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Transactions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03120" y="2834640"/>
            <a:ext cx="228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331720" y="2011680"/>
            <a:ext cx="1463040" cy="1645920"/>
          </a:xfrm>
          <a:prstGeom prst="rect">
            <a:avLst/>
          </a:prstGeom>
          <a:solidFill>
            <a:srgbClr val="1E2761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31720" y="2011680"/>
            <a:ext cx="146304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 #1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Hash précédent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423160" y="2587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a3f8d1...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23160" y="2807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Transactions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423160" y="2971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94760" y="2834640"/>
            <a:ext cx="228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23360" y="2011680"/>
            <a:ext cx="1463040" cy="1645920"/>
          </a:xfrm>
          <a:prstGeom prst="rect">
            <a:avLst/>
          </a:prstGeom>
          <a:solidFill>
            <a:srgbClr val="1E2761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2011680"/>
            <a:ext cx="146304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 #2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Hash précédent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114800" y="2587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a3f8d1...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0" y="2807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Transactions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114800" y="2971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0" y="2834640"/>
            <a:ext cx="228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715000" y="2011680"/>
            <a:ext cx="1463040" cy="1645920"/>
          </a:xfrm>
          <a:prstGeom prst="rect">
            <a:avLst/>
          </a:prstGeom>
          <a:solidFill>
            <a:srgbClr val="1E2761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2011680"/>
            <a:ext cx="146304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2039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 #3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6440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Hash précédent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806440" y="2587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a3f8d1...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06440" y="2807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ADCFC"/>
                </a:solidFill>
              </a:rPr>
              <a:t>Transactions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806440" y="2971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TX3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187952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Immuable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4389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</a:rPr>
              <a:t>Chaque bloc contient le hash du précédent. Modifier un ancien bloc casse toute la chaîne.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4187952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Distribuée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11880" y="4389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</a:rPr>
              <a:t>Chaque nœud garde une copie complète. Pas de serveur central à attaquer.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4187952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Transparente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92240" y="4389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</a:rPr>
              <a:t>Tout le monde peut vérifier l'historique des transactions depuis le début.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défi de la blockchain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BB8"/>
                </a:solidFill>
              </a:rPr>
              <a:t>Bitcoin, 2008  •  Satoshi Nakamoto change la donne.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310896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3108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</a:rPr>
              <a:t>LE PROBLÈME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L'attaque Sybil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</a:rPr>
              <a:t>Sur internet, n'importe qui peut créer des milliers de fausses identités pour truquer un vote à la majorité.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6167"/>
                </a:solidFill>
              </a:rPr>
              <a:t>→ Paxos et PBFT ne marchent plus.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F4A"/>
                </a:solidFill>
              </a:rPr>
              <a:t>Il faut rendre le vote coûteux, pour qu'un attaquant ne puisse pas en créer à l'infini.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3840480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828800"/>
            <a:ext cx="384048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</a:rPr>
              <a:t>L'IDÉE DE NAKAMOTO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Une ressource rare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Pour participer au consensus, il faut prouver qu'on engage une ressource coûteuse à falsifier.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7033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</a:rPr>
              <a:t>Du calcul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96167"/>
                </a:solidFill>
              </a:rPr>
              <a:t>    → Proof of Work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</a:rPr>
              <a:t>De l'argent immobilisé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96167"/>
                </a:solidFill>
              </a:rPr>
              <a:t>    → Proof of Stake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BB8"/>
                </a:solidFill>
              </a:rPr>
              <a:t>Bitcoin, Litecoin, Monero  •  La force brute comme vote.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</a:rPr>
              <a:t>Comment ça marche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F4A"/>
                </a:solidFill>
              </a:rPr>
              <a:t>Les mineurs rassemblent des transactions dans un bloc.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F4A"/>
                </a:solidFill>
              </a:rPr>
              <a:t>Ils cherchent un hash qui commence par N zéros.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F4A"/>
                </a:solidFill>
              </a:rPr>
              <a:t>Pour le trouver : des milliards d'essais par seconde.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F4A"/>
                </a:solidFill>
              </a:rPr>
              <a:t>Le premier qui trouve diffuse le bloc et gagne la récompense.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F4A"/>
                </a:solidFill>
              </a:rPr>
              <a:t>Les autres vérifient et construisent sur ce bloc.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</a:rPr>
              <a:t>La règle d'or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F4A"/>
                </a:solidFill>
              </a:rPr>
              <a:t>La chaîne la plus longue gagne. Tricher = refaire tout le travail.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3840480" cy="3337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828800"/>
            <a:ext cx="384048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</a:rPr>
              <a:t>BILAN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 Très sécurisé, simple conceptuellement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 Vraiment décentralisé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 Résistance prouvée depuis 2009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337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~150 TWh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84632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consommés par an par Bitcoin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BB8"/>
                </a:solidFill>
              </a:rPr>
              <a:t>(≈ consommation d'un pays comme l'Argentine)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–  Consommation énergétique énorme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–  ~7 transactions par seconde seulement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Stake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BB8"/>
                </a:solidFill>
              </a:rPr>
              <a:t>Ethereum (2022), Cardano, Solana  •  Miser au lieu de miner.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</a:rPr>
              <a:t>Comment ça marche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F4A"/>
                </a:solidFill>
              </a:rPr>
              <a:t>Pour être validateur, il faut verrouiller des tokens en dépôt.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F4A"/>
                </a:solidFill>
              </a:rPr>
              <a:t>Un validateur est tiré au sort pour proposer le prochain bloc.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F4A"/>
                </a:solidFill>
              </a:rPr>
              <a:t>Plus le dépôt est gros, plus la probabilité est élevée.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F4A"/>
                </a:solidFill>
              </a:rPr>
              <a:t>Les autres validateurs votent pour attester le bloc.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B2F4A"/>
                </a:solidFill>
              </a:rPr>
              <a:t>Tricher = perdre son dépôt (slashing).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</a:rPr>
              <a:t>L'idée centrale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F4A"/>
                </a:solidFill>
              </a:rPr>
              <a:t>La sécurité vient du capital économique à perdre, pas de l'électricité dépensée.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3840480" cy="3337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828800"/>
            <a:ext cx="384048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167"/>
                </a:solidFill>
              </a:rPr>
              <a:t>BILAN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 ~99,95 % d'énergie en moins que PoW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 Finalité plus rapide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 Slashing = dissuasion économique forte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337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 ETH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84632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le dépôt minimum sur Ethereum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BB8"/>
                </a:solidFill>
              </a:rPr>
              <a:t>(~ 1 million de validateurs actifs)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–  Risque de centralisation par les gros pools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</a:rPr>
              <a:t>–  « Les riches s'enrichissent »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autres mécanismes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BB8"/>
                </a:solidFill>
              </a:rPr>
              <a:t>La blockchain ne s'arrête pas à PoW et PoS.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114800" cy="141732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0" y="1984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B8"/>
                </a:solidFill>
              </a:rPr>
              <a:t>Delegated Proof of Stake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</a:rPr>
              <a:t>EOS, Tron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5328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</a:rPr>
              <a:t>Les détenteurs votent pour un petit nombre de délégués qui valident les blocs. Rapide mais plus centralisé.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14800" cy="141732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78308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1984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B8"/>
                </a:solidFill>
              </a:rPr>
              <a:t>Proof of Authority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</a:rPr>
              <a:t>VeChain, réseaux privés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5328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</a:rPr>
              <a:t>Un petit ensemble de validateurs identifiés et de confiance. Idéal pour les blockchains d'entreprise.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4114800" cy="141732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8328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10312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B8"/>
                </a:solidFill>
              </a:rPr>
              <a:t>Proof of History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</a:rPr>
              <a:t>Solana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1330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</a:rPr>
              <a:t>Une horloge cryptographique vérifiable qui prouve l'ordre des événements. Combinée au PoS : &gt;50 000 TPS.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383280"/>
            <a:ext cx="4114800" cy="141732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38328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Avalanche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5508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BB8"/>
                </a:solidFill>
              </a:rPr>
              <a:t>Consensus par sondage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</a:rPr>
              <a:t>Avalanche, AVAX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41330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</a:rPr>
              <a:t>Chaque nœud sonde un petit échantillon aléatoire de pairs, en boucle. Finalité en moins d'une seconde.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attaques sur une blockchain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BB8"/>
                </a:solidFill>
              </a:rPr>
              <a:t>Ce que le consensus cherche à empêcher.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114800" cy="141732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947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Attaque des 51 %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423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</a:rPr>
              <a:t>Contrôler plus de 50 % de la puissance (hashrate) ou du stake permet de réécrire l'historique.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96167"/>
                </a:solidFill>
              </a:rPr>
              <a:t>Ethereum Classic, 2020 : ~5,6 M$ volés.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1783080"/>
            <a:ext cx="4114800" cy="141732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78308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659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947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Double dépense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37760" y="2423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</a:rPr>
              <a:t>Dépenser les mêmes tokens deux fois en diffusant des transactions contradictoires.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37760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96167"/>
                </a:solidFill>
              </a:rPr>
              <a:t>Empêchée par la règle de la chaîne la plus longue.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" y="3383280"/>
            <a:ext cx="4114800" cy="141732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338328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661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547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Attaque Sybil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8580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</a:rPr>
              <a:t>Créer des milliers de fausses identités pour influencer le réseau.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85800" y="4507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96167"/>
                </a:solidFill>
              </a:rPr>
              <a:t>Neutralisée par le coût à participer (PoW/PoS).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09160" y="3383280"/>
            <a:ext cx="4114800" cy="141732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09160" y="3383280"/>
            <a:ext cx="73152" cy="1417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661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3547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Eclipse attack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937760" y="4023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</a:rPr>
              <a:t>Isoler un nœud en contrôlant toutes ses connexions pour lui mentir sur l'état du réseau.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937760" y="4507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96167"/>
                </a:solidFill>
              </a:rPr>
              <a:t>Documentée sur Bitcoin en 2015.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trilemme de la blockchain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BB8"/>
                </a:solidFill>
              </a:rPr>
              <a:t>Vitalik Buterin  •  On ne peut optimiser que 2 dimensions sur 3.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51760" y="2468880"/>
            <a:ext cx="-1280160" cy="201168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4480560"/>
            <a:ext cx="25603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4480560"/>
            <a:ext cx="-1280160" cy="-201168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2103120"/>
            <a:ext cx="731520" cy="7315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4114800"/>
            <a:ext cx="731520" cy="7315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4114800"/>
            <a:ext cx="731520" cy="73152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Sécurité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Décentralisation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4663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Scalabilité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</a:rPr>
              <a:t>Les 3 objectifs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2267712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Sécurité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2450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</a:rPr>
              <a:t>Résister aux attaques, même massives.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2862072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Décentralisation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3044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</a:rPr>
              <a:t>Beaucoup de nœuds indépendants, pas de contrôle central.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3456432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Scalabilité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3639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</a:rPr>
              <a:t>Beaucoup de transactions par seconde.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4114800"/>
            <a:ext cx="365760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</a:rPr>
              <a:t>Les compromis réels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4480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</a:rPr>
              <a:t>Bitcoin → sécurité + décentralisation, peu scalable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</a:rPr>
              <a:t>Solana → scalabilité + sécurité, moins décentralisé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</a:rPr>
              <a:t>EOS → scalabilité + sécurité, très centralisé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3840480"/>
            <a:ext cx="2743200" cy="2743200"/>
          </a:xfrm>
          <a:prstGeom prst="ellipse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1097280"/>
            <a:ext cx="2743200" cy="27432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8640"/>
            <a:ext cx="54864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retenir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2121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 consensus est fondamental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450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Dès qu'on a plusieurs machines, il faut s'entendre sur un état commun.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2990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 blockchain a changé les règles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3192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Pour l'internet ouvert, il a fallu inventer de nouveaux mécanismes : PoW, PoS, et les autres.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3858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Tout est trade-off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1879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Sécurité, décentralisation, scalabilité : on ne peut pas tout avoir en même temps.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 votre attention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algorithmes de consensus</dc:title>
  <dc:subject>PptxGenJS Presentation</dc:subject>
  <dc:creator>Leo</dc:creator>
  <cp:lastModifiedBy>Leo</cp:lastModifiedBy>
  <cp:revision>1</cp:revision>
  <dcterms:created xsi:type="dcterms:W3CDTF">2026-04-09T11:54:19Z</dcterms:created>
  <dcterms:modified xsi:type="dcterms:W3CDTF">2026-04-09T11:54:19Z</dcterms:modified>
</cp:coreProperties>
</file>