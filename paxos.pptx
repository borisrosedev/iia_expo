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déplacer la diapo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160179C-ECEB-453A-9A46-CA63DC466548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E623C2-D6DB-4AFA-95C1-06B196195C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ED81B9-7C0C-40F4-9424-484204F4AE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0DB8ABD-9168-4CDC-973C-F40C508732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96EBAB-2654-42B7-868E-CDA01A2C8E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0CDC3E-D53F-45EF-9585-2883E72852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E8FEFE-8A62-4FC0-8C95-5080120686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202952-463B-407F-8926-3281D128D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72C766-C1BE-42E4-832B-4C1EB78AA0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374352-5276-49D9-8472-5336A2F729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180623-1491-408B-B370-0D40131097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7B108F-28A2-4167-BC5F-12D17DFCCC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1F56A9-59FD-4713-8F3F-FABEB3193E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5349C1-45A6-4BB5-A1F8-922E819A86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8B0167-2356-4416-9E92-3B914B03A0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066690-70E6-40A9-B130-D02D6A974D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5769E8-4E9D-41DF-9306-A7C1E405E1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702CA7-D88E-4824-9E01-69DBDEF0F5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DAA35E-BD74-4967-B6C0-2AE5EB0E84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F014B2-6EEB-4FDA-8F78-45628E65B4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DB27C8-3496-4EFA-92DE-F44920ED0C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E945A3-AF0A-4F56-AED9-1D5A74C4C0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D193CE-BDFB-4369-99D3-C80E37491C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B2AFD0-968D-4FB8-8A5B-644534BFC7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C00BED-7AF0-40DC-B9DD-6CA2FA71BC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texte-titre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36800" cy="5143320"/>
          </a:xfrm>
          <a:prstGeom prst="rect">
            <a:avLst/>
          </a:prstGeom>
          <a:solidFill>
            <a:srgbClr val="219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37160" y="2240280"/>
            <a:ext cx="9006480" cy="543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1097280"/>
            <a:ext cx="84121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Paxos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2514600"/>
            <a:ext cx="8412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Algorithme de consensus distribué 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338328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320040" y="868680"/>
            <a:ext cx="850356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1.  Contexte &amp; problématique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2.  Historique et origine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3.  Qu'est-ce que le consensus distribué ?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4.  Les rôles dans Paxos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5.  Les phases de l'algorithme (Prepare → Accept → Learn)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6.  Propriétés garanties : Safety &amp; Liveness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7.  Variantes et déploiements réels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8.  Paxos vs Raft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9.  Exercice + Glossaire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1. Contexte &amp; problématique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problème du consensus distribué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274320" y="91440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Dans un système distribué…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274320" y="1280160"/>
            <a:ext cx="41144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Un serveur peut planter sans prévenir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Un message peut se perdre ou arriver en retard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Des nœuds peuvent recevoir des valeurs différentes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Le réseau peut se partitionner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5"/>
          <p:cNvSpPr/>
          <p:nvPr/>
        </p:nvSpPr>
        <p:spPr>
          <a:xfrm>
            <a:off x="4754880" y="914400"/>
            <a:ext cx="4114440" cy="347436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4846320" y="1005840"/>
            <a:ext cx="393156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Comment faire en sorte que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tous les nœuds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s'accordent sur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une même valeur ?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4846320" y="3657600"/>
            <a:ext cx="3931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→ Problème du consensus distribué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2. Historique &amp; origine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Historique de Paxos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1002960" y="2377440"/>
            <a:ext cx="7846920" cy="45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4"/>
          <p:cNvSpPr/>
          <p:nvPr/>
        </p:nvSpPr>
        <p:spPr>
          <a:xfrm>
            <a:off x="966960" y="2258640"/>
            <a:ext cx="237240" cy="23724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609120" y="18288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1989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380520" y="2596320"/>
            <a:ext cx="15541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Leslie Lamport conçoit Paxos — en cherchant à prouver qu'il était impossible !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2730600" y="2258640"/>
            <a:ext cx="237240" cy="23724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2300760" y="18288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1990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2144160" y="2632320"/>
            <a:ext cx="15541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Soumission du papier "The Part-Time Parliament" — rejeté, jugé trop complexe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4206240" y="2258640"/>
            <a:ext cx="237240" cy="23724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3776400" y="18288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1998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3655800" y="2632320"/>
            <a:ext cx="15541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Publication officielle dans un journal scientifique, 8 ans plus tard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5789880" y="2258640"/>
            <a:ext cx="237240" cy="23724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5360040" y="18288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2001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5203440" y="2560320"/>
            <a:ext cx="15541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Publication de "Paxos Made Simple" pour rendre l'algo accessible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>
            <a:off x="7625520" y="2258640"/>
            <a:ext cx="237240" cy="23724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7231680" y="18288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2006+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6921720" y="2659680"/>
            <a:ext cx="15541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Adoption par Google (Chubby, Spanner), Amazon, Microsoft, Apache…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3. Consensus distribué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Les trois propriétés du consensus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228600" y="914400"/>
            <a:ext cx="2742840" cy="347436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228600" y="1005840"/>
            <a:ext cx="2742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✅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228600" y="1691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Agreement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365760" y="2194560"/>
            <a:ext cx="24685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Tous les nœuds sains convergent vers la même valeur — pas de divergence possible.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200400" y="914400"/>
            <a:ext cx="2742840" cy="347436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3200400" y="1005840"/>
            <a:ext cx="2742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📋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3200400" y="1691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Validity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3337560" y="2194560"/>
            <a:ext cx="24685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 valeur choisie doit avoir été proposée par un nœud du système (pas inventée).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172200" y="914400"/>
            <a:ext cx="2742840" cy="347436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6172200" y="1005840"/>
            <a:ext cx="2742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6172200" y="1691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Liveness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6309360" y="2194560"/>
            <a:ext cx="24685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 suffisamment de nœuds fonctionnent, une décision finira toujours par être prise.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5"/>
          <p:cNvSpPr/>
          <p:nvPr/>
        </p:nvSpPr>
        <p:spPr>
          <a:xfrm>
            <a:off x="182880" y="4663440"/>
            <a:ext cx="8777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0A4AE"/>
                </a:solidFill>
                <a:effectLst/>
                <a:uFillTx/>
                <a:latin typeface="Calibri"/>
                <a:ea typeface="Calibri"/>
              </a:rPr>
              <a:t>Hypothèses : réseau asynchrone · pannes crash seulement · pas de messages corrompus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4. Les rôles dans Paxos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Proposer · Acceptor · Learner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201240" y="822960"/>
            <a:ext cx="2742840" cy="4568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201240" y="82296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292680" y="1325880"/>
            <a:ext cx="25599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Propose une valeur à faire accepter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Choisit un numéro de proposition unique 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Initie le protocole (phase Prepare)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6"/>
          <p:cNvSpPr/>
          <p:nvPr/>
        </p:nvSpPr>
        <p:spPr>
          <a:xfrm>
            <a:off x="3173040" y="822960"/>
            <a:ext cx="2742840" cy="456840"/>
          </a:xfrm>
          <a:prstGeom prst="rect">
            <a:avLst/>
          </a:prstGeom>
          <a:solidFill>
            <a:srgbClr val="1B5E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3173040" y="82296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Acceptor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3264480" y="1325880"/>
            <a:ext cx="25599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Vote sur les valeurs proposées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Maintient un état persistant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La majorité des acceptors garantit la cohérence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9"/>
          <p:cNvSpPr/>
          <p:nvPr/>
        </p:nvSpPr>
        <p:spPr>
          <a:xfrm>
            <a:off x="6144840" y="822960"/>
            <a:ext cx="2742840" cy="456840"/>
          </a:xfrm>
          <a:prstGeom prst="rect">
            <a:avLst/>
          </a:prstGeom>
          <a:solidFill>
            <a:srgbClr val="4A14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6144840" y="82296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Learner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6236280" y="1325880"/>
            <a:ext cx="25599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Apprend la valeur choisie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Ne participe pas aux votes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Peut être plusieurs (répliques)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2"/>
          <p:cNvSpPr/>
          <p:nvPr/>
        </p:nvSpPr>
        <p:spPr>
          <a:xfrm>
            <a:off x="274320" y="4389120"/>
            <a:ext cx="8595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⚠️ Un même nœud peut cumuler plusieurs rôles simultanément.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5. Les phases de l'algorithme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 1 — Prepare / Promise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228600" y="777240"/>
            <a:ext cx="4114440" cy="4111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228600" y="77724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1a. Proposer → Prepare(n)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228600" y="1234440"/>
            <a:ext cx="41144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Choisit n, numéro unique et supérieur à tout vu précédemment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Envoie Prepare(n) à une majorité d'acceptors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Objectif : obtenir des promesses avant de proposer une valeur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6"/>
          <p:cNvSpPr/>
          <p:nvPr/>
        </p:nvSpPr>
        <p:spPr>
          <a:xfrm>
            <a:off x="4800600" y="777240"/>
            <a:ext cx="4114440" cy="411120"/>
          </a:xfrm>
          <a:prstGeom prst="rect">
            <a:avLst/>
          </a:prstGeom>
          <a:solidFill>
            <a:srgbClr val="1B5E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7"/>
          <p:cNvSpPr/>
          <p:nvPr/>
        </p:nvSpPr>
        <p:spPr>
          <a:xfrm>
            <a:off x="4800600" y="77724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1b. Acceptor → Promise(n, val?)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8"/>
          <p:cNvSpPr/>
          <p:nvPr/>
        </p:nvSpPr>
        <p:spPr>
          <a:xfrm>
            <a:off x="4800600" y="1234440"/>
            <a:ext cx="41144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Si n est le plus grand numéro vu : promet de ne plus accepter de proposition &lt; n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Renvoie la valeur déjà acceptée (si elle existe)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Sinon : ignore la demande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9"/>
          <p:cNvSpPr/>
          <p:nvPr/>
        </p:nvSpPr>
        <p:spPr>
          <a:xfrm>
            <a:off x="228600" y="3429000"/>
            <a:ext cx="8686440" cy="13712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365760" y="3493080"/>
            <a:ext cx="841212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💡 Objectif de la phase 1 : s'assurer qu'aucune ancienne décision ne sera ignorée.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Si une valeur v a déjà été acceptée, le proposer doit s'y conformer.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 2 — Accept / Accepted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"/>
          <p:cNvSpPr/>
          <p:nvPr/>
        </p:nvSpPr>
        <p:spPr>
          <a:xfrm>
            <a:off x="228600" y="777240"/>
            <a:ext cx="4114440" cy="4111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228600" y="77724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2a. Proposer → Accept(n, v)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228600" y="1234440"/>
            <a:ext cx="41144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Si majorité de promesses reçues :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v = valeur déjà acceptée avec le plus grand n (si elle existe)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Sinon v = sa propre valeur proposée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Envoie Accept(n, v) à tous les acceptors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6"/>
          <p:cNvSpPr/>
          <p:nvPr/>
        </p:nvSpPr>
        <p:spPr>
          <a:xfrm>
            <a:off x="4800600" y="777240"/>
            <a:ext cx="4114440" cy="411120"/>
          </a:xfrm>
          <a:prstGeom prst="rect">
            <a:avLst/>
          </a:prstGeom>
          <a:solidFill>
            <a:srgbClr val="1B5E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4800600" y="77724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2b. Acceptor → Accepted / Refus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4800600" y="1234440"/>
            <a:ext cx="41144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Accepte si n est toujours le plus grand numéro promis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Notifie les learners de l'acceptation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Refuse et ignore si un Prepare(n') avec n' &gt; n est arrivé entre-temps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9"/>
          <p:cNvSpPr/>
          <p:nvPr/>
        </p:nvSpPr>
        <p:spPr>
          <a:xfrm>
            <a:off x="228600" y="3429000"/>
            <a:ext cx="8686440" cy="13712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0"/>
          <p:cNvSpPr/>
          <p:nvPr/>
        </p:nvSpPr>
        <p:spPr>
          <a:xfrm>
            <a:off x="365760" y="3493080"/>
            <a:ext cx="841212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💡 Le consensus est atteint quand une majorité d'acceptors accepte la même valeur v.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Les learners sont alors informés → phase Learn terminée.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Schéma de séquence — Vue globale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274320" y="777240"/>
            <a:ext cx="1279800" cy="3654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274320" y="7772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Proposer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5"/>
          <p:cNvSpPr/>
          <p:nvPr/>
        </p:nvSpPr>
        <p:spPr>
          <a:xfrm>
            <a:off x="9144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6"/>
          <p:cNvSpPr/>
          <p:nvPr/>
        </p:nvSpPr>
        <p:spPr>
          <a:xfrm>
            <a:off x="2103120" y="777240"/>
            <a:ext cx="1279800" cy="3654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7"/>
          <p:cNvSpPr/>
          <p:nvPr/>
        </p:nvSpPr>
        <p:spPr>
          <a:xfrm>
            <a:off x="2103120" y="7772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Acceptor 1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8"/>
          <p:cNvSpPr/>
          <p:nvPr/>
        </p:nvSpPr>
        <p:spPr>
          <a:xfrm>
            <a:off x="27432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9"/>
          <p:cNvSpPr/>
          <p:nvPr/>
        </p:nvSpPr>
        <p:spPr>
          <a:xfrm>
            <a:off x="3931920" y="777240"/>
            <a:ext cx="1279800" cy="3654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0"/>
          <p:cNvSpPr/>
          <p:nvPr/>
        </p:nvSpPr>
        <p:spPr>
          <a:xfrm>
            <a:off x="3931920" y="7772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Acceptor 2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1"/>
          <p:cNvSpPr/>
          <p:nvPr/>
        </p:nvSpPr>
        <p:spPr>
          <a:xfrm>
            <a:off x="45720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2"/>
          <p:cNvSpPr/>
          <p:nvPr/>
        </p:nvSpPr>
        <p:spPr>
          <a:xfrm>
            <a:off x="5760720" y="777240"/>
            <a:ext cx="1279800" cy="3654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3"/>
          <p:cNvSpPr/>
          <p:nvPr/>
        </p:nvSpPr>
        <p:spPr>
          <a:xfrm>
            <a:off x="5760720" y="7772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Acceptor 3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4"/>
          <p:cNvSpPr/>
          <p:nvPr/>
        </p:nvSpPr>
        <p:spPr>
          <a:xfrm>
            <a:off x="64008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5"/>
          <p:cNvSpPr/>
          <p:nvPr/>
        </p:nvSpPr>
        <p:spPr>
          <a:xfrm>
            <a:off x="7589520" y="777240"/>
            <a:ext cx="1279800" cy="3654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6"/>
          <p:cNvSpPr/>
          <p:nvPr/>
        </p:nvSpPr>
        <p:spPr>
          <a:xfrm>
            <a:off x="7589520" y="7772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Learner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7"/>
          <p:cNvSpPr/>
          <p:nvPr/>
        </p:nvSpPr>
        <p:spPr>
          <a:xfrm>
            <a:off x="82296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8"/>
          <p:cNvSpPr/>
          <p:nvPr/>
        </p:nvSpPr>
        <p:spPr>
          <a:xfrm>
            <a:off x="45720" y="123444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Phase 1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9"/>
          <p:cNvSpPr/>
          <p:nvPr/>
        </p:nvSpPr>
        <p:spPr>
          <a:xfrm>
            <a:off x="914400" y="1417320"/>
            <a:ext cx="1828800" cy="36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0"/>
          <p:cNvSpPr/>
          <p:nvPr/>
        </p:nvSpPr>
        <p:spPr>
          <a:xfrm>
            <a:off x="2606040" y="1343880"/>
            <a:ext cx="137160" cy="7344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1"/>
          <p:cNvSpPr/>
          <p:nvPr/>
        </p:nvSpPr>
        <p:spPr>
          <a:xfrm flipV="1">
            <a:off x="2606040" y="1417320"/>
            <a:ext cx="137160" cy="7308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2"/>
          <p:cNvSpPr/>
          <p:nvPr/>
        </p:nvSpPr>
        <p:spPr>
          <a:xfrm>
            <a:off x="1280160" y="116136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Prepare(n)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3"/>
          <p:cNvSpPr/>
          <p:nvPr/>
        </p:nvSpPr>
        <p:spPr>
          <a:xfrm>
            <a:off x="914400" y="1645920"/>
            <a:ext cx="3657600" cy="36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4"/>
          <p:cNvSpPr/>
          <p:nvPr/>
        </p:nvSpPr>
        <p:spPr>
          <a:xfrm>
            <a:off x="4434840" y="1572480"/>
            <a:ext cx="137160" cy="7344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5"/>
          <p:cNvSpPr/>
          <p:nvPr/>
        </p:nvSpPr>
        <p:spPr>
          <a:xfrm flipV="1">
            <a:off x="4434840" y="1645920"/>
            <a:ext cx="137160" cy="7308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6"/>
          <p:cNvSpPr/>
          <p:nvPr/>
        </p:nvSpPr>
        <p:spPr>
          <a:xfrm>
            <a:off x="2194560" y="138996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Prepare(n)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7"/>
          <p:cNvSpPr/>
          <p:nvPr/>
        </p:nvSpPr>
        <p:spPr>
          <a:xfrm>
            <a:off x="914400" y="1874520"/>
            <a:ext cx="5486400" cy="36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8"/>
          <p:cNvSpPr/>
          <p:nvPr/>
        </p:nvSpPr>
        <p:spPr>
          <a:xfrm>
            <a:off x="6263640" y="1801080"/>
            <a:ext cx="137160" cy="7344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29"/>
          <p:cNvSpPr/>
          <p:nvPr/>
        </p:nvSpPr>
        <p:spPr>
          <a:xfrm flipV="1">
            <a:off x="6263640" y="1874520"/>
            <a:ext cx="137160" cy="7308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0"/>
          <p:cNvSpPr/>
          <p:nvPr/>
        </p:nvSpPr>
        <p:spPr>
          <a:xfrm>
            <a:off x="3108960" y="161856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Prepare(n)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1"/>
          <p:cNvSpPr/>
          <p:nvPr/>
        </p:nvSpPr>
        <p:spPr>
          <a:xfrm>
            <a:off x="914400" y="2240280"/>
            <a:ext cx="1828800" cy="36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2"/>
          <p:cNvSpPr/>
          <p:nvPr/>
        </p:nvSpPr>
        <p:spPr>
          <a:xfrm flipH="1">
            <a:off x="914400" y="2166840"/>
            <a:ext cx="137160" cy="7344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33"/>
          <p:cNvSpPr/>
          <p:nvPr/>
        </p:nvSpPr>
        <p:spPr>
          <a:xfrm flipH="1" flipV="1">
            <a:off x="914400" y="2240280"/>
            <a:ext cx="137160" cy="7308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4"/>
          <p:cNvSpPr/>
          <p:nvPr/>
        </p:nvSpPr>
        <p:spPr>
          <a:xfrm>
            <a:off x="1280160" y="198432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5E20"/>
                </a:solidFill>
                <a:effectLst/>
                <a:uFillTx/>
                <a:latin typeface="Calibri"/>
                <a:ea typeface="Calibri"/>
              </a:rPr>
              <a:t>Promise(n)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5"/>
          <p:cNvSpPr/>
          <p:nvPr/>
        </p:nvSpPr>
        <p:spPr>
          <a:xfrm>
            <a:off x="914400" y="2468880"/>
            <a:ext cx="3657600" cy="36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6"/>
          <p:cNvSpPr/>
          <p:nvPr/>
        </p:nvSpPr>
        <p:spPr>
          <a:xfrm flipH="1">
            <a:off x="914400" y="2395440"/>
            <a:ext cx="137160" cy="7344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37"/>
          <p:cNvSpPr/>
          <p:nvPr/>
        </p:nvSpPr>
        <p:spPr>
          <a:xfrm flipH="1" flipV="1">
            <a:off x="914400" y="2468880"/>
            <a:ext cx="137160" cy="7308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8"/>
          <p:cNvSpPr/>
          <p:nvPr/>
        </p:nvSpPr>
        <p:spPr>
          <a:xfrm>
            <a:off x="2194560" y="221292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5E20"/>
                </a:solidFill>
                <a:effectLst/>
                <a:uFillTx/>
                <a:latin typeface="Calibri"/>
                <a:ea typeface="Calibri"/>
              </a:rPr>
              <a:t>Promise(n)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39"/>
          <p:cNvSpPr/>
          <p:nvPr/>
        </p:nvSpPr>
        <p:spPr>
          <a:xfrm>
            <a:off x="914400" y="2697480"/>
            <a:ext cx="5486400" cy="36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40"/>
          <p:cNvSpPr/>
          <p:nvPr/>
        </p:nvSpPr>
        <p:spPr>
          <a:xfrm flipH="1">
            <a:off x="914400" y="2624040"/>
            <a:ext cx="137160" cy="7344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1"/>
          <p:cNvSpPr/>
          <p:nvPr/>
        </p:nvSpPr>
        <p:spPr>
          <a:xfrm flipH="1" flipV="1">
            <a:off x="914400" y="2697480"/>
            <a:ext cx="137160" cy="7308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2"/>
          <p:cNvSpPr/>
          <p:nvPr/>
        </p:nvSpPr>
        <p:spPr>
          <a:xfrm>
            <a:off x="3108960" y="244152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5E20"/>
                </a:solidFill>
                <a:effectLst/>
                <a:uFillTx/>
                <a:latin typeface="Calibri"/>
                <a:ea typeface="Calibri"/>
              </a:rPr>
              <a:t>Promise(n)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3"/>
          <p:cNvSpPr/>
          <p:nvPr/>
        </p:nvSpPr>
        <p:spPr>
          <a:xfrm>
            <a:off x="45720" y="283464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4"/>
          <p:cNvSpPr/>
          <p:nvPr/>
        </p:nvSpPr>
        <p:spPr>
          <a:xfrm>
            <a:off x="914400" y="3063240"/>
            <a:ext cx="1828800" cy="36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5"/>
          <p:cNvSpPr/>
          <p:nvPr/>
        </p:nvSpPr>
        <p:spPr>
          <a:xfrm>
            <a:off x="2606040" y="2989800"/>
            <a:ext cx="137160" cy="7344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6"/>
          <p:cNvSpPr/>
          <p:nvPr/>
        </p:nvSpPr>
        <p:spPr>
          <a:xfrm flipV="1">
            <a:off x="2606040" y="3063240"/>
            <a:ext cx="137160" cy="7308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47"/>
          <p:cNvSpPr/>
          <p:nvPr/>
        </p:nvSpPr>
        <p:spPr>
          <a:xfrm>
            <a:off x="1280160" y="280728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Accept(n,v)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48"/>
          <p:cNvSpPr/>
          <p:nvPr/>
        </p:nvSpPr>
        <p:spPr>
          <a:xfrm>
            <a:off x="914400" y="3291840"/>
            <a:ext cx="3657600" cy="36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49"/>
          <p:cNvSpPr/>
          <p:nvPr/>
        </p:nvSpPr>
        <p:spPr>
          <a:xfrm>
            <a:off x="4434840" y="3218400"/>
            <a:ext cx="137160" cy="7344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0"/>
          <p:cNvSpPr/>
          <p:nvPr/>
        </p:nvSpPr>
        <p:spPr>
          <a:xfrm flipV="1">
            <a:off x="4434840" y="3291840"/>
            <a:ext cx="137160" cy="7308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1"/>
          <p:cNvSpPr/>
          <p:nvPr/>
        </p:nvSpPr>
        <p:spPr>
          <a:xfrm>
            <a:off x="2194560" y="303588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Accept(n,v)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52"/>
          <p:cNvSpPr/>
          <p:nvPr/>
        </p:nvSpPr>
        <p:spPr>
          <a:xfrm>
            <a:off x="914400" y="3520440"/>
            <a:ext cx="5486400" cy="36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53"/>
          <p:cNvSpPr/>
          <p:nvPr/>
        </p:nvSpPr>
        <p:spPr>
          <a:xfrm>
            <a:off x="6263640" y="3447000"/>
            <a:ext cx="137160" cy="7344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54"/>
          <p:cNvSpPr/>
          <p:nvPr/>
        </p:nvSpPr>
        <p:spPr>
          <a:xfrm flipV="1">
            <a:off x="6263640" y="3520440"/>
            <a:ext cx="137160" cy="7308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55"/>
          <p:cNvSpPr/>
          <p:nvPr/>
        </p:nvSpPr>
        <p:spPr>
          <a:xfrm>
            <a:off x="3108960" y="326448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Accept(n,v)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56"/>
          <p:cNvSpPr/>
          <p:nvPr/>
        </p:nvSpPr>
        <p:spPr>
          <a:xfrm>
            <a:off x="45720" y="3840480"/>
            <a:ext cx="63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Learn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7"/>
          <p:cNvSpPr/>
          <p:nvPr/>
        </p:nvSpPr>
        <p:spPr>
          <a:xfrm>
            <a:off x="2743200" y="4023360"/>
            <a:ext cx="5486400" cy="36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8"/>
          <p:cNvSpPr/>
          <p:nvPr/>
        </p:nvSpPr>
        <p:spPr>
          <a:xfrm>
            <a:off x="8092440" y="3949920"/>
            <a:ext cx="137160" cy="7344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59"/>
          <p:cNvSpPr/>
          <p:nvPr/>
        </p:nvSpPr>
        <p:spPr>
          <a:xfrm flipV="1">
            <a:off x="8092440" y="4023360"/>
            <a:ext cx="137160" cy="7308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0"/>
          <p:cNvSpPr/>
          <p:nvPr/>
        </p:nvSpPr>
        <p:spPr>
          <a:xfrm>
            <a:off x="4937760" y="376740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Accepted(v)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61"/>
          <p:cNvSpPr/>
          <p:nvPr/>
        </p:nvSpPr>
        <p:spPr>
          <a:xfrm>
            <a:off x="4572000" y="4206240"/>
            <a:ext cx="3657600" cy="36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62"/>
          <p:cNvSpPr/>
          <p:nvPr/>
        </p:nvSpPr>
        <p:spPr>
          <a:xfrm>
            <a:off x="8092440" y="4132800"/>
            <a:ext cx="137160" cy="7344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440" rIns="900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63"/>
          <p:cNvSpPr/>
          <p:nvPr/>
        </p:nvSpPr>
        <p:spPr>
          <a:xfrm flipV="1">
            <a:off x="8092440" y="4206240"/>
            <a:ext cx="137160" cy="7308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64"/>
          <p:cNvSpPr/>
          <p:nvPr/>
        </p:nvSpPr>
        <p:spPr>
          <a:xfrm>
            <a:off x="5852160" y="395028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Accepted(v)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6. Safety &amp; Liveness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Propriétés garanties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274320" y="822960"/>
            <a:ext cx="3840120" cy="27428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274320" y="868680"/>
            <a:ext cx="3840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🔒 Safety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411480" y="1463040"/>
            <a:ext cx="35658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Une seule valeur choisie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 valeur doit avoir été proposée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Une valeur apprise est définitive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6"/>
          <p:cNvSpPr/>
          <p:nvPr/>
        </p:nvSpPr>
        <p:spPr>
          <a:xfrm>
            <a:off x="5029200" y="822960"/>
            <a:ext cx="3840120" cy="27428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5029200" y="868680"/>
            <a:ext cx="3840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⚡ Liveness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5166360" y="1463040"/>
            <a:ext cx="35658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 majorité de nœuds actifs → décision garantie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Tolérance : N/2 pannes simultanées max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Livelock si 2 proposers en compétition → nécessite un leader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9"/>
          <p:cNvSpPr/>
          <p:nvPr/>
        </p:nvSpPr>
        <p:spPr>
          <a:xfrm>
            <a:off x="274320" y="3794760"/>
            <a:ext cx="8595000" cy="1096920"/>
          </a:xfrm>
          <a:prstGeom prst="rect">
            <a:avLst/>
          </a:prstGeom>
          <a:solidFill>
            <a:srgbClr val="B7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0"/>
          <p:cNvSpPr/>
          <p:nvPr/>
        </p:nvSpPr>
        <p:spPr>
          <a:xfrm>
            <a:off x="411480" y="3858840"/>
            <a:ext cx="83206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⚠️ LIVELOCK : si deux proposers incrémentent n indéfiniment, aucun ne passe.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Solution → Multi-Paxos : élection d'un leader unique.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7. Variantes &amp; déploiements réels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Variantes de Paxos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"/>
          <p:cNvSpPr/>
          <p:nvPr/>
        </p:nvSpPr>
        <p:spPr>
          <a:xfrm>
            <a:off x="228600" y="914400"/>
            <a:ext cx="4205880" cy="11426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228600" y="914400"/>
            <a:ext cx="72720" cy="11426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411480" y="98748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Classic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411480" y="1371600"/>
            <a:ext cx="3931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Version originale : Prepare → Promise → Accept → Learn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7"/>
          <p:cNvSpPr/>
          <p:nvPr/>
        </p:nvSpPr>
        <p:spPr>
          <a:xfrm>
            <a:off x="4663440" y="914400"/>
            <a:ext cx="4205880" cy="11426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8"/>
          <p:cNvSpPr/>
          <p:nvPr/>
        </p:nvSpPr>
        <p:spPr>
          <a:xfrm>
            <a:off x="4663440" y="914400"/>
            <a:ext cx="72720" cy="11426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9"/>
          <p:cNvSpPr/>
          <p:nvPr/>
        </p:nvSpPr>
        <p:spPr>
          <a:xfrm>
            <a:off x="4846320" y="98748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Multi-Paxos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0"/>
          <p:cNvSpPr/>
          <p:nvPr/>
        </p:nvSpPr>
        <p:spPr>
          <a:xfrm>
            <a:off x="4846320" y="1371600"/>
            <a:ext cx="3931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Leader élu, phase Prepare supprimée pour les instances successives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1"/>
          <p:cNvSpPr/>
          <p:nvPr/>
        </p:nvSpPr>
        <p:spPr>
          <a:xfrm>
            <a:off x="228600" y="2194560"/>
            <a:ext cx="4205880" cy="11426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2"/>
          <p:cNvSpPr/>
          <p:nvPr/>
        </p:nvSpPr>
        <p:spPr>
          <a:xfrm>
            <a:off x="228600" y="2194560"/>
            <a:ext cx="72720" cy="11426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3"/>
          <p:cNvSpPr/>
          <p:nvPr/>
        </p:nvSpPr>
        <p:spPr>
          <a:xfrm>
            <a:off x="411480" y="226764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Fast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4"/>
          <p:cNvSpPr/>
          <p:nvPr/>
        </p:nvSpPr>
        <p:spPr>
          <a:xfrm>
            <a:off x="411480" y="2651760"/>
            <a:ext cx="3931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Proposers contactent directement les acceptors, moins de tours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5"/>
          <p:cNvSpPr/>
          <p:nvPr/>
        </p:nvSpPr>
        <p:spPr>
          <a:xfrm>
            <a:off x="4663440" y="2194560"/>
            <a:ext cx="4205880" cy="11426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6"/>
          <p:cNvSpPr/>
          <p:nvPr/>
        </p:nvSpPr>
        <p:spPr>
          <a:xfrm>
            <a:off x="4663440" y="2194560"/>
            <a:ext cx="72720" cy="11426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7"/>
          <p:cNvSpPr/>
          <p:nvPr/>
        </p:nvSpPr>
        <p:spPr>
          <a:xfrm>
            <a:off x="4846320" y="226764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Byzantine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8"/>
          <p:cNvSpPr/>
          <p:nvPr/>
        </p:nvSpPr>
        <p:spPr>
          <a:xfrm>
            <a:off x="4846320" y="2651760"/>
            <a:ext cx="3931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Supporte les nœuds qui mentent (fautes byzantines)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9"/>
          <p:cNvSpPr/>
          <p:nvPr/>
        </p:nvSpPr>
        <p:spPr>
          <a:xfrm>
            <a:off x="228600" y="3474720"/>
            <a:ext cx="4205880" cy="11426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0"/>
          <p:cNvSpPr/>
          <p:nvPr/>
        </p:nvSpPr>
        <p:spPr>
          <a:xfrm>
            <a:off x="228600" y="3474720"/>
            <a:ext cx="72720" cy="11426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1"/>
          <p:cNvSpPr/>
          <p:nvPr/>
        </p:nvSpPr>
        <p:spPr>
          <a:xfrm>
            <a:off x="411480" y="354780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Egalitarian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2"/>
          <p:cNvSpPr/>
          <p:nvPr/>
        </p:nvSpPr>
        <p:spPr>
          <a:xfrm>
            <a:off x="411480" y="3931920"/>
            <a:ext cx="3931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Tout nœud peut proposer sans leader central désigné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3"/>
          <p:cNvSpPr/>
          <p:nvPr/>
        </p:nvSpPr>
        <p:spPr>
          <a:xfrm>
            <a:off x="4663440" y="3474720"/>
            <a:ext cx="4205880" cy="114264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4"/>
          <p:cNvSpPr/>
          <p:nvPr/>
        </p:nvSpPr>
        <p:spPr>
          <a:xfrm>
            <a:off x="4663440" y="3474720"/>
            <a:ext cx="72720" cy="11426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5"/>
          <p:cNvSpPr/>
          <p:nvPr/>
        </p:nvSpPr>
        <p:spPr>
          <a:xfrm>
            <a:off x="4846320" y="354780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Cheap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6"/>
          <p:cNvSpPr/>
          <p:nvPr/>
        </p:nvSpPr>
        <p:spPr>
          <a:xfrm>
            <a:off x="4846320" y="3931920"/>
            <a:ext cx="3931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Réduit le nombre de nœuds actifs nécessaires à la majorité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Paxos dans la vraie vie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0"/>
          <p:cNvGraphicFramePr/>
          <p:nvPr/>
        </p:nvGraphicFramePr>
        <p:xfrm>
          <a:off x="274320" y="822960"/>
          <a:ext cx="8595000" cy="4114440"/>
        </p:xfrm>
        <a:graphic>
          <a:graphicData uri="http://schemas.openxmlformats.org/drawingml/2006/table">
            <a:tbl>
              <a:tblPr/>
              <a:tblGrid>
                <a:gridCol w="3200400"/>
                <a:gridCol w="5394960"/>
              </a:tblGrid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Système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Usage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Google Chubby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Verrouillage distribué (Bigtable, GFS)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Google Spanner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Base SQL distribuée mondialement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Amazon DynamoDB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Élection de leader et consensus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Amazon ECS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Vue cohérente de l'état du cluster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Apache Cassandra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Lightweight Transactions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Microsoft Autopilot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Gestion des clusters Bing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8. Paxos vs Raft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Paxos vs Raft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1" name="Table 0"/>
          <p:cNvGraphicFramePr/>
          <p:nvPr/>
        </p:nvGraphicFramePr>
        <p:xfrm>
          <a:off x="274320" y="822960"/>
          <a:ext cx="8595000" cy="3748680"/>
        </p:xfrm>
        <a:graphic>
          <a:graphicData uri="http://schemas.openxmlformats.org/drawingml/2006/table">
            <a:tbl>
              <a:tblPr/>
              <a:tblGrid>
                <a:gridCol w="2560320"/>
                <a:gridCol w="3017520"/>
                <a:gridCol w="3017520"/>
              </a:tblGrid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Paxos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Raft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Compréhensibilité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Difficile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Facile (conçu pour ça)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Leader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Optionnel (Multi-Paxos)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Obligatoire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Élection de leader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 intégrée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Intégrée (timeouts aléatoires)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Flexibilité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Haute (nombreuses variantes)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Moins flexible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Cas d'usage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Systèmes critiques, recherche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Systèmes modernes (etcd, Consul)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  <p:sp>
        <p:nvSpPr>
          <p:cNvPr id="232" name="Text 3"/>
          <p:cNvSpPr/>
          <p:nvPr/>
        </p:nvSpPr>
        <p:spPr>
          <a:xfrm>
            <a:off x="274320" y="466344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0A4AE"/>
                </a:solidFill>
                <a:effectLst/>
                <a:uFillTx/>
                <a:latin typeface="Calibri"/>
                <a:ea typeface="Calibri"/>
              </a:rPr>
              <a:t>Raft (2013) : "In Search of an Understandable Consensus Algorithm" — Diego Ongaro &amp; John Ousterhout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0" y="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"/>
          <p:cNvSpPr/>
          <p:nvPr/>
        </p:nvSpPr>
        <p:spPr>
          <a:xfrm>
            <a:off x="0" y="5052240"/>
            <a:ext cx="9143640" cy="910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9. Exercice &amp; Glossaire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274320" y="45720"/>
            <a:ext cx="85950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Exercice — Paxos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2"/>
          <p:cNvSpPr/>
          <p:nvPr/>
        </p:nvSpPr>
        <p:spPr>
          <a:xfrm>
            <a:off x="0" y="685800"/>
            <a:ext cx="72720" cy="445752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"/>
          <p:cNvSpPr/>
          <p:nvPr/>
        </p:nvSpPr>
        <p:spPr>
          <a:xfrm>
            <a:off x="274320" y="9144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Q1. Quel rôle vote sur les valeurs proposées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4"/>
          <p:cNvSpPr/>
          <p:nvPr/>
        </p:nvSpPr>
        <p:spPr>
          <a:xfrm>
            <a:off x="5943600" y="914400"/>
            <a:ext cx="2925720" cy="365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"/>
          <p:cNvSpPr/>
          <p:nvPr/>
        </p:nvSpPr>
        <p:spPr>
          <a:xfrm>
            <a:off x="5989320" y="91440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Acceptor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6"/>
          <p:cNvSpPr/>
          <p:nvPr/>
        </p:nvSpPr>
        <p:spPr>
          <a:xfrm>
            <a:off x="274320" y="173736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Q2. Combien d'acceptors doivent accepter pour atteindre le consensus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7"/>
          <p:cNvSpPr/>
          <p:nvPr/>
        </p:nvSpPr>
        <p:spPr>
          <a:xfrm>
            <a:off x="5943600" y="1737360"/>
            <a:ext cx="2925720" cy="365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8"/>
          <p:cNvSpPr/>
          <p:nvPr/>
        </p:nvSpPr>
        <p:spPr>
          <a:xfrm>
            <a:off x="5989320" y="173736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Une majorité (⌊N/2⌋ + 1)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9"/>
          <p:cNvSpPr/>
          <p:nvPr/>
        </p:nvSpPr>
        <p:spPr>
          <a:xfrm>
            <a:off x="274320" y="25603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Q3. Qu'est-ce qu'un livelock dans Paxos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0"/>
          <p:cNvSpPr/>
          <p:nvPr/>
        </p:nvSpPr>
        <p:spPr>
          <a:xfrm>
            <a:off x="5943600" y="2488320"/>
            <a:ext cx="2925720" cy="49968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1"/>
          <p:cNvSpPr/>
          <p:nvPr/>
        </p:nvSpPr>
        <p:spPr>
          <a:xfrm>
            <a:off x="5989320" y="256032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Deux proposers se bloquent mutuellement indéfiniment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2"/>
          <p:cNvSpPr/>
          <p:nvPr/>
        </p:nvSpPr>
        <p:spPr>
          <a:xfrm>
            <a:off x="274320" y="338328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Q4. Quelle variante élit un leader pour éviter la phase Prepare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3"/>
          <p:cNvSpPr/>
          <p:nvPr/>
        </p:nvSpPr>
        <p:spPr>
          <a:xfrm>
            <a:off x="5943600" y="3383280"/>
            <a:ext cx="2925720" cy="365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4"/>
          <p:cNvSpPr/>
          <p:nvPr/>
        </p:nvSpPr>
        <p:spPr>
          <a:xfrm>
            <a:off x="5989320" y="338328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Multi-Paxos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5"/>
          <p:cNvSpPr/>
          <p:nvPr/>
        </p:nvSpPr>
        <p:spPr>
          <a:xfrm>
            <a:off x="274320" y="420624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Q5. Quel système Google utilise Paxos pour le verrouillage distribué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6"/>
          <p:cNvSpPr/>
          <p:nvPr/>
        </p:nvSpPr>
        <p:spPr>
          <a:xfrm>
            <a:off x="5943600" y="4206240"/>
            <a:ext cx="2925720" cy="365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7"/>
          <p:cNvSpPr/>
          <p:nvPr/>
        </p:nvSpPr>
        <p:spPr>
          <a:xfrm>
            <a:off x="5989320" y="420624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Google Chubby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8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4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5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6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7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4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42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3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4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5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6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7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8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0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2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4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58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9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0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1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2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3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4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6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7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8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0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7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76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7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8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9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0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1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82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3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4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5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86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7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88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9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92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3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4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5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6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7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98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9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00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1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02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3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04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0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10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1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2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3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4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5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16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17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18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19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20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21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22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23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26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7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8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9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30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1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32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3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34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5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36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7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38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44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5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6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7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8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9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50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1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52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3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54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5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56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7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5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60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1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2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3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4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5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66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7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8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9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70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1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72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0"/>
          <p:cNvSpPr/>
          <p:nvPr/>
        </p:nvSpPr>
        <p:spPr>
          <a:xfrm>
            <a:off x="0" y="0"/>
            <a:ext cx="136800" cy="5143320"/>
          </a:xfrm>
          <a:prstGeom prst="rect">
            <a:avLst/>
          </a:prstGeom>
          <a:solidFill>
            <a:srgbClr val="219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"/>
          <p:cNvSpPr/>
          <p:nvPr/>
        </p:nvSpPr>
        <p:spPr>
          <a:xfrm>
            <a:off x="137160" y="2240280"/>
            <a:ext cx="9006480" cy="543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"/>
          <p:cNvSpPr/>
          <p:nvPr/>
        </p:nvSpPr>
        <p:spPr>
          <a:xfrm>
            <a:off x="457200" y="-126720"/>
            <a:ext cx="84121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Paxos en une phrase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457200" y="1371600"/>
            <a:ext cx="82292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« Le handshake TLS est la phase de mise en confiance cryptographique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entre un client et un serveur. »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 même, Paxos est la phase de mise en confiance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entre des nœuds distribués — garantissant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qu'ils s'accordent tous sur la même vérité.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457200" y="4206240"/>
            <a:ext cx="8229240" cy="6397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548640" y="425196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0A4AE"/>
                </a:solidFill>
                <a:effectLst/>
                <a:uFillTx/>
                <a:latin typeface="Calibri"/>
                <a:ea typeface="Calibri"/>
              </a:rPr>
              <a:t>Sources : Lamport 1998, 2001 · GeeksforGeeks · Wikipedia · ScyllaDB · Paxos.systems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LibreOffice/26.2.2.2$Windows_X86_64 LibreOffice_project/1f77d10d6938fd34972958f64b2bcfa54f8b1ba5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2026-04-15T18:35:15Z</dcterms:created>
  <dc:creator>Boris Rose</dc:creator>
  <dc:description/>
  <dc:language>fr-FR</dc:language>
  <cp:lastModifiedBy/>
  <dcterms:modified xsi:type="dcterms:W3CDTF">2026-04-15T21:23:26Z</dcterms:modified>
  <cp:revision>2</cp:revision>
  <dc:subject>PptxGenJS Presentation</dc:subject>
  <dc:title>Paxos — Algorithme de consensus distribué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26</vt:i4>
  </property>
  <property fmtid="{D5CDD505-2E9C-101B-9397-08002B2CF9AE}" pid="3" name="PresentationFormat">
    <vt:lpwstr>On-screen Show (16:9)</vt:lpwstr>
  </property>
  <property fmtid="{D5CDD505-2E9C-101B-9397-08002B2CF9AE}" pid="4" name="Slides">
    <vt:i4>26</vt:i4>
  </property>
</Properties>
</file>