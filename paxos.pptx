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diapo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2A1E163-44FB-44EC-A9D0-50519D7F30F0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9E83DB-78C4-46C4-A56A-BA3CACCD27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33BBB8-5E78-437B-AB52-C9393E5867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8DE8FB-E9A1-48ED-B332-198F2D1645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091A15-C578-4E28-92A3-916611E731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FA7714-B147-4640-80C2-21BBCB7D8A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80052B-6B22-4D43-8FE3-4609E5A2CA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1206A1-AA33-44FB-A869-0CE977F918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3345D1-F6D1-460D-8573-FED580D93B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388F47-F6A5-4A93-B1C1-48EEF5E905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614D3C-5FE3-4DF8-8660-B779D87476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672673-DF05-4174-BAE5-F1AB1F5897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6858000" y="0"/>
            <a:ext cx="2285640" cy="127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1005840"/>
            <a:ext cx="82292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1001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PAXOS</a:t>
            </a:r>
            <a:endParaRPr lang="fr-F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22860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Consensus Distribué dans les réseaux</a:t>
            </a:r>
            <a:endParaRPr lang="fr-F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30175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34747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57200" y="4846320"/>
            <a:ext cx="82292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Pourquoi le consensus ?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274320" y="960120"/>
            <a:ext cx="384012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274320" y="960120"/>
            <a:ext cx="3840120" cy="41112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320040" y="9601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Ce que TCP résout ✓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365760" y="1417320"/>
            <a:ext cx="365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Fiabilité entre 2 hôtes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Contrôle de flux (fenêtre glissante)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Contrôle de congestion (cwnd)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Intégrité (checksum, numéros de séq.)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MPTCP : multi-chemins pour 1 session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6"/>
          <p:cNvSpPr/>
          <p:nvPr/>
        </p:nvSpPr>
        <p:spPr>
          <a:xfrm>
            <a:off x="5029200" y="960120"/>
            <a:ext cx="384012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5029200" y="960120"/>
            <a:ext cx="3840120" cy="41112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5074920" y="9601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TCP ne résout PAS ✗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5120640" y="1417320"/>
            <a:ext cx="365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Accord entre N serveurs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Élection d'un leader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Cohérence d'un état partagé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Tolérance aux crashes de nœuds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Réplication d'un log de commandes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365760" y="228600"/>
            <a:ext cx="8412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Les 3 acteurs de Paxos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365760" y="841320"/>
            <a:ext cx="8412120" cy="36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"/>
          <p:cNvSpPr/>
          <p:nvPr/>
        </p:nvSpPr>
        <p:spPr>
          <a:xfrm>
            <a:off x="365760" y="1051560"/>
            <a:ext cx="2651400" cy="356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"/>
          <p:cNvSpPr/>
          <p:nvPr/>
        </p:nvSpPr>
        <p:spPr>
          <a:xfrm>
            <a:off x="365760" y="1051560"/>
            <a:ext cx="2651400" cy="72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365760" y="1188720"/>
            <a:ext cx="2651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📢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365760" y="2011680"/>
            <a:ext cx="2651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0B4D8"/>
                </a:solidFill>
                <a:effectLst/>
                <a:uFillTx/>
                <a:latin typeface="Arial Black"/>
                <a:ea typeface="Arial Black"/>
              </a:rPr>
              <a:t>PROPOSER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457200" y="251460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 une valeur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pour atteindre le consensus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7"/>
          <p:cNvSpPr/>
          <p:nvPr/>
        </p:nvSpPr>
        <p:spPr>
          <a:xfrm>
            <a:off x="457200" y="3364920"/>
            <a:ext cx="2468520" cy="36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457200" y="345636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Analogie TCP : le client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qui envoie le SYN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9"/>
          <p:cNvSpPr/>
          <p:nvPr/>
        </p:nvSpPr>
        <p:spPr>
          <a:xfrm>
            <a:off x="3200400" y="1051560"/>
            <a:ext cx="2651400" cy="356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3200400" y="1051560"/>
            <a:ext cx="2651400" cy="7272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3200400" y="1188720"/>
            <a:ext cx="2651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🗳️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3200400" y="2011680"/>
            <a:ext cx="2651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48CAE4"/>
                </a:solidFill>
                <a:effectLst/>
                <a:uFillTx/>
                <a:latin typeface="Arial Black"/>
                <a:ea typeface="Arial Black"/>
              </a:rPr>
              <a:t>ACCEPTOR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3291840" y="251460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Vote pour ou contre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 proposition reçue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3291840" y="3364920"/>
            <a:ext cx="2468520" cy="3636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3291840" y="345636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Analogie TCP : le serveur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qui répond SYN-ACK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6"/>
          <p:cNvSpPr/>
          <p:nvPr/>
        </p:nvSpPr>
        <p:spPr>
          <a:xfrm>
            <a:off x="6035040" y="1051560"/>
            <a:ext cx="2651400" cy="356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7"/>
          <p:cNvSpPr/>
          <p:nvPr/>
        </p:nvSpPr>
        <p:spPr>
          <a:xfrm>
            <a:off x="6035040" y="1051560"/>
            <a:ext cx="2651400" cy="7272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8"/>
          <p:cNvSpPr/>
          <p:nvPr/>
        </p:nvSpPr>
        <p:spPr>
          <a:xfrm>
            <a:off x="6035040" y="1188720"/>
            <a:ext cx="2651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📖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6035040" y="2011680"/>
            <a:ext cx="2651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90E0EF"/>
                </a:solidFill>
                <a:effectLst/>
                <a:uFillTx/>
                <a:latin typeface="Arial Black"/>
                <a:ea typeface="Arial Black"/>
              </a:rPr>
              <a:t>LEARNER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0"/>
          <p:cNvSpPr/>
          <p:nvPr/>
        </p:nvSpPr>
        <p:spPr>
          <a:xfrm>
            <a:off x="6126480" y="251460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Apprend la valeur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finalement décidée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1"/>
          <p:cNvSpPr/>
          <p:nvPr/>
        </p:nvSpPr>
        <p:spPr>
          <a:xfrm>
            <a:off x="6126480" y="3364920"/>
            <a:ext cx="2468520" cy="3636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2"/>
          <p:cNvSpPr/>
          <p:nvPr/>
        </p:nvSpPr>
        <p:spPr>
          <a:xfrm>
            <a:off x="6126480" y="345636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Analogie TCP : le récepteur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des données finales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3"/>
          <p:cNvSpPr/>
          <p:nvPr/>
        </p:nvSpPr>
        <p:spPr>
          <a:xfrm>
            <a:off x="457200" y="47548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Un même nœud physique peut jouer plusieurs rôles simultanément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Phase 1 — Prepare / Promise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365760" y="1005840"/>
            <a:ext cx="2011320" cy="502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365760" y="100584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6675120" y="1005840"/>
            <a:ext cx="2102760" cy="502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675120" y="100584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Acceptors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6"/>
          <p:cNvSpPr/>
          <p:nvPr/>
        </p:nvSpPr>
        <p:spPr>
          <a:xfrm>
            <a:off x="2377440" y="1920240"/>
            <a:ext cx="4297680" cy="360"/>
          </a:xfrm>
          <a:prstGeom prst="line">
            <a:avLst/>
          </a:prstGeom>
          <a:ln w="317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2743200" y="160020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Prepare(n)  →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2743200" y="1965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n = numéro de round unique et croissant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9"/>
          <p:cNvSpPr/>
          <p:nvPr/>
        </p:nvSpPr>
        <p:spPr>
          <a:xfrm>
            <a:off x="2377440" y="2697480"/>
            <a:ext cx="4297680" cy="360"/>
          </a:xfrm>
          <a:prstGeom prst="line">
            <a:avLst/>
          </a:prstGeom>
          <a:ln w="31750">
            <a:solidFill>
              <a:srgbClr val="48CA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2743200" y="23774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48CAE4"/>
                </a:solidFill>
                <a:effectLst/>
                <a:uFillTx/>
                <a:latin typeface="Consolas"/>
                <a:ea typeface="Consolas"/>
              </a:rPr>
              <a:t>←  Promise(n, v_ancien)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2743200" y="27432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"Je n'accepterai plus de numéro &lt; n"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274320" y="3246120"/>
            <a:ext cx="859500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274320" y="3246120"/>
            <a:ext cx="72720" cy="1599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02920" y="329184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Analogie avec TCP Fast Open : 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comme TFO utilise un cookie pour prioriser les connexions, Paxos utilise le numéro de round </a:t>
            </a:r>
            <a:r>
              <a:rPr lang="en-US" sz="1200" b="1" i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 pour établir une priorité entre proposers concurrents. Le proposer avec le numéro le plus élevé "gagne".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502920" y="40233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Condition de quorum : 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 Proposer doit obtenir la Promise de la majorité des Acceptors (plus de la moitié).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Phase 2 — Accept / Accepted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274320" y="960120"/>
            <a:ext cx="2102760" cy="456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274320" y="9601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1325880" y="1417320"/>
            <a:ext cx="360" cy="3291840"/>
          </a:xfrm>
          <a:prstGeom prst="line">
            <a:avLst/>
          </a:prstGeom>
          <a:ln w="12700">
            <a:solidFill>
              <a:srgbClr val="CBD5E1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5"/>
          <p:cNvSpPr/>
          <p:nvPr/>
        </p:nvSpPr>
        <p:spPr>
          <a:xfrm>
            <a:off x="3520440" y="960120"/>
            <a:ext cx="2102760" cy="456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3520440" y="9601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Acceptors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7"/>
          <p:cNvSpPr/>
          <p:nvPr/>
        </p:nvSpPr>
        <p:spPr>
          <a:xfrm>
            <a:off x="4572000" y="1417320"/>
            <a:ext cx="360" cy="3291840"/>
          </a:xfrm>
          <a:prstGeom prst="line">
            <a:avLst/>
          </a:prstGeom>
          <a:ln w="12700">
            <a:solidFill>
              <a:srgbClr val="CBD5E1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8"/>
          <p:cNvSpPr/>
          <p:nvPr/>
        </p:nvSpPr>
        <p:spPr>
          <a:xfrm>
            <a:off x="6766560" y="960120"/>
            <a:ext cx="2102760" cy="456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766560" y="9601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90E0EF"/>
                </a:solidFill>
                <a:effectLst/>
                <a:uFillTx/>
                <a:latin typeface="Calibri"/>
                <a:ea typeface="Calibri"/>
              </a:rPr>
              <a:t>Learners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7818120" y="1417320"/>
            <a:ext cx="360" cy="3291840"/>
          </a:xfrm>
          <a:prstGeom prst="line">
            <a:avLst/>
          </a:prstGeom>
          <a:ln w="12700">
            <a:solidFill>
              <a:srgbClr val="CBD5E1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1"/>
          <p:cNvSpPr/>
          <p:nvPr/>
        </p:nvSpPr>
        <p:spPr>
          <a:xfrm>
            <a:off x="1463040" y="1965960"/>
            <a:ext cx="2377440" cy="360"/>
          </a:xfrm>
          <a:prstGeom prst="line">
            <a:avLst/>
          </a:prstGeom>
          <a:ln w="317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1508760" y="1645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Accept(n, v)  →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3"/>
          <p:cNvSpPr/>
          <p:nvPr/>
        </p:nvSpPr>
        <p:spPr>
          <a:xfrm>
            <a:off x="1463040" y="2606040"/>
            <a:ext cx="2377440" cy="360"/>
          </a:xfrm>
          <a:prstGeom prst="line">
            <a:avLst/>
          </a:prstGeom>
          <a:ln w="31750">
            <a:solidFill>
              <a:srgbClr val="48CA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1508760" y="22860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8CAE4"/>
                </a:solidFill>
                <a:effectLst/>
                <a:uFillTx/>
                <a:latin typeface="Consolas"/>
                <a:ea typeface="Consolas"/>
              </a:rPr>
              <a:t>←  Accepted(n, v)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5"/>
          <p:cNvSpPr/>
          <p:nvPr/>
        </p:nvSpPr>
        <p:spPr>
          <a:xfrm>
            <a:off x="4709160" y="3246120"/>
            <a:ext cx="2377440" cy="360"/>
          </a:xfrm>
          <a:prstGeom prst="line">
            <a:avLst/>
          </a:prstGeom>
          <a:ln w="3175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4709160" y="292608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90E0EF"/>
                </a:solidFill>
                <a:effectLst/>
                <a:uFillTx/>
                <a:latin typeface="Consolas"/>
                <a:ea typeface="Consolas"/>
              </a:rPr>
              <a:t>Notify(v)  →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7"/>
          <p:cNvSpPr/>
          <p:nvPr/>
        </p:nvSpPr>
        <p:spPr>
          <a:xfrm>
            <a:off x="274320" y="3657600"/>
            <a:ext cx="8595000" cy="1188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8"/>
          <p:cNvSpPr/>
          <p:nvPr/>
        </p:nvSpPr>
        <p:spPr>
          <a:xfrm>
            <a:off x="274320" y="3657600"/>
            <a:ext cx="72720" cy="1188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502920" y="370332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1. 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Si les Acceptors n'ont pas promis à un numéro plus grand, ils acceptent la proposition.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2. 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Une fois la majorité obtenue, la valeur v est décidée (committed) — équivalent à l'ACK final en TCP.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3. 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Les Learners sont notifiés et peuvent appliquer la valeur décidée.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Tolérance aux pannes — La règle du Quorum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"/>
          <p:cNvSpPr/>
          <p:nvPr/>
        </p:nvSpPr>
        <p:spPr>
          <a:xfrm>
            <a:off x="365760" y="804600"/>
            <a:ext cx="8412120" cy="36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457200" y="1005840"/>
            <a:ext cx="8229240" cy="10512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548640" y="1005840"/>
            <a:ext cx="804636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Paxos tolère f pannes avec 2f + 1 nœuds  →  quorum = f + 1</a:t>
            </a:r>
            <a:endParaRPr lang="fr-F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411480" y="2240280"/>
            <a:ext cx="2925720" cy="594000"/>
          </a:xfrm>
          <a:prstGeom prst="rect">
            <a:avLst/>
          </a:prstGeom>
          <a:solidFill>
            <a:srgbClr val="0096C7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411480" y="224028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Nœuds totaux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3383280" y="2240280"/>
            <a:ext cx="2925720" cy="594000"/>
          </a:xfrm>
          <a:prstGeom prst="rect">
            <a:avLst/>
          </a:prstGeom>
          <a:solidFill>
            <a:srgbClr val="0096C7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3383280" y="224028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Pannes tolérées (f)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8"/>
          <p:cNvSpPr/>
          <p:nvPr/>
        </p:nvSpPr>
        <p:spPr>
          <a:xfrm>
            <a:off x="6355080" y="2240280"/>
            <a:ext cx="2925720" cy="594000"/>
          </a:xfrm>
          <a:prstGeom prst="rect">
            <a:avLst/>
          </a:prstGeom>
          <a:solidFill>
            <a:srgbClr val="0096C7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6355080" y="224028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Quorum requis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0"/>
          <p:cNvSpPr/>
          <p:nvPr/>
        </p:nvSpPr>
        <p:spPr>
          <a:xfrm>
            <a:off x="411480" y="28620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1"/>
          <p:cNvSpPr/>
          <p:nvPr/>
        </p:nvSpPr>
        <p:spPr>
          <a:xfrm>
            <a:off x="411480" y="28620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3383280" y="28620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3383280" y="28620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4"/>
          <p:cNvSpPr/>
          <p:nvPr/>
        </p:nvSpPr>
        <p:spPr>
          <a:xfrm>
            <a:off x="6355080" y="28620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5"/>
          <p:cNvSpPr/>
          <p:nvPr/>
        </p:nvSpPr>
        <p:spPr>
          <a:xfrm>
            <a:off x="6355080" y="28620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6"/>
          <p:cNvSpPr/>
          <p:nvPr/>
        </p:nvSpPr>
        <p:spPr>
          <a:xfrm>
            <a:off x="411480" y="3483720"/>
            <a:ext cx="2925720" cy="59400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411480" y="348372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8"/>
          <p:cNvSpPr/>
          <p:nvPr/>
        </p:nvSpPr>
        <p:spPr>
          <a:xfrm>
            <a:off x="3383280" y="3483720"/>
            <a:ext cx="2925720" cy="59400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9"/>
          <p:cNvSpPr/>
          <p:nvPr/>
        </p:nvSpPr>
        <p:spPr>
          <a:xfrm>
            <a:off x="3383280" y="348372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0"/>
          <p:cNvSpPr/>
          <p:nvPr/>
        </p:nvSpPr>
        <p:spPr>
          <a:xfrm>
            <a:off x="6355080" y="3483720"/>
            <a:ext cx="2925720" cy="59400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6355080" y="348372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2"/>
          <p:cNvSpPr/>
          <p:nvPr/>
        </p:nvSpPr>
        <p:spPr>
          <a:xfrm>
            <a:off x="411480" y="41058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411480" y="41058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4"/>
          <p:cNvSpPr/>
          <p:nvPr/>
        </p:nvSpPr>
        <p:spPr>
          <a:xfrm>
            <a:off x="3383280" y="41058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5"/>
          <p:cNvSpPr/>
          <p:nvPr/>
        </p:nvSpPr>
        <p:spPr>
          <a:xfrm>
            <a:off x="3383280" y="41058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6"/>
          <p:cNvSpPr/>
          <p:nvPr/>
        </p:nvSpPr>
        <p:spPr>
          <a:xfrm>
            <a:off x="6355080" y="4105800"/>
            <a:ext cx="2925720" cy="594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"/>
          <p:cNvSpPr/>
          <p:nvPr/>
        </p:nvSpPr>
        <p:spPr>
          <a:xfrm>
            <a:off x="6355080" y="410580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8"/>
          <p:cNvSpPr/>
          <p:nvPr/>
        </p:nvSpPr>
        <p:spPr>
          <a:xfrm>
            <a:off x="365760" y="4617720"/>
            <a:ext cx="8412120" cy="41112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9"/>
          <p:cNvSpPr/>
          <p:nvPr/>
        </p:nvSpPr>
        <p:spPr>
          <a:xfrm>
            <a:off x="457200" y="463608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Analogie MPTCP : comme MPTCP maintient la session si une interface tombe, Paxos maintient le consensus si une minorité de nœuds est défaillante.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Multi-Paxos &amp; Raft — Optimisations pour la prod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"/>
          <p:cNvSpPr/>
          <p:nvPr/>
        </p:nvSpPr>
        <p:spPr>
          <a:xfrm>
            <a:off x="274320" y="960120"/>
            <a:ext cx="859500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274320" y="960120"/>
            <a:ext cx="72720" cy="1005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502920" y="100584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⚠ Problème de liveness : deux Proposers concurrents peuvent se bloquer indéfiniment (Proposer A invalide B, B invalide A…). Le système est sûr mais ne progresse pas.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274320" y="2148840"/>
            <a:ext cx="4114440" cy="265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6"/>
          <p:cNvSpPr/>
          <p:nvPr/>
        </p:nvSpPr>
        <p:spPr>
          <a:xfrm>
            <a:off x="274320" y="2148840"/>
            <a:ext cx="4114440" cy="438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320040" y="2148840"/>
            <a:ext cx="40230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B4D8"/>
                </a:solidFill>
                <a:effectLst/>
                <a:uFillTx/>
                <a:latin typeface="Arial Black"/>
                <a:ea typeface="Arial Black"/>
              </a:rPr>
              <a:t>Multi-Paxos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411480" y="2651760"/>
            <a:ext cx="38401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Leader stable → Phase 1 faite une fois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Les rounds suivants n'ont besoin que de la Phase 2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Chaque entrée du log = une instance Paxos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Utilisé par Google Chubby, Spanner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4754880" y="2148840"/>
            <a:ext cx="4114440" cy="265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0"/>
          <p:cNvSpPr/>
          <p:nvPr/>
        </p:nvSpPr>
        <p:spPr>
          <a:xfrm>
            <a:off x="4754880" y="2148840"/>
            <a:ext cx="4114440" cy="438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1"/>
          <p:cNvSpPr/>
          <p:nvPr/>
        </p:nvSpPr>
        <p:spPr>
          <a:xfrm>
            <a:off x="4800600" y="2148840"/>
            <a:ext cx="40230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Arial Black"/>
                <a:ea typeface="Arial Black"/>
              </a:rPr>
              <a:t>Raft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4846320" y="2651760"/>
            <a:ext cx="38401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Mêmes garanties que Paxos, plus lisible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Leader election explicite et timeout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Log replication structurée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Utilisé par etcd (Kubernetes), CockroachDB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365760" y="484632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Raft est souvent préféré à Paxos en industrie pour sa clarté — comme MPTCP est préféré à SCTP pour sa compatibilité avec l'existant.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365760" y="182880"/>
            <a:ext cx="8412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Paxos &amp; Concepts — Correspondances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"/>
          <p:cNvSpPr/>
          <p:nvPr/>
        </p:nvSpPr>
        <p:spPr>
          <a:xfrm>
            <a:off x="365760" y="768240"/>
            <a:ext cx="8412120" cy="36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"/>
          <p:cNvSpPr/>
          <p:nvPr/>
        </p:nvSpPr>
        <p:spPr>
          <a:xfrm>
            <a:off x="365760" y="914400"/>
            <a:ext cx="4160160" cy="520920"/>
          </a:xfrm>
          <a:prstGeom prst="rect">
            <a:avLst/>
          </a:prstGeom>
          <a:solidFill>
            <a:srgbClr val="0096C7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3"/>
          <p:cNvSpPr/>
          <p:nvPr/>
        </p:nvSpPr>
        <p:spPr>
          <a:xfrm>
            <a:off x="4617720" y="914400"/>
            <a:ext cx="4160160" cy="520920"/>
          </a:xfrm>
          <a:prstGeom prst="rect">
            <a:avLst/>
          </a:prstGeom>
          <a:solidFill>
            <a:srgbClr val="0096C7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457200" y="91440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4663440" y="91440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Équivalent Paxos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365760" y="146304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7"/>
          <p:cNvSpPr/>
          <p:nvPr/>
        </p:nvSpPr>
        <p:spPr>
          <a:xfrm>
            <a:off x="4617720" y="146304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457200" y="146304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TCP 3-way handshake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4663440" y="146304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Phase 1 Prepare / Promise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365760" y="201168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4617720" y="201168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457200" y="201168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Numéro de séquence TCP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4663440" y="201168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Numéro de round 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4"/>
          <p:cNvSpPr/>
          <p:nvPr/>
        </p:nvSpPr>
        <p:spPr>
          <a:xfrm>
            <a:off x="365760" y="256032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5"/>
          <p:cNvSpPr/>
          <p:nvPr/>
        </p:nvSpPr>
        <p:spPr>
          <a:xfrm>
            <a:off x="4617720" y="256032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6"/>
          <p:cNvSpPr/>
          <p:nvPr/>
        </p:nvSpPr>
        <p:spPr>
          <a:xfrm>
            <a:off x="457200" y="256032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ACK / retransmission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7"/>
          <p:cNvSpPr/>
          <p:nvPr/>
        </p:nvSpPr>
        <p:spPr>
          <a:xfrm>
            <a:off x="4663440" y="256032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Accepted / retry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8"/>
          <p:cNvSpPr/>
          <p:nvPr/>
        </p:nvSpPr>
        <p:spPr>
          <a:xfrm>
            <a:off x="365760" y="310896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9"/>
          <p:cNvSpPr/>
          <p:nvPr/>
        </p:nvSpPr>
        <p:spPr>
          <a:xfrm>
            <a:off x="4617720" y="310896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0"/>
          <p:cNvSpPr/>
          <p:nvPr/>
        </p:nvSpPr>
        <p:spPr>
          <a:xfrm>
            <a:off x="457200" y="310896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Fenêtre glissante (cwnd)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1"/>
          <p:cNvSpPr/>
          <p:nvPr/>
        </p:nvSpPr>
        <p:spPr>
          <a:xfrm>
            <a:off x="4663440" y="310896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Quorum (majorité)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2"/>
          <p:cNvSpPr/>
          <p:nvPr/>
        </p:nvSpPr>
        <p:spPr>
          <a:xfrm>
            <a:off x="365760" y="365760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3"/>
          <p:cNvSpPr/>
          <p:nvPr/>
        </p:nvSpPr>
        <p:spPr>
          <a:xfrm>
            <a:off x="4617720" y="3657600"/>
            <a:ext cx="4160160" cy="520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4"/>
          <p:cNvSpPr/>
          <p:nvPr/>
        </p:nvSpPr>
        <p:spPr>
          <a:xfrm>
            <a:off x="457200" y="365760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MPTCP multi-chemins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5"/>
          <p:cNvSpPr/>
          <p:nvPr/>
        </p:nvSpPr>
        <p:spPr>
          <a:xfrm>
            <a:off x="4663440" y="365760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Paxos multi-acceptors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6"/>
          <p:cNvSpPr/>
          <p:nvPr/>
        </p:nvSpPr>
        <p:spPr>
          <a:xfrm>
            <a:off x="365760" y="420624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7"/>
          <p:cNvSpPr/>
          <p:nvPr/>
        </p:nvSpPr>
        <p:spPr>
          <a:xfrm>
            <a:off x="4617720" y="4206240"/>
            <a:ext cx="4160160" cy="5209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8"/>
          <p:cNvSpPr/>
          <p:nvPr/>
        </p:nvSpPr>
        <p:spPr>
          <a:xfrm>
            <a:off x="457200" y="4206240"/>
            <a:ext cx="4068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Slow Start / Fast Retransmit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9"/>
          <p:cNvSpPr/>
          <p:nvPr/>
        </p:nvSpPr>
        <p:spPr>
          <a:xfrm>
            <a:off x="4663440" y="4206240"/>
            <a:ext cx="402300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Backoff entre proposers concurrents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Cas d'usage réels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"/>
          <p:cNvSpPr/>
          <p:nvPr/>
        </p:nvSpPr>
        <p:spPr>
          <a:xfrm>
            <a:off x="274320" y="960120"/>
            <a:ext cx="278856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"/>
          <p:cNvSpPr/>
          <p:nvPr/>
        </p:nvSpPr>
        <p:spPr>
          <a:xfrm>
            <a:off x="274320" y="960120"/>
            <a:ext cx="2788560" cy="72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274320" y="960120"/>
            <a:ext cx="2788560" cy="50256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365760" y="1005840"/>
            <a:ext cx="2377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B4D8"/>
                </a:solidFill>
                <a:effectLst/>
                <a:uFillTx/>
                <a:latin typeface="Arial Black"/>
                <a:ea typeface="Arial Black"/>
              </a:rPr>
              <a:t>Google Chubby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365760" y="146304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2006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365760" y="1828800"/>
            <a:ext cx="26056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Service de verrou distribué. Maintient la cohérence entre répliques. Utilisé par Bigtable, GFS, MapReduce.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8"/>
          <p:cNvSpPr/>
          <p:nvPr/>
        </p:nvSpPr>
        <p:spPr>
          <a:xfrm>
            <a:off x="3246120" y="960120"/>
            <a:ext cx="278856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9"/>
          <p:cNvSpPr/>
          <p:nvPr/>
        </p:nvSpPr>
        <p:spPr>
          <a:xfrm>
            <a:off x="3246120" y="960120"/>
            <a:ext cx="2788560" cy="7272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0"/>
          <p:cNvSpPr/>
          <p:nvPr/>
        </p:nvSpPr>
        <p:spPr>
          <a:xfrm>
            <a:off x="3246120" y="960120"/>
            <a:ext cx="2788560" cy="50256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1"/>
          <p:cNvSpPr/>
          <p:nvPr/>
        </p:nvSpPr>
        <p:spPr>
          <a:xfrm>
            <a:off x="3337560" y="1005840"/>
            <a:ext cx="2377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48CAE4"/>
                </a:solidFill>
                <a:effectLst/>
                <a:uFillTx/>
                <a:latin typeface="Arial Black"/>
                <a:ea typeface="Arial Black"/>
              </a:rPr>
              <a:t>etcd (Kubernetes)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2"/>
          <p:cNvSpPr/>
          <p:nvPr/>
        </p:nvSpPr>
        <p:spPr>
          <a:xfrm>
            <a:off x="3337560" y="146304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2013+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3337560" y="1828800"/>
            <a:ext cx="26056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Base clé-valeur distribuée via Raft. Stocke toute la configuration du cluster K8s. Sans etcd, K8s ne fonctionne plus.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4"/>
          <p:cNvSpPr/>
          <p:nvPr/>
        </p:nvSpPr>
        <p:spPr>
          <a:xfrm>
            <a:off x="6217920" y="960120"/>
            <a:ext cx="2788560" cy="38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6217920" y="960120"/>
            <a:ext cx="2788560" cy="7272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6"/>
          <p:cNvSpPr/>
          <p:nvPr/>
        </p:nvSpPr>
        <p:spPr>
          <a:xfrm>
            <a:off x="6217920" y="960120"/>
            <a:ext cx="2788560" cy="50256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7"/>
          <p:cNvSpPr/>
          <p:nvPr/>
        </p:nvSpPr>
        <p:spPr>
          <a:xfrm>
            <a:off x="6309360" y="1005840"/>
            <a:ext cx="2377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90E0EF"/>
                </a:solidFill>
                <a:effectLst/>
                <a:uFillTx/>
                <a:latin typeface="Arial Black"/>
                <a:ea typeface="Arial Black"/>
              </a:rPr>
              <a:t>Apache ZooKeeper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8"/>
          <p:cNvSpPr/>
          <p:nvPr/>
        </p:nvSpPr>
        <p:spPr>
          <a:xfrm>
            <a:off x="6309360" y="146304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2010+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9"/>
          <p:cNvSpPr/>
          <p:nvPr/>
        </p:nvSpPr>
        <p:spPr>
          <a:xfrm>
            <a:off x="6309360" y="1828800"/>
            <a:ext cx="26056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Coordination distribuée (Kafka, HBase, Hadoop). Utilise Zab, variante de Multi-Paxos pour les broadcasts ordonnés.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Limites &amp; Critiques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274320" y="1005840"/>
            <a:ext cx="42058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274320" y="1005840"/>
            <a:ext cx="4205880" cy="72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365760" y="1097280"/>
            <a:ext cx="4023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🔧  Complexité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65760" y="150876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Difficile à implémenter correctement. Même Lamport a admis que Paxos est complexe — c'est pourquoi Raft a été créé.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4754880" y="1005840"/>
            <a:ext cx="42058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"/>
          <p:cNvSpPr/>
          <p:nvPr/>
        </p:nvSpPr>
        <p:spPr>
          <a:xfrm>
            <a:off x="4754880" y="1005840"/>
            <a:ext cx="4205880" cy="72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4846320" y="1097280"/>
            <a:ext cx="4023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⏱️  Latence : 2 RTT minimum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9"/>
          <p:cNvSpPr/>
          <p:nvPr/>
        </p:nvSpPr>
        <p:spPr>
          <a:xfrm>
            <a:off x="4846320" y="150876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Comme le 3-way handshake TCP vs TCP Fast Open, Paxos exige 2 allers-retours avant de décider. TLS 1.3 a fait pareil pour réduire cette latence.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0"/>
          <p:cNvSpPr/>
          <p:nvPr/>
        </p:nvSpPr>
        <p:spPr>
          <a:xfrm>
            <a:off x="274320" y="2926080"/>
            <a:ext cx="42058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274320" y="2926080"/>
            <a:ext cx="4205880" cy="72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2"/>
          <p:cNvSpPr/>
          <p:nvPr/>
        </p:nvSpPr>
        <p:spPr>
          <a:xfrm>
            <a:off x="365760" y="3017520"/>
            <a:ext cx="4023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🛡️  Crash failures seulement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3"/>
          <p:cNvSpPr/>
          <p:nvPr/>
        </p:nvSpPr>
        <p:spPr>
          <a:xfrm>
            <a:off x="365760" y="342900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Paxos assume que les nœuds tombent proprement. Si des nœuds envoient de fausses valeurs (Byzantine), il faut PBFT ou BFT — beaucoup plus coûteux.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4"/>
          <p:cNvSpPr/>
          <p:nvPr/>
        </p:nvSpPr>
        <p:spPr>
          <a:xfrm>
            <a:off x="4754880" y="2926080"/>
            <a:ext cx="42058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5"/>
          <p:cNvSpPr/>
          <p:nvPr/>
        </p:nvSpPr>
        <p:spPr>
          <a:xfrm>
            <a:off x="4754880" y="2926080"/>
            <a:ext cx="4205880" cy="72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6"/>
          <p:cNvSpPr/>
          <p:nvPr/>
        </p:nvSpPr>
        <p:spPr>
          <a:xfrm>
            <a:off x="4846320" y="3017520"/>
            <a:ext cx="4023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⚡  Liveness sans leader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7"/>
          <p:cNvSpPr/>
          <p:nvPr/>
        </p:nvSpPr>
        <p:spPr>
          <a:xfrm>
            <a:off x="4846320" y="342900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Sans leader élu, deux proposers concurrents peuvent se bloquer indéfiniment. Multi-Paxos et Raft résolvent cela avec une élection explicite.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457200" y="2743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Conclusion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457200" y="850320"/>
            <a:ext cx="8229240" cy="36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457200" y="10058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TCP résout la communication fiable entre 2 hôtes. Paxos résout l'accord entre N nœuds dans un système distribué.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457200" y="173736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502920" y="173736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TCP → fiabilité à 2 hôtes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4297680" y="173736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Calibri"/>
              </a:rPr>
              <a:t>↔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7"/>
          <p:cNvSpPr/>
          <p:nvPr/>
        </p:nvSpPr>
        <p:spPr>
          <a:xfrm>
            <a:off x="4846320" y="173736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8"/>
          <p:cNvSpPr/>
          <p:nvPr/>
        </p:nvSpPr>
        <p:spPr>
          <a:xfrm>
            <a:off x="4892040" y="173736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Paxos → consensus à N nœuds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9"/>
          <p:cNvSpPr/>
          <p:nvPr/>
        </p:nvSpPr>
        <p:spPr>
          <a:xfrm>
            <a:off x="457200" y="224028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0"/>
          <p:cNvSpPr/>
          <p:nvPr/>
        </p:nvSpPr>
        <p:spPr>
          <a:xfrm>
            <a:off x="502920" y="224028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Numéro de séquence TCP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1"/>
          <p:cNvSpPr/>
          <p:nvPr/>
        </p:nvSpPr>
        <p:spPr>
          <a:xfrm>
            <a:off x="4297680" y="224028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Calibri"/>
              </a:rPr>
              <a:t>↔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2"/>
          <p:cNvSpPr/>
          <p:nvPr/>
        </p:nvSpPr>
        <p:spPr>
          <a:xfrm>
            <a:off x="4846320" y="224028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3"/>
          <p:cNvSpPr/>
          <p:nvPr/>
        </p:nvSpPr>
        <p:spPr>
          <a:xfrm>
            <a:off x="4892040" y="224028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Numéro de round Paxos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4"/>
          <p:cNvSpPr/>
          <p:nvPr/>
        </p:nvSpPr>
        <p:spPr>
          <a:xfrm>
            <a:off x="457200" y="274320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5"/>
          <p:cNvSpPr/>
          <p:nvPr/>
        </p:nvSpPr>
        <p:spPr>
          <a:xfrm>
            <a:off x="502920" y="274320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3-way handshake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6"/>
          <p:cNvSpPr/>
          <p:nvPr/>
        </p:nvSpPr>
        <p:spPr>
          <a:xfrm>
            <a:off x="4297680" y="274320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Calibri"/>
              </a:rPr>
              <a:t>↔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7"/>
          <p:cNvSpPr/>
          <p:nvPr/>
        </p:nvSpPr>
        <p:spPr>
          <a:xfrm>
            <a:off x="4846320" y="274320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8"/>
          <p:cNvSpPr/>
          <p:nvPr/>
        </p:nvSpPr>
        <p:spPr>
          <a:xfrm>
            <a:off x="4892040" y="274320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2 phases Prepare / Accept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9"/>
          <p:cNvSpPr/>
          <p:nvPr/>
        </p:nvSpPr>
        <p:spPr>
          <a:xfrm>
            <a:off x="457200" y="324612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0"/>
          <p:cNvSpPr/>
          <p:nvPr/>
        </p:nvSpPr>
        <p:spPr>
          <a:xfrm>
            <a:off x="502920" y="324612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Fenêtre de congestion (cwnd)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1"/>
          <p:cNvSpPr/>
          <p:nvPr/>
        </p:nvSpPr>
        <p:spPr>
          <a:xfrm>
            <a:off x="4297680" y="324612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Calibri"/>
              </a:rPr>
              <a:t>↔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2"/>
          <p:cNvSpPr/>
          <p:nvPr/>
        </p:nvSpPr>
        <p:spPr>
          <a:xfrm>
            <a:off x="4846320" y="324612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3"/>
          <p:cNvSpPr/>
          <p:nvPr/>
        </p:nvSpPr>
        <p:spPr>
          <a:xfrm>
            <a:off x="4892040" y="324612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Quorum de majorité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4"/>
          <p:cNvSpPr/>
          <p:nvPr/>
        </p:nvSpPr>
        <p:spPr>
          <a:xfrm>
            <a:off x="457200" y="374904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5"/>
          <p:cNvSpPr/>
          <p:nvPr/>
        </p:nvSpPr>
        <p:spPr>
          <a:xfrm>
            <a:off x="502920" y="374904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MPTCP / SCTP multi-chemins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6"/>
          <p:cNvSpPr/>
          <p:nvPr/>
        </p:nvSpPr>
        <p:spPr>
          <a:xfrm>
            <a:off x="4297680" y="374904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8CAE4"/>
                </a:solidFill>
                <a:effectLst/>
                <a:uFillTx/>
                <a:latin typeface="Calibri"/>
              </a:rPr>
              <a:t>↔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7"/>
          <p:cNvSpPr/>
          <p:nvPr/>
        </p:nvSpPr>
        <p:spPr>
          <a:xfrm>
            <a:off x="4846320" y="3749040"/>
            <a:ext cx="3840120" cy="43848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8"/>
          <p:cNvSpPr/>
          <p:nvPr/>
        </p:nvSpPr>
        <p:spPr>
          <a:xfrm>
            <a:off x="4892040" y="3749040"/>
            <a:ext cx="3748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8CAE4"/>
                </a:solidFill>
                <a:effectLst/>
                <a:uFillTx/>
                <a:latin typeface="Calibri"/>
                <a:ea typeface="Calibri"/>
              </a:rPr>
              <a:t>Paxos multi-acceptors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9"/>
          <p:cNvSpPr/>
          <p:nvPr/>
        </p:nvSpPr>
        <p:spPr>
          <a:xfrm>
            <a:off x="457200" y="443484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Paxos / Raft sont au cœur de chaque cluster Kubernetes, chaque base distribuée, chaque service cloud résilient.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2026-04-12T19:12:33Z</dcterms:created>
  <dc:creator>RSX102 - Boris Rose</dc:creator>
  <dc:description/>
  <dc:language>fr-FR</dc:language>
  <cp:lastModifiedBy/>
  <dcterms:modified xsi:type="dcterms:W3CDTF">2026-04-12T23:51:05Z</dcterms:modified>
  <cp:revision>2</cp:revision>
  <dc:subject>PptxGenJS Presentation</dc:subject>
  <dc:title>Paxos — Consensus Distribué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