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déplacer la diapo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AF8495C-D80D-4F38-A04A-D43F62F9FAA2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FAF017A-1B14-4017-81E8-B9BD758DAD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C8196F5-C7E7-4C0A-B62F-56FEDCBC6B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FBB2698-35B5-4C10-9859-DDAFEFEC7B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8637419-2581-451B-BF2C-CE48636127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4C188F0-02C8-4753-8576-C16532A567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8C72D56-4D69-4422-8A14-B214643733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2912E28-DA29-4992-B2A5-04A909785A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FCAEF7-B631-4F8C-AC95-7876D4892E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433CBF9-9DF1-4775-8670-93A3E5D3EB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C9FAC33-6ED8-408E-82B1-287A0528D3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187B97B-4FF2-4B58-B074-16D46A5B03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5CEB14-7A65-4856-B182-3AB8BEC2EC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88F7BF0-BF25-4F0A-BD9D-30C94BFEBB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6A63D6E-5958-4AA9-A2E2-5C8D4F596E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7169466-1359-49E8-BD1B-71A8F986F5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C18386-29F4-4C6F-B660-4C4AE6C625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86467B3-E679-4182-ABD4-EAC531094D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C4CB60E-8163-42B1-B458-9D5F5B9655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AE59E42-3905-440C-A024-E84453A55A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2ED550E-C7F3-4244-A64D-784911EF0C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3C5A98-00C6-4672-B1AB-621A39B414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808BAC-E8B4-408C-B1D9-498A54A8DC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A82E6A6-C5D5-4C10-979B-1F0462DD62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001CACE-53D2-430D-AB55-1432B3B77F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36440" cy="5142960"/>
          </a:xfrm>
          <a:prstGeom prst="rect">
            <a:avLst/>
          </a:prstGeom>
          <a:solidFill>
            <a:srgbClr val="2196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45000" rIns="684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137160" y="2240280"/>
            <a:ext cx="9006120" cy="5400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" y="1097280"/>
            <a:ext cx="841176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Paxos</a:t>
            </a:r>
            <a:endParaRPr lang="fr-F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2514600"/>
            <a:ext cx="8411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196F3"/>
                </a:solidFill>
                <a:effectLst/>
                <a:uFillTx/>
                <a:latin typeface="Calibri"/>
                <a:ea typeface="Calibri"/>
              </a:rPr>
              <a:t>Algorithme de consensus distribué 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3383280"/>
            <a:ext cx="8411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274320" y="45720"/>
            <a:ext cx="8594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Plan de la présentation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0" y="685800"/>
            <a:ext cx="72360" cy="445716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320040" y="868680"/>
            <a:ext cx="850320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1.  Contexte &amp; problématique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2.  Historique et origine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3.  Qu'est-ce que le consensus distribué ?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4.  Les rôles dans Paxos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5.  Les phases de l'algorithme (Prepare → Accept → Learn)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6.  Propriétés garanties : Safety &amp; Liveness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7.  Variantes et déploiements réels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8.  Paxos vs Raft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9.  Exercice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9143280" cy="9072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0" y="5052240"/>
            <a:ext cx="9143280" cy="9072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457200" y="1645920"/>
            <a:ext cx="82288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 Contexte &amp; problématique</a:t>
            </a:r>
            <a:endParaRPr lang="fr-F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274320" y="45720"/>
            <a:ext cx="8594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 problème du consensus distribué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0" y="685800"/>
            <a:ext cx="72360" cy="445716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274320" y="91440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565C0"/>
                </a:solidFill>
                <a:effectLst/>
                <a:uFillTx/>
                <a:latin typeface="Calibri"/>
                <a:ea typeface="Calibri"/>
              </a:rPr>
              <a:t>Dans un système distribué…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274320" y="1280160"/>
            <a:ext cx="4114080" cy="27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Un serveur peut planter sans prévenir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Un message peut se perdre ou arriver en retard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Des nœuds peuvent recevoir des valeurs différentes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Le réseau peut se partitionner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5"/>
          <p:cNvSpPr/>
          <p:nvPr/>
        </p:nvSpPr>
        <p:spPr>
          <a:xfrm>
            <a:off x="4754880" y="914400"/>
            <a:ext cx="4114080" cy="347400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4846320" y="1005840"/>
            <a:ext cx="3931200" cy="25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C107"/>
                </a:solidFill>
                <a:effectLst/>
                <a:uFillTx/>
                <a:latin typeface="Calibri"/>
                <a:ea typeface="Calibri"/>
              </a:rPr>
              <a:t>Comment faire en sorte que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C107"/>
                </a:solidFill>
                <a:effectLst/>
                <a:uFillTx/>
                <a:latin typeface="Calibri"/>
                <a:ea typeface="Calibri"/>
              </a:rPr>
              <a:t>tous les nœuds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C107"/>
                </a:solidFill>
                <a:effectLst/>
                <a:uFillTx/>
                <a:latin typeface="Calibri"/>
                <a:ea typeface="Calibri"/>
              </a:rPr>
              <a:t>s'accordent sur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C107"/>
                </a:solidFill>
                <a:effectLst/>
                <a:uFillTx/>
                <a:latin typeface="Calibri"/>
                <a:ea typeface="Calibri"/>
              </a:rPr>
              <a:t>une même valeur ?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4846320" y="3657600"/>
            <a:ext cx="3931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2196F3"/>
                </a:solidFill>
                <a:effectLst/>
                <a:uFillTx/>
                <a:latin typeface="Calibri"/>
                <a:ea typeface="Calibri"/>
              </a:rPr>
              <a:t>→ Problème du consensus distribué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9143280" cy="9072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0" y="5052240"/>
            <a:ext cx="9143280" cy="9072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457200" y="1645920"/>
            <a:ext cx="82288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 Historique &amp; origine</a:t>
            </a:r>
            <a:endParaRPr lang="fr-F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274320" y="45720"/>
            <a:ext cx="8594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Historique de Paxos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"/>
          <p:cNvSpPr/>
          <p:nvPr/>
        </p:nvSpPr>
        <p:spPr>
          <a:xfrm>
            <a:off x="0" y="685800"/>
            <a:ext cx="72360" cy="445716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3"/>
          <p:cNvSpPr/>
          <p:nvPr/>
        </p:nvSpPr>
        <p:spPr>
          <a:xfrm>
            <a:off x="1002960" y="2377440"/>
            <a:ext cx="7846560" cy="4500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4"/>
          <p:cNvSpPr/>
          <p:nvPr/>
        </p:nvSpPr>
        <p:spPr>
          <a:xfrm>
            <a:off x="966960" y="2258640"/>
            <a:ext cx="236880" cy="236880"/>
          </a:xfrm>
          <a:prstGeom prst="ellipse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5"/>
          <p:cNvSpPr/>
          <p:nvPr/>
        </p:nvSpPr>
        <p:spPr>
          <a:xfrm>
            <a:off x="609120" y="1828800"/>
            <a:ext cx="1096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565C0"/>
                </a:solidFill>
                <a:effectLst/>
                <a:uFillTx/>
                <a:latin typeface="Calibri"/>
                <a:ea typeface="Calibri"/>
              </a:rPr>
              <a:t>1989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6"/>
          <p:cNvSpPr/>
          <p:nvPr/>
        </p:nvSpPr>
        <p:spPr>
          <a:xfrm>
            <a:off x="380520" y="2596320"/>
            <a:ext cx="155376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Leslie Lamport conçoit Paxos — en cherchant à prouver qu'il était impossible !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7"/>
          <p:cNvSpPr/>
          <p:nvPr/>
        </p:nvSpPr>
        <p:spPr>
          <a:xfrm>
            <a:off x="2730600" y="2258640"/>
            <a:ext cx="236880" cy="236880"/>
          </a:xfrm>
          <a:prstGeom prst="ellipse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8"/>
          <p:cNvSpPr/>
          <p:nvPr/>
        </p:nvSpPr>
        <p:spPr>
          <a:xfrm>
            <a:off x="2300760" y="1828800"/>
            <a:ext cx="1096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565C0"/>
                </a:solidFill>
                <a:effectLst/>
                <a:uFillTx/>
                <a:latin typeface="Calibri"/>
                <a:ea typeface="Calibri"/>
              </a:rPr>
              <a:t>1990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9"/>
          <p:cNvSpPr/>
          <p:nvPr/>
        </p:nvSpPr>
        <p:spPr>
          <a:xfrm>
            <a:off x="2144160" y="2632320"/>
            <a:ext cx="155376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Soumission du papier "The Part-Time Parliament" — rejeté, jugé trop complexe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0"/>
          <p:cNvSpPr/>
          <p:nvPr/>
        </p:nvSpPr>
        <p:spPr>
          <a:xfrm>
            <a:off x="4206240" y="2258640"/>
            <a:ext cx="236880" cy="236880"/>
          </a:xfrm>
          <a:prstGeom prst="ellipse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3776400" y="1828800"/>
            <a:ext cx="1096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565C0"/>
                </a:solidFill>
                <a:effectLst/>
                <a:uFillTx/>
                <a:latin typeface="Calibri"/>
                <a:ea typeface="Calibri"/>
              </a:rPr>
              <a:t>1998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3655800" y="2632320"/>
            <a:ext cx="155376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Publication officielle dans un journal scientifique, 8 ans plus tard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3"/>
          <p:cNvSpPr/>
          <p:nvPr/>
        </p:nvSpPr>
        <p:spPr>
          <a:xfrm>
            <a:off x="5789880" y="2258640"/>
            <a:ext cx="236880" cy="236880"/>
          </a:xfrm>
          <a:prstGeom prst="ellipse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4"/>
          <p:cNvSpPr/>
          <p:nvPr/>
        </p:nvSpPr>
        <p:spPr>
          <a:xfrm>
            <a:off x="5360040" y="1828800"/>
            <a:ext cx="1096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565C0"/>
                </a:solidFill>
                <a:effectLst/>
                <a:uFillTx/>
                <a:latin typeface="Calibri"/>
                <a:ea typeface="Calibri"/>
              </a:rPr>
              <a:t>2001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5"/>
          <p:cNvSpPr/>
          <p:nvPr/>
        </p:nvSpPr>
        <p:spPr>
          <a:xfrm>
            <a:off x="5203440" y="2560320"/>
            <a:ext cx="155376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Publication de "Paxos Made Simple" pour rendre l'algo accessible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6"/>
          <p:cNvSpPr/>
          <p:nvPr/>
        </p:nvSpPr>
        <p:spPr>
          <a:xfrm>
            <a:off x="7625520" y="2258640"/>
            <a:ext cx="236880" cy="236880"/>
          </a:xfrm>
          <a:prstGeom prst="ellipse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7"/>
          <p:cNvSpPr/>
          <p:nvPr/>
        </p:nvSpPr>
        <p:spPr>
          <a:xfrm>
            <a:off x="7231680" y="1828800"/>
            <a:ext cx="1096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565C0"/>
                </a:solidFill>
                <a:effectLst/>
                <a:uFillTx/>
                <a:latin typeface="Calibri"/>
                <a:ea typeface="Calibri"/>
              </a:rPr>
              <a:t>2006+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8"/>
          <p:cNvSpPr/>
          <p:nvPr/>
        </p:nvSpPr>
        <p:spPr>
          <a:xfrm>
            <a:off x="6921720" y="2659680"/>
            <a:ext cx="155376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Adoption par Google (Chubby, Spanner), Amazon, Microsoft, Apache…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0" y="0"/>
            <a:ext cx="9143280" cy="9072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"/>
          <p:cNvSpPr/>
          <p:nvPr/>
        </p:nvSpPr>
        <p:spPr>
          <a:xfrm>
            <a:off x="0" y="5052240"/>
            <a:ext cx="9143280" cy="9072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457200" y="1645920"/>
            <a:ext cx="82288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3. Consensus distribué</a:t>
            </a:r>
            <a:endParaRPr lang="fr-F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274320" y="45720"/>
            <a:ext cx="8594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Les trois propriétés du consensus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0" y="685800"/>
            <a:ext cx="72360" cy="445716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228600" y="914400"/>
            <a:ext cx="2742480" cy="347400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4"/>
          <p:cNvSpPr/>
          <p:nvPr/>
        </p:nvSpPr>
        <p:spPr>
          <a:xfrm>
            <a:off x="228600" y="1005840"/>
            <a:ext cx="2742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✅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228600" y="1691640"/>
            <a:ext cx="2742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C107"/>
                </a:solidFill>
                <a:effectLst/>
                <a:uFillTx/>
                <a:latin typeface="Calibri"/>
                <a:ea typeface="Calibri"/>
              </a:rPr>
              <a:t>Agreement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365760" y="2194560"/>
            <a:ext cx="24681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Tous les nœuds sains convergent vers la même valeur — pas de divergence possible.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3200400" y="914400"/>
            <a:ext cx="2742480" cy="347400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3200400" y="1005840"/>
            <a:ext cx="2742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📋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3200400" y="1691640"/>
            <a:ext cx="2742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C107"/>
                </a:solidFill>
                <a:effectLst/>
                <a:uFillTx/>
                <a:latin typeface="Calibri"/>
                <a:ea typeface="Calibri"/>
              </a:rPr>
              <a:t>Validity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3337560" y="2194560"/>
            <a:ext cx="24681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 valeur choisie doit avoir été proposée par un nœud du système (pas inventée).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1"/>
          <p:cNvSpPr/>
          <p:nvPr/>
        </p:nvSpPr>
        <p:spPr>
          <a:xfrm>
            <a:off x="6172200" y="914400"/>
            <a:ext cx="2742480" cy="347400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2"/>
          <p:cNvSpPr/>
          <p:nvPr/>
        </p:nvSpPr>
        <p:spPr>
          <a:xfrm>
            <a:off x="6172200" y="1005840"/>
            <a:ext cx="2742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⚡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3"/>
          <p:cNvSpPr/>
          <p:nvPr/>
        </p:nvSpPr>
        <p:spPr>
          <a:xfrm>
            <a:off x="6172200" y="1691640"/>
            <a:ext cx="2742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C107"/>
                </a:solidFill>
                <a:effectLst/>
                <a:uFillTx/>
                <a:latin typeface="Calibri"/>
                <a:ea typeface="Calibri"/>
              </a:rPr>
              <a:t>Liveness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4"/>
          <p:cNvSpPr/>
          <p:nvPr/>
        </p:nvSpPr>
        <p:spPr>
          <a:xfrm>
            <a:off x="6309360" y="2194560"/>
            <a:ext cx="24681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 suffisamment de nœuds fonctionnent, une décision finira toujours par être prise.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5"/>
          <p:cNvSpPr/>
          <p:nvPr/>
        </p:nvSpPr>
        <p:spPr>
          <a:xfrm>
            <a:off x="182880" y="4663440"/>
            <a:ext cx="8777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0A4AE"/>
                </a:solidFill>
                <a:effectLst/>
                <a:uFillTx/>
                <a:latin typeface="Calibri"/>
                <a:ea typeface="Calibri"/>
              </a:rPr>
              <a:t>Hypothèses : réseau asynchrone · pannes crash seulement · pas de messages corrompus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0" y="0"/>
            <a:ext cx="9143280" cy="9072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"/>
          <p:cNvSpPr/>
          <p:nvPr/>
        </p:nvSpPr>
        <p:spPr>
          <a:xfrm>
            <a:off x="0" y="5052240"/>
            <a:ext cx="9143280" cy="9072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457200" y="1645920"/>
            <a:ext cx="82288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4. Les rôles dans Paxos</a:t>
            </a:r>
            <a:endParaRPr lang="fr-F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274320" y="45720"/>
            <a:ext cx="8594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Proposer · Acceptor · Learner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0" y="685800"/>
            <a:ext cx="72360" cy="445716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3"/>
          <p:cNvSpPr/>
          <p:nvPr/>
        </p:nvSpPr>
        <p:spPr>
          <a:xfrm>
            <a:off x="201240" y="822960"/>
            <a:ext cx="2742480" cy="45648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201240" y="822960"/>
            <a:ext cx="2742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Proposer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292680" y="1325880"/>
            <a:ext cx="255960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Propose une valeur à faire accepter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Choisit un numéro de proposition unique 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Initie le protocole (phase Prepare)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6"/>
          <p:cNvSpPr/>
          <p:nvPr/>
        </p:nvSpPr>
        <p:spPr>
          <a:xfrm>
            <a:off x="3173040" y="822960"/>
            <a:ext cx="2742480" cy="456480"/>
          </a:xfrm>
          <a:prstGeom prst="rect">
            <a:avLst/>
          </a:prstGeom>
          <a:solidFill>
            <a:srgbClr val="1B5E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7"/>
          <p:cNvSpPr/>
          <p:nvPr/>
        </p:nvSpPr>
        <p:spPr>
          <a:xfrm>
            <a:off x="3173040" y="822960"/>
            <a:ext cx="2742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Acceptor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8"/>
          <p:cNvSpPr/>
          <p:nvPr/>
        </p:nvSpPr>
        <p:spPr>
          <a:xfrm>
            <a:off x="3264480" y="1325880"/>
            <a:ext cx="255960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Vote sur les valeurs proposées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Maintient un état persistant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La majorité des acceptors garantit la cohérence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9"/>
          <p:cNvSpPr/>
          <p:nvPr/>
        </p:nvSpPr>
        <p:spPr>
          <a:xfrm>
            <a:off x="6144840" y="822960"/>
            <a:ext cx="2742480" cy="456480"/>
          </a:xfrm>
          <a:prstGeom prst="rect">
            <a:avLst/>
          </a:prstGeom>
          <a:solidFill>
            <a:srgbClr val="4A14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0"/>
          <p:cNvSpPr/>
          <p:nvPr/>
        </p:nvSpPr>
        <p:spPr>
          <a:xfrm>
            <a:off x="6144840" y="822960"/>
            <a:ext cx="2742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Learner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1"/>
          <p:cNvSpPr/>
          <p:nvPr/>
        </p:nvSpPr>
        <p:spPr>
          <a:xfrm>
            <a:off x="6236280" y="1325880"/>
            <a:ext cx="255960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Apprend la valeur choisie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Ne participe pas aux votes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Peut être plusieurs (répliques)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2"/>
          <p:cNvSpPr/>
          <p:nvPr/>
        </p:nvSpPr>
        <p:spPr>
          <a:xfrm>
            <a:off x="274320" y="43891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565C0"/>
                </a:solidFill>
                <a:effectLst/>
                <a:uFillTx/>
                <a:latin typeface="Calibri"/>
                <a:ea typeface="Calibri"/>
              </a:rPr>
              <a:t>⚠️ Un même nœud peut cumuler plusieurs rôles simultanément.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0" y="0"/>
            <a:ext cx="9143280" cy="9072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"/>
          <p:cNvSpPr/>
          <p:nvPr/>
        </p:nvSpPr>
        <p:spPr>
          <a:xfrm>
            <a:off x="0" y="5052240"/>
            <a:ext cx="9143280" cy="9072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"/>
          <p:cNvSpPr/>
          <p:nvPr/>
        </p:nvSpPr>
        <p:spPr>
          <a:xfrm>
            <a:off x="457200" y="1645920"/>
            <a:ext cx="82288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5. Les phases de l'algorithme</a:t>
            </a:r>
            <a:endParaRPr lang="fr-F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"/>
          <p:cNvSpPr/>
          <p:nvPr/>
        </p:nvSpPr>
        <p:spPr>
          <a:xfrm>
            <a:off x="274320" y="45720"/>
            <a:ext cx="8594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Phase 1 — Prepare / Promise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"/>
          <p:cNvSpPr/>
          <p:nvPr/>
        </p:nvSpPr>
        <p:spPr>
          <a:xfrm>
            <a:off x="0" y="685800"/>
            <a:ext cx="72360" cy="445716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3"/>
          <p:cNvSpPr/>
          <p:nvPr/>
        </p:nvSpPr>
        <p:spPr>
          <a:xfrm>
            <a:off x="228600" y="777240"/>
            <a:ext cx="4114080" cy="41076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4"/>
          <p:cNvSpPr/>
          <p:nvPr/>
        </p:nvSpPr>
        <p:spPr>
          <a:xfrm>
            <a:off x="228600" y="777240"/>
            <a:ext cx="4114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1a. Proposer → Prepare(n)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5"/>
          <p:cNvSpPr/>
          <p:nvPr/>
        </p:nvSpPr>
        <p:spPr>
          <a:xfrm>
            <a:off x="228600" y="1234440"/>
            <a:ext cx="41140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Choisit n, numéro unique et supérieur à tout vu précédemment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Envoie Prepare(n) à une majorité d'acceptors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Objectif : obtenir des promesses avant de proposer une valeur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6"/>
          <p:cNvSpPr/>
          <p:nvPr/>
        </p:nvSpPr>
        <p:spPr>
          <a:xfrm>
            <a:off x="4800600" y="777240"/>
            <a:ext cx="4114080" cy="410760"/>
          </a:xfrm>
          <a:prstGeom prst="rect">
            <a:avLst/>
          </a:prstGeom>
          <a:solidFill>
            <a:srgbClr val="1B5E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7"/>
          <p:cNvSpPr/>
          <p:nvPr/>
        </p:nvSpPr>
        <p:spPr>
          <a:xfrm>
            <a:off x="4800600" y="777240"/>
            <a:ext cx="4114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1b. Acceptor → Promise(n, val?)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8"/>
          <p:cNvSpPr/>
          <p:nvPr/>
        </p:nvSpPr>
        <p:spPr>
          <a:xfrm>
            <a:off x="4800600" y="1234440"/>
            <a:ext cx="41140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Si n est le plus grand numéro vu : promet de ne plus accepter de proposition &lt; n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Renvoie la valeur déjà acceptée (si elle existe)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Sinon : ignore la demande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9"/>
          <p:cNvSpPr/>
          <p:nvPr/>
        </p:nvSpPr>
        <p:spPr>
          <a:xfrm>
            <a:off x="228600" y="3429000"/>
            <a:ext cx="8686080" cy="137088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0"/>
          <p:cNvSpPr/>
          <p:nvPr/>
        </p:nvSpPr>
        <p:spPr>
          <a:xfrm>
            <a:off x="365760" y="3493080"/>
            <a:ext cx="841176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C107"/>
                </a:solidFill>
                <a:effectLst/>
                <a:uFillTx/>
                <a:latin typeface="Calibri"/>
                <a:ea typeface="Calibri"/>
              </a:rPr>
              <a:t>💡 Objectif de la phase 1 : s'assurer qu'aucune ancienne décision ne sera ignorée.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C107"/>
                </a:solidFill>
                <a:effectLst/>
                <a:uFillTx/>
                <a:latin typeface="Calibri"/>
                <a:ea typeface="Calibri"/>
              </a:rPr>
              <a:t>Si une valeur v a déjà été acceptée, le proposer doit s'y conformer.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274320" y="45720"/>
            <a:ext cx="8594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Phase 2 — Accept / Accepted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"/>
          <p:cNvSpPr/>
          <p:nvPr/>
        </p:nvSpPr>
        <p:spPr>
          <a:xfrm>
            <a:off x="0" y="685800"/>
            <a:ext cx="72360" cy="445716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3"/>
          <p:cNvSpPr/>
          <p:nvPr/>
        </p:nvSpPr>
        <p:spPr>
          <a:xfrm>
            <a:off x="228600" y="777240"/>
            <a:ext cx="4114080" cy="41076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228600" y="777240"/>
            <a:ext cx="4114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2a. Proposer → Accept(n, v)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228600" y="1234440"/>
            <a:ext cx="41140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Si majorité de promesses reçues :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v = valeur déjà acceptée avec le plus grand n (si elle existe)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Sinon v = sa propre valeur proposée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Envoie Accept(n, v) à tous les acceptors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6"/>
          <p:cNvSpPr/>
          <p:nvPr/>
        </p:nvSpPr>
        <p:spPr>
          <a:xfrm>
            <a:off x="4800600" y="777240"/>
            <a:ext cx="4114080" cy="410760"/>
          </a:xfrm>
          <a:prstGeom prst="rect">
            <a:avLst/>
          </a:prstGeom>
          <a:solidFill>
            <a:srgbClr val="1B5E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4800600" y="777240"/>
            <a:ext cx="4114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2b. Acceptor → Accepted / Refus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4800600" y="1234440"/>
            <a:ext cx="41140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Accepte si n est toujours le plus grand numéro promis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Notifie les learners de l'acceptation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37E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Refuse et ignore si un Prepare(n') avec n' &gt; n est arrivé entre-temps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9"/>
          <p:cNvSpPr/>
          <p:nvPr/>
        </p:nvSpPr>
        <p:spPr>
          <a:xfrm>
            <a:off x="228600" y="3429000"/>
            <a:ext cx="8686080" cy="137088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365760" y="3493080"/>
            <a:ext cx="841176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C107"/>
                </a:solidFill>
                <a:effectLst/>
                <a:uFillTx/>
                <a:latin typeface="Calibri"/>
                <a:ea typeface="Calibri"/>
              </a:rPr>
              <a:t>💡 Le consensus est atteint quand une majorité d'acceptors accepte la même valeur v.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C107"/>
                </a:solidFill>
                <a:effectLst/>
                <a:uFillTx/>
                <a:latin typeface="Calibri"/>
                <a:ea typeface="Calibri"/>
              </a:rPr>
              <a:t>Les learners sont alors informés → phase Learn terminée.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274320" y="45720"/>
            <a:ext cx="8594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Schéma de séquence — Vue globale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"/>
          <p:cNvSpPr/>
          <p:nvPr/>
        </p:nvSpPr>
        <p:spPr>
          <a:xfrm>
            <a:off x="0" y="685800"/>
            <a:ext cx="72360" cy="445716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"/>
          <p:cNvSpPr/>
          <p:nvPr/>
        </p:nvSpPr>
        <p:spPr>
          <a:xfrm>
            <a:off x="274320" y="777240"/>
            <a:ext cx="1279440" cy="36504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"/>
          <p:cNvSpPr/>
          <p:nvPr/>
        </p:nvSpPr>
        <p:spPr>
          <a:xfrm>
            <a:off x="274320" y="777240"/>
            <a:ext cx="1279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Proposer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5"/>
          <p:cNvSpPr/>
          <p:nvPr/>
        </p:nvSpPr>
        <p:spPr>
          <a:xfrm>
            <a:off x="914400" y="1143000"/>
            <a:ext cx="360" cy="3657600"/>
          </a:xfrm>
          <a:prstGeom prst="line">
            <a:avLst/>
          </a:prstGeom>
          <a:ln w="12700">
            <a:solidFill>
              <a:srgbClr val="90A4A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6"/>
          <p:cNvSpPr/>
          <p:nvPr/>
        </p:nvSpPr>
        <p:spPr>
          <a:xfrm>
            <a:off x="2103120" y="777240"/>
            <a:ext cx="1279440" cy="36504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2103120" y="777240"/>
            <a:ext cx="1279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Acceptor 1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8"/>
          <p:cNvSpPr/>
          <p:nvPr/>
        </p:nvSpPr>
        <p:spPr>
          <a:xfrm>
            <a:off x="2743200" y="1143000"/>
            <a:ext cx="360" cy="3657600"/>
          </a:xfrm>
          <a:prstGeom prst="line">
            <a:avLst/>
          </a:prstGeom>
          <a:ln w="12700">
            <a:solidFill>
              <a:srgbClr val="90A4A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9"/>
          <p:cNvSpPr/>
          <p:nvPr/>
        </p:nvSpPr>
        <p:spPr>
          <a:xfrm>
            <a:off x="3931920" y="777240"/>
            <a:ext cx="1279440" cy="36504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3931920" y="777240"/>
            <a:ext cx="1279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Acceptor 2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1"/>
          <p:cNvSpPr/>
          <p:nvPr/>
        </p:nvSpPr>
        <p:spPr>
          <a:xfrm>
            <a:off x="4572000" y="1143000"/>
            <a:ext cx="360" cy="3657600"/>
          </a:xfrm>
          <a:prstGeom prst="line">
            <a:avLst/>
          </a:prstGeom>
          <a:ln w="12700">
            <a:solidFill>
              <a:srgbClr val="90A4A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2"/>
          <p:cNvSpPr/>
          <p:nvPr/>
        </p:nvSpPr>
        <p:spPr>
          <a:xfrm>
            <a:off x="5760720" y="777240"/>
            <a:ext cx="1279440" cy="36504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3"/>
          <p:cNvSpPr/>
          <p:nvPr/>
        </p:nvSpPr>
        <p:spPr>
          <a:xfrm>
            <a:off x="5760720" y="777240"/>
            <a:ext cx="1279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Acceptor 3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4"/>
          <p:cNvSpPr/>
          <p:nvPr/>
        </p:nvSpPr>
        <p:spPr>
          <a:xfrm>
            <a:off x="6400800" y="1143000"/>
            <a:ext cx="360" cy="3657600"/>
          </a:xfrm>
          <a:prstGeom prst="line">
            <a:avLst/>
          </a:prstGeom>
          <a:ln w="12700">
            <a:solidFill>
              <a:srgbClr val="90A4A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5"/>
          <p:cNvSpPr/>
          <p:nvPr/>
        </p:nvSpPr>
        <p:spPr>
          <a:xfrm>
            <a:off x="7589520" y="777240"/>
            <a:ext cx="1279440" cy="36504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6"/>
          <p:cNvSpPr/>
          <p:nvPr/>
        </p:nvSpPr>
        <p:spPr>
          <a:xfrm>
            <a:off x="7589520" y="777240"/>
            <a:ext cx="1279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Learner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7"/>
          <p:cNvSpPr/>
          <p:nvPr/>
        </p:nvSpPr>
        <p:spPr>
          <a:xfrm>
            <a:off x="8229600" y="1143000"/>
            <a:ext cx="360" cy="3657600"/>
          </a:xfrm>
          <a:prstGeom prst="line">
            <a:avLst/>
          </a:prstGeom>
          <a:ln w="12700">
            <a:solidFill>
              <a:srgbClr val="90A4A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8"/>
          <p:cNvSpPr/>
          <p:nvPr/>
        </p:nvSpPr>
        <p:spPr>
          <a:xfrm>
            <a:off x="45720" y="123444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565C0"/>
                </a:solidFill>
                <a:effectLst/>
                <a:uFillTx/>
                <a:latin typeface="Calibri"/>
                <a:ea typeface="Calibri"/>
              </a:rPr>
              <a:t>Phase 1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9"/>
          <p:cNvSpPr/>
          <p:nvPr/>
        </p:nvSpPr>
        <p:spPr>
          <a:xfrm>
            <a:off x="914400" y="1417320"/>
            <a:ext cx="1828800" cy="360"/>
          </a:xfrm>
          <a:prstGeom prst="line">
            <a:avLst/>
          </a:prstGeom>
          <a:ln w="1905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0"/>
          <p:cNvSpPr/>
          <p:nvPr/>
        </p:nvSpPr>
        <p:spPr>
          <a:xfrm>
            <a:off x="2606040" y="1343880"/>
            <a:ext cx="137160" cy="73440"/>
          </a:xfrm>
          <a:prstGeom prst="line">
            <a:avLst/>
          </a:prstGeom>
          <a:ln w="1905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28440" rIns="68400" bIns="284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1"/>
          <p:cNvSpPr/>
          <p:nvPr/>
        </p:nvSpPr>
        <p:spPr>
          <a:xfrm flipV="1">
            <a:off x="2606040" y="1417320"/>
            <a:ext cx="137160" cy="73080"/>
          </a:xfrm>
          <a:prstGeom prst="line">
            <a:avLst/>
          </a:prstGeom>
          <a:ln w="1905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28080" rIns="68400" bIns="2808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2"/>
          <p:cNvSpPr/>
          <p:nvPr/>
        </p:nvSpPr>
        <p:spPr>
          <a:xfrm>
            <a:off x="1280160" y="1161360"/>
            <a:ext cx="1096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565C0"/>
                </a:solidFill>
                <a:effectLst/>
                <a:uFillTx/>
                <a:latin typeface="Calibri"/>
                <a:ea typeface="Calibri"/>
              </a:rPr>
              <a:t>Prepare(n)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3"/>
          <p:cNvSpPr/>
          <p:nvPr/>
        </p:nvSpPr>
        <p:spPr>
          <a:xfrm>
            <a:off x="914400" y="1645920"/>
            <a:ext cx="3657600" cy="360"/>
          </a:xfrm>
          <a:prstGeom prst="line">
            <a:avLst/>
          </a:prstGeom>
          <a:ln w="1905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24"/>
          <p:cNvSpPr/>
          <p:nvPr/>
        </p:nvSpPr>
        <p:spPr>
          <a:xfrm>
            <a:off x="4434840" y="1572480"/>
            <a:ext cx="137160" cy="73440"/>
          </a:xfrm>
          <a:prstGeom prst="line">
            <a:avLst/>
          </a:prstGeom>
          <a:ln w="1905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28440" rIns="68400" bIns="284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5"/>
          <p:cNvSpPr/>
          <p:nvPr/>
        </p:nvSpPr>
        <p:spPr>
          <a:xfrm flipV="1">
            <a:off x="4434840" y="1645920"/>
            <a:ext cx="137160" cy="73080"/>
          </a:xfrm>
          <a:prstGeom prst="line">
            <a:avLst/>
          </a:prstGeom>
          <a:ln w="1905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28080" rIns="68400" bIns="2808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6"/>
          <p:cNvSpPr/>
          <p:nvPr/>
        </p:nvSpPr>
        <p:spPr>
          <a:xfrm>
            <a:off x="2194560" y="1389960"/>
            <a:ext cx="1096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565C0"/>
                </a:solidFill>
                <a:effectLst/>
                <a:uFillTx/>
                <a:latin typeface="Calibri"/>
                <a:ea typeface="Calibri"/>
              </a:rPr>
              <a:t>Prepare(n)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7"/>
          <p:cNvSpPr/>
          <p:nvPr/>
        </p:nvSpPr>
        <p:spPr>
          <a:xfrm>
            <a:off x="914400" y="1874520"/>
            <a:ext cx="5486400" cy="360"/>
          </a:xfrm>
          <a:prstGeom prst="line">
            <a:avLst/>
          </a:prstGeom>
          <a:ln w="1905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28"/>
          <p:cNvSpPr/>
          <p:nvPr/>
        </p:nvSpPr>
        <p:spPr>
          <a:xfrm>
            <a:off x="6263640" y="1801080"/>
            <a:ext cx="137160" cy="73440"/>
          </a:xfrm>
          <a:prstGeom prst="line">
            <a:avLst/>
          </a:prstGeom>
          <a:ln w="1905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28440" rIns="68400" bIns="284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29"/>
          <p:cNvSpPr/>
          <p:nvPr/>
        </p:nvSpPr>
        <p:spPr>
          <a:xfrm flipV="1">
            <a:off x="6263640" y="1874520"/>
            <a:ext cx="137160" cy="73080"/>
          </a:xfrm>
          <a:prstGeom prst="line">
            <a:avLst/>
          </a:prstGeom>
          <a:ln w="1905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28080" rIns="68400" bIns="2808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0"/>
          <p:cNvSpPr/>
          <p:nvPr/>
        </p:nvSpPr>
        <p:spPr>
          <a:xfrm>
            <a:off x="3108960" y="1618560"/>
            <a:ext cx="1096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565C0"/>
                </a:solidFill>
                <a:effectLst/>
                <a:uFillTx/>
                <a:latin typeface="Calibri"/>
                <a:ea typeface="Calibri"/>
              </a:rPr>
              <a:t>Prepare(n)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1"/>
          <p:cNvSpPr/>
          <p:nvPr/>
        </p:nvSpPr>
        <p:spPr>
          <a:xfrm>
            <a:off x="914400" y="2240280"/>
            <a:ext cx="1828800" cy="360"/>
          </a:xfrm>
          <a:prstGeom prst="line">
            <a:avLst/>
          </a:prstGeom>
          <a:ln w="19050">
            <a:solidFill>
              <a:srgbClr val="1B5E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32"/>
          <p:cNvSpPr/>
          <p:nvPr/>
        </p:nvSpPr>
        <p:spPr>
          <a:xfrm flipH="1">
            <a:off x="914400" y="2166840"/>
            <a:ext cx="137160" cy="73440"/>
          </a:xfrm>
          <a:prstGeom prst="line">
            <a:avLst/>
          </a:prstGeom>
          <a:ln w="19050">
            <a:solidFill>
              <a:srgbClr val="1B5E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28440" rIns="68400" bIns="284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33"/>
          <p:cNvSpPr/>
          <p:nvPr/>
        </p:nvSpPr>
        <p:spPr>
          <a:xfrm flipH="1" flipV="1">
            <a:off x="914400" y="2240280"/>
            <a:ext cx="137160" cy="73080"/>
          </a:xfrm>
          <a:prstGeom prst="line">
            <a:avLst/>
          </a:prstGeom>
          <a:ln w="19050">
            <a:solidFill>
              <a:srgbClr val="1B5E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28080" rIns="68400" bIns="2808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4"/>
          <p:cNvSpPr/>
          <p:nvPr/>
        </p:nvSpPr>
        <p:spPr>
          <a:xfrm>
            <a:off x="1280160" y="1984320"/>
            <a:ext cx="1096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5E20"/>
                </a:solidFill>
                <a:effectLst/>
                <a:uFillTx/>
                <a:latin typeface="Calibri"/>
                <a:ea typeface="Calibri"/>
              </a:rPr>
              <a:t>Promise(n)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35"/>
          <p:cNvSpPr/>
          <p:nvPr/>
        </p:nvSpPr>
        <p:spPr>
          <a:xfrm>
            <a:off x="914400" y="2468880"/>
            <a:ext cx="3657600" cy="360"/>
          </a:xfrm>
          <a:prstGeom prst="line">
            <a:avLst/>
          </a:prstGeom>
          <a:ln w="19050">
            <a:solidFill>
              <a:srgbClr val="1B5E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6"/>
          <p:cNvSpPr/>
          <p:nvPr/>
        </p:nvSpPr>
        <p:spPr>
          <a:xfrm flipH="1">
            <a:off x="914400" y="2395440"/>
            <a:ext cx="137160" cy="73440"/>
          </a:xfrm>
          <a:prstGeom prst="line">
            <a:avLst/>
          </a:prstGeom>
          <a:ln w="19050">
            <a:solidFill>
              <a:srgbClr val="1B5E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28440" rIns="68400" bIns="284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37"/>
          <p:cNvSpPr/>
          <p:nvPr/>
        </p:nvSpPr>
        <p:spPr>
          <a:xfrm flipH="1" flipV="1">
            <a:off x="914400" y="2468880"/>
            <a:ext cx="137160" cy="73080"/>
          </a:xfrm>
          <a:prstGeom prst="line">
            <a:avLst/>
          </a:prstGeom>
          <a:ln w="19050">
            <a:solidFill>
              <a:srgbClr val="1B5E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28080" rIns="68400" bIns="2808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38"/>
          <p:cNvSpPr/>
          <p:nvPr/>
        </p:nvSpPr>
        <p:spPr>
          <a:xfrm>
            <a:off x="2194560" y="2212920"/>
            <a:ext cx="1096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5E20"/>
                </a:solidFill>
                <a:effectLst/>
                <a:uFillTx/>
                <a:latin typeface="Calibri"/>
                <a:ea typeface="Calibri"/>
              </a:rPr>
              <a:t>Promise(n)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39"/>
          <p:cNvSpPr/>
          <p:nvPr/>
        </p:nvSpPr>
        <p:spPr>
          <a:xfrm>
            <a:off x="914400" y="2697480"/>
            <a:ext cx="5486400" cy="360"/>
          </a:xfrm>
          <a:prstGeom prst="line">
            <a:avLst/>
          </a:prstGeom>
          <a:ln w="19050">
            <a:solidFill>
              <a:srgbClr val="1B5E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40"/>
          <p:cNvSpPr/>
          <p:nvPr/>
        </p:nvSpPr>
        <p:spPr>
          <a:xfrm flipH="1">
            <a:off x="914400" y="2624040"/>
            <a:ext cx="137160" cy="73440"/>
          </a:xfrm>
          <a:prstGeom prst="line">
            <a:avLst/>
          </a:prstGeom>
          <a:ln w="19050">
            <a:solidFill>
              <a:srgbClr val="1B5E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28440" rIns="68400" bIns="284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41"/>
          <p:cNvSpPr/>
          <p:nvPr/>
        </p:nvSpPr>
        <p:spPr>
          <a:xfrm flipH="1" flipV="1">
            <a:off x="914400" y="2697480"/>
            <a:ext cx="137160" cy="73080"/>
          </a:xfrm>
          <a:prstGeom prst="line">
            <a:avLst/>
          </a:prstGeom>
          <a:ln w="19050">
            <a:solidFill>
              <a:srgbClr val="1B5E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28080" rIns="68400" bIns="2808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2"/>
          <p:cNvSpPr/>
          <p:nvPr/>
        </p:nvSpPr>
        <p:spPr>
          <a:xfrm>
            <a:off x="3108960" y="2441520"/>
            <a:ext cx="1096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5E20"/>
                </a:solidFill>
                <a:effectLst/>
                <a:uFillTx/>
                <a:latin typeface="Calibri"/>
                <a:ea typeface="Calibri"/>
              </a:rPr>
              <a:t>Promise(n)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43"/>
          <p:cNvSpPr/>
          <p:nvPr/>
        </p:nvSpPr>
        <p:spPr>
          <a:xfrm>
            <a:off x="45720" y="283464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565C0"/>
                </a:solidFill>
                <a:effectLst/>
                <a:uFillTx/>
                <a:latin typeface="Calibri"/>
                <a:ea typeface="Calibri"/>
              </a:rPr>
              <a:t>Phase 2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44"/>
          <p:cNvSpPr/>
          <p:nvPr/>
        </p:nvSpPr>
        <p:spPr>
          <a:xfrm>
            <a:off x="914400" y="3063240"/>
            <a:ext cx="1828800" cy="360"/>
          </a:xfrm>
          <a:prstGeom prst="line">
            <a:avLst/>
          </a:prstGeom>
          <a:ln w="1905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45"/>
          <p:cNvSpPr/>
          <p:nvPr/>
        </p:nvSpPr>
        <p:spPr>
          <a:xfrm>
            <a:off x="2606040" y="2989800"/>
            <a:ext cx="137160" cy="73440"/>
          </a:xfrm>
          <a:prstGeom prst="line">
            <a:avLst/>
          </a:prstGeom>
          <a:ln w="1905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28440" rIns="68400" bIns="284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46"/>
          <p:cNvSpPr/>
          <p:nvPr/>
        </p:nvSpPr>
        <p:spPr>
          <a:xfrm flipV="1">
            <a:off x="2606040" y="3063240"/>
            <a:ext cx="137160" cy="73080"/>
          </a:xfrm>
          <a:prstGeom prst="line">
            <a:avLst/>
          </a:prstGeom>
          <a:ln w="1905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28080" rIns="68400" bIns="2808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47"/>
          <p:cNvSpPr/>
          <p:nvPr/>
        </p:nvSpPr>
        <p:spPr>
          <a:xfrm>
            <a:off x="1280160" y="2807280"/>
            <a:ext cx="1096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196F3"/>
                </a:solidFill>
                <a:effectLst/>
                <a:uFillTx/>
                <a:latin typeface="Calibri"/>
                <a:ea typeface="Calibri"/>
              </a:rPr>
              <a:t>Accept(n,v)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48"/>
          <p:cNvSpPr/>
          <p:nvPr/>
        </p:nvSpPr>
        <p:spPr>
          <a:xfrm>
            <a:off x="914400" y="3291840"/>
            <a:ext cx="3657600" cy="360"/>
          </a:xfrm>
          <a:prstGeom prst="line">
            <a:avLst/>
          </a:prstGeom>
          <a:ln w="1905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49"/>
          <p:cNvSpPr/>
          <p:nvPr/>
        </p:nvSpPr>
        <p:spPr>
          <a:xfrm>
            <a:off x="4434840" y="3218400"/>
            <a:ext cx="137160" cy="73440"/>
          </a:xfrm>
          <a:prstGeom prst="line">
            <a:avLst/>
          </a:prstGeom>
          <a:ln w="1905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28440" rIns="68400" bIns="284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50"/>
          <p:cNvSpPr/>
          <p:nvPr/>
        </p:nvSpPr>
        <p:spPr>
          <a:xfrm flipV="1">
            <a:off x="4434840" y="3291840"/>
            <a:ext cx="137160" cy="73080"/>
          </a:xfrm>
          <a:prstGeom prst="line">
            <a:avLst/>
          </a:prstGeom>
          <a:ln w="1905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28080" rIns="68400" bIns="2808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51"/>
          <p:cNvSpPr/>
          <p:nvPr/>
        </p:nvSpPr>
        <p:spPr>
          <a:xfrm>
            <a:off x="2194560" y="3035880"/>
            <a:ext cx="1096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196F3"/>
                </a:solidFill>
                <a:effectLst/>
                <a:uFillTx/>
                <a:latin typeface="Calibri"/>
                <a:ea typeface="Calibri"/>
              </a:rPr>
              <a:t>Accept(n,v)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52"/>
          <p:cNvSpPr/>
          <p:nvPr/>
        </p:nvSpPr>
        <p:spPr>
          <a:xfrm>
            <a:off x="914400" y="3520440"/>
            <a:ext cx="5486400" cy="360"/>
          </a:xfrm>
          <a:prstGeom prst="line">
            <a:avLst/>
          </a:prstGeom>
          <a:ln w="1905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53"/>
          <p:cNvSpPr/>
          <p:nvPr/>
        </p:nvSpPr>
        <p:spPr>
          <a:xfrm>
            <a:off x="6263640" y="3447000"/>
            <a:ext cx="137160" cy="73440"/>
          </a:xfrm>
          <a:prstGeom prst="line">
            <a:avLst/>
          </a:prstGeom>
          <a:ln w="1905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28440" rIns="68400" bIns="284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54"/>
          <p:cNvSpPr/>
          <p:nvPr/>
        </p:nvSpPr>
        <p:spPr>
          <a:xfrm flipV="1">
            <a:off x="6263640" y="3520440"/>
            <a:ext cx="137160" cy="73080"/>
          </a:xfrm>
          <a:prstGeom prst="line">
            <a:avLst/>
          </a:prstGeom>
          <a:ln w="1905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28080" rIns="68400" bIns="2808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55"/>
          <p:cNvSpPr/>
          <p:nvPr/>
        </p:nvSpPr>
        <p:spPr>
          <a:xfrm>
            <a:off x="3108960" y="3264480"/>
            <a:ext cx="1096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196F3"/>
                </a:solidFill>
                <a:effectLst/>
                <a:uFillTx/>
                <a:latin typeface="Calibri"/>
                <a:ea typeface="Calibri"/>
              </a:rPr>
              <a:t>Accept(n,v)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56"/>
          <p:cNvSpPr/>
          <p:nvPr/>
        </p:nvSpPr>
        <p:spPr>
          <a:xfrm>
            <a:off x="45720" y="3840480"/>
            <a:ext cx="639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C107"/>
                </a:solidFill>
                <a:effectLst/>
                <a:uFillTx/>
                <a:latin typeface="Calibri"/>
                <a:ea typeface="Calibri"/>
              </a:rPr>
              <a:t>Learn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57"/>
          <p:cNvSpPr/>
          <p:nvPr/>
        </p:nvSpPr>
        <p:spPr>
          <a:xfrm>
            <a:off x="2743200" y="4023360"/>
            <a:ext cx="5486400" cy="360"/>
          </a:xfrm>
          <a:prstGeom prst="line">
            <a:avLst/>
          </a:prstGeom>
          <a:ln w="19050">
            <a:solidFill>
              <a:srgbClr val="FFC10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58"/>
          <p:cNvSpPr/>
          <p:nvPr/>
        </p:nvSpPr>
        <p:spPr>
          <a:xfrm>
            <a:off x="8092440" y="3949920"/>
            <a:ext cx="137160" cy="73440"/>
          </a:xfrm>
          <a:prstGeom prst="line">
            <a:avLst/>
          </a:prstGeom>
          <a:ln w="19050">
            <a:solidFill>
              <a:srgbClr val="FFC10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28440" rIns="68400" bIns="284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59"/>
          <p:cNvSpPr/>
          <p:nvPr/>
        </p:nvSpPr>
        <p:spPr>
          <a:xfrm flipV="1">
            <a:off x="8092440" y="4023360"/>
            <a:ext cx="137160" cy="73080"/>
          </a:xfrm>
          <a:prstGeom prst="line">
            <a:avLst/>
          </a:prstGeom>
          <a:ln w="19050">
            <a:solidFill>
              <a:srgbClr val="FFC10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28080" rIns="68400" bIns="2808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60"/>
          <p:cNvSpPr/>
          <p:nvPr/>
        </p:nvSpPr>
        <p:spPr>
          <a:xfrm>
            <a:off x="4937760" y="3767400"/>
            <a:ext cx="1096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C107"/>
                </a:solidFill>
                <a:effectLst/>
                <a:uFillTx/>
                <a:latin typeface="Calibri"/>
                <a:ea typeface="Calibri"/>
              </a:rPr>
              <a:t>Accepted(v)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61"/>
          <p:cNvSpPr/>
          <p:nvPr/>
        </p:nvSpPr>
        <p:spPr>
          <a:xfrm>
            <a:off x="4572000" y="4206240"/>
            <a:ext cx="3657600" cy="360"/>
          </a:xfrm>
          <a:prstGeom prst="line">
            <a:avLst/>
          </a:prstGeom>
          <a:ln w="19050">
            <a:solidFill>
              <a:srgbClr val="FFC10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62"/>
          <p:cNvSpPr/>
          <p:nvPr/>
        </p:nvSpPr>
        <p:spPr>
          <a:xfrm>
            <a:off x="8092440" y="4132800"/>
            <a:ext cx="137160" cy="73440"/>
          </a:xfrm>
          <a:prstGeom prst="line">
            <a:avLst/>
          </a:prstGeom>
          <a:ln w="19050">
            <a:solidFill>
              <a:srgbClr val="FFC10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28440" rIns="68400" bIns="284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63"/>
          <p:cNvSpPr/>
          <p:nvPr/>
        </p:nvSpPr>
        <p:spPr>
          <a:xfrm flipV="1">
            <a:off x="8092440" y="4206240"/>
            <a:ext cx="137160" cy="73080"/>
          </a:xfrm>
          <a:prstGeom prst="line">
            <a:avLst/>
          </a:prstGeom>
          <a:ln w="19050">
            <a:solidFill>
              <a:srgbClr val="FFC10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28080" rIns="68400" bIns="2808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64"/>
          <p:cNvSpPr/>
          <p:nvPr/>
        </p:nvSpPr>
        <p:spPr>
          <a:xfrm>
            <a:off x="5852160" y="3950280"/>
            <a:ext cx="1096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C107"/>
                </a:solidFill>
                <a:effectLst/>
                <a:uFillTx/>
                <a:latin typeface="Calibri"/>
                <a:ea typeface="Calibri"/>
              </a:rPr>
              <a:t>Accepted(v)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0"/>
          <p:cNvSpPr/>
          <p:nvPr/>
        </p:nvSpPr>
        <p:spPr>
          <a:xfrm>
            <a:off x="0" y="0"/>
            <a:ext cx="9143280" cy="9072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"/>
          <p:cNvSpPr/>
          <p:nvPr/>
        </p:nvSpPr>
        <p:spPr>
          <a:xfrm>
            <a:off x="0" y="5052240"/>
            <a:ext cx="9143280" cy="9072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"/>
          <p:cNvSpPr/>
          <p:nvPr/>
        </p:nvSpPr>
        <p:spPr>
          <a:xfrm>
            <a:off x="457200" y="1645920"/>
            <a:ext cx="82288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6. Safety &amp; Liveness</a:t>
            </a:r>
            <a:endParaRPr lang="fr-F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"/>
          <p:cNvSpPr/>
          <p:nvPr/>
        </p:nvSpPr>
        <p:spPr>
          <a:xfrm>
            <a:off x="274320" y="45720"/>
            <a:ext cx="8594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Propriétés garanties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"/>
          <p:cNvSpPr/>
          <p:nvPr/>
        </p:nvSpPr>
        <p:spPr>
          <a:xfrm>
            <a:off x="0" y="685800"/>
            <a:ext cx="72360" cy="445716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3"/>
          <p:cNvSpPr/>
          <p:nvPr/>
        </p:nvSpPr>
        <p:spPr>
          <a:xfrm>
            <a:off x="274320" y="822960"/>
            <a:ext cx="3839760" cy="274248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4"/>
          <p:cNvSpPr/>
          <p:nvPr/>
        </p:nvSpPr>
        <p:spPr>
          <a:xfrm>
            <a:off x="274320" y="868680"/>
            <a:ext cx="3839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C107"/>
                </a:solidFill>
                <a:effectLst/>
                <a:uFillTx/>
                <a:latin typeface="Calibri"/>
                <a:ea typeface="Calibri"/>
              </a:rPr>
              <a:t>🔒 Safety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5"/>
          <p:cNvSpPr/>
          <p:nvPr/>
        </p:nvSpPr>
        <p:spPr>
          <a:xfrm>
            <a:off x="411480" y="1463040"/>
            <a:ext cx="356544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Une seule valeur choisie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 valeur doit avoir été proposée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Une valeur apprise est définitive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6"/>
          <p:cNvSpPr/>
          <p:nvPr/>
        </p:nvSpPr>
        <p:spPr>
          <a:xfrm>
            <a:off x="5029200" y="822960"/>
            <a:ext cx="3839760" cy="274248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7"/>
          <p:cNvSpPr/>
          <p:nvPr/>
        </p:nvSpPr>
        <p:spPr>
          <a:xfrm>
            <a:off x="5029200" y="868680"/>
            <a:ext cx="3839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196F3"/>
                </a:solidFill>
                <a:effectLst/>
                <a:uFillTx/>
                <a:latin typeface="Calibri"/>
                <a:ea typeface="Calibri"/>
              </a:rPr>
              <a:t>⚡ Liveness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8"/>
          <p:cNvSpPr/>
          <p:nvPr/>
        </p:nvSpPr>
        <p:spPr>
          <a:xfrm>
            <a:off x="5166360" y="1463040"/>
            <a:ext cx="356544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 majorité de nœuds actifs → décision garantie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Tolérance : N/2 pannes simultanées max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Livelock si 2 proposers en compétition → nécessite un leader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9"/>
          <p:cNvSpPr/>
          <p:nvPr/>
        </p:nvSpPr>
        <p:spPr>
          <a:xfrm>
            <a:off x="274320" y="3794760"/>
            <a:ext cx="8594640" cy="1096560"/>
          </a:xfrm>
          <a:prstGeom prst="rect">
            <a:avLst/>
          </a:prstGeom>
          <a:solidFill>
            <a:srgbClr val="B71C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0"/>
          <p:cNvSpPr/>
          <p:nvPr/>
        </p:nvSpPr>
        <p:spPr>
          <a:xfrm>
            <a:off x="411480" y="3858840"/>
            <a:ext cx="832032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⚠️ LIVELOCK : si deux proposers incrémentent n indéfiniment, aucun ne passe.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Solution → Multi-Paxos : élection d'un leader unique.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0"/>
          <p:cNvSpPr/>
          <p:nvPr/>
        </p:nvSpPr>
        <p:spPr>
          <a:xfrm>
            <a:off x="0" y="0"/>
            <a:ext cx="9143280" cy="9072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"/>
          <p:cNvSpPr/>
          <p:nvPr/>
        </p:nvSpPr>
        <p:spPr>
          <a:xfrm>
            <a:off x="0" y="5052240"/>
            <a:ext cx="9143280" cy="9072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"/>
          <p:cNvSpPr/>
          <p:nvPr/>
        </p:nvSpPr>
        <p:spPr>
          <a:xfrm>
            <a:off x="457200" y="1645920"/>
            <a:ext cx="82288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7. Variantes &amp; déploiements réels</a:t>
            </a:r>
            <a:endParaRPr lang="fr-F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"/>
          <p:cNvSpPr/>
          <p:nvPr/>
        </p:nvSpPr>
        <p:spPr>
          <a:xfrm>
            <a:off x="274320" y="45720"/>
            <a:ext cx="8594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Variantes de Paxos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"/>
          <p:cNvSpPr/>
          <p:nvPr/>
        </p:nvSpPr>
        <p:spPr>
          <a:xfrm>
            <a:off x="0" y="685800"/>
            <a:ext cx="72360" cy="445716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3"/>
          <p:cNvSpPr/>
          <p:nvPr/>
        </p:nvSpPr>
        <p:spPr>
          <a:xfrm>
            <a:off x="228600" y="914400"/>
            <a:ext cx="4205520" cy="114228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4"/>
          <p:cNvSpPr/>
          <p:nvPr/>
        </p:nvSpPr>
        <p:spPr>
          <a:xfrm>
            <a:off x="228600" y="914400"/>
            <a:ext cx="72360" cy="114228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5"/>
          <p:cNvSpPr/>
          <p:nvPr/>
        </p:nvSpPr>
        <p:spPr>
          <a:xfrm>
            <a:off x="411480" y="987480"/>
            <a:ext cx="393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96F3"/>
                </a:solidFill>
                <a:effectLst/>
                <a:uFillTx/>
                <a:latin typeface="Calibri"/>
                <a:ea typeface="Calibri"/>
              </a:rPr>
              <a:t>Classic Paxos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6"/>
          <p:cNvSpPr/>
          <p:nvPr/>
        </p:nvSpPr>
        <p:spPr>
          <a:xfrm>
            <a:off x="411480" y="1371600"/>
            <a:ext cx="39312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Version originale : Prepare → Promise → Accept → Learn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7"/>
          <p:cNvSpPr/>
          <p:nvPr/>
        </p:nvSpPr>
        <p:spPr>
          <a:xfrm>
            <a:off x="4663440" y="914400"/>
            <a:ext cx="4205520" cy="114228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8"/>
          <p:cNvSpPr/>
          <p:nvPr/>
        </p:nvSpPr>
        <p:spPr>
          <a:xfrm>
            <a:off x="4663440" y="914400"/>
            <a:ext cx="72360" cy="114228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9"/>
          <p:cNvSpPr/>
          <p:nvPr/>
        </p:nvSpPr>
        <p:spPr>
          <a:xfrm>
            <a:off x="4846320" y="987480"/>
            <a:ext cx="393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96F3"/>
                </a:solidFill>
                <a:effectLst/>
                <a:uFillTx/>
                <a:latin typeface="Calibri"/>
                <a:ea typeface="Calibri"/>
              </a:rPr>
              <a:t>Multi-Paxos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0"/>
          <p:cNvSpPr/>
          <p:nvPr/>
        </p:nvSpPr>
        <p:spPr>
          <a:xfrm>
            <a:off x="4846320" y="1371600"/>
            <a:ext cx="39312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Leader élu, phase Prepare supprimée pour les instances successives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1"/>
          <p:cNvSpPr/>
          <p:nvPr/>
        </p:nvSpPr>
        <p:spPr>
          <a:xfrm>
            <a:off x="228600" y="2194560"/>
            <a:ext cx="4205520" cy="114228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2"/>
          <p:cNvSpPr/>
          <p:nvPr/>
        </p:nvSpPr>
        <p:spPr>
          <a:xfrm>
            <a:off x="228600" y="2194560"/>
            <a:ext cx="72360" cy="114228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3"/>
          <p:cNvSpPr/>
          <p:nvPr/>
        </p:nvSpPr>
        <p:spPr>
          <a:xfrm>
            <a:off x="411480" y="2267640"/>
            <a:ext cx="393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96F3"/>
                </a:solidFill>
                <a:effectLst/>
                <a:uFillTx/>
                <a:latin typeface="Calibri"/>
                <a:ea typeface="Calibri"/>
              </a:rPr>
              <a:t>Fast Paxos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4"/>
          <p:cNvSpPr/>
          <p:nvPr/>
        </p:nvSpPr>
        <p:spPr>
          <a:xfrm>
            <a:off x="411480" y="2651760"/>
            <a:ext cx="39312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Proposers contactent directement les acceptors, moins de tours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5"/>
          <p:cNvSpPr/>
          <p:nvPr/>
        </p:nvSpPr>
        <p:spPr>
          <a:xfrm>
            <a:off x="4663440" y="2194560"/>
            <a:ext cx="4205520" cy="114228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6"/>
          <p:cNvSpPr/>
          <p:nvPr/>
        </p:nvSpPr>
        <p:spPr>
          <a:xfrm>
            <a:off x="4663440" y="2194560"/>
            <a:ext cx="72360" cy="114228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7"/>
          <p:cNvSpPr/>
          <p:nvPr/>
        </p:nvSpPr>
        <p:spPr>
          <a:xfrm>
            <a:off x="4846320" y="2267640"/>
            <a:ext cx="393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96F3"/>
                </a:solidFill>
                <a:effectLst/>
                <a:uFillTx/>
                <a:latin typeface="Calibri"/>
                <a:ea typeface="Calibri"/>
              </a:rPr>
              <a:t>Byzantine Paxos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8"/>
          <p:cNvSpPr/>
          <p:nvPr/>
        </p:nvSpPr>
        <p:spPr>
          <a:xfrm>
            <a:off x="4846320" y="2651760"/>
            <a:ext cx="39312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Supporte les nœuds qui mentent (fautes byzantines)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9"/>
          <p:cNvSpPr/>
          <p:nvPr/>
        </p:nvSpPr>
        <p:spPr>
          <a:xfrm>
            <a:off x="228600" y="3474720"/>
            <a:ext cx="4205520" cy="114228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20"/>
          <p:cNvSpPr/>
          <p:nvPr/>
        </p:nvSpPr>
        <p:spPr>
          <a:xfrm>
            <a:off x="228600" y="3474720"/>
            <a:ext cx="72360" cy="114228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1"/>
          <p:cNvSpPr/>
          <p:nvPr/>
        </p:nvSpPr>
        <p:spPr>
          <a:xfrm>
            <a:off x="411480" y="3547800"/>
            <a:ext cx="393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96F3"/>
                </a:solidFill>
                <a:effectLst/>
                <a:uFillTx/>
                <a:latin typeface="Calibri"/>
                <a:ea typeface="Calibri"/>
              </a:rPr>
              <a:t>Egalitarian Paxos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2"/>
          <p:cNvSpPr/>
          <p:nvPr/>
        </p:nvSpPr>
        <p:spPr>
          <a:xfrm>
            <a:off x="411480" y="3931920"/>
            <a:ext cx="39312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Tout nœud peut proposer sans leader central désigné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23"/>
          <p:cNvSpPr/>
          <p:nvPr/>
        </p:nvSpPr>
        <p:spPr>
          <a:xfrm>
            <a:off x="4663440" y="3474720"/>
            <a:ext cx="4205520" cy="114228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24"/>
          <p:cNvSpPr/>
          <p:nvPr/>
        </p:nvSpPr>
        <p:spPr>
          <a:xfrm>
            <a:off x="4663440" y="3474720"/>
            <a:ext cx="72360" cy="114228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5"/>
          <p:cNvSpPr/>
          <p:nvPr/>
        </p:nvSpPr>
        <p:spPr>
          <a:xfrm>
            <a:off x="4846320" y="3547800"/>
            <a:ext cx="393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96F3"/>
                </a:solidFill>
                <a:effectLst/>
                <a:uFillTx/>
                <a:latin typeface="Calibri"/>
                <a:ea typeface="Calibri"/>
              </a:rPr>
              <a:t>Cheap Paxos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6"/>
          <p:cNvSpPr/>
          <p:nvPr/>
        </p:nvSpPr>
        <p:spPr>
          <a:xfrm>
            <a:off x="4846320" y="3931920"/>
            <a:ext cx="39312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Réduit le nombre de nœuds actifs nécessaires à la majorité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"/>
          <p:cNvSpPr/>
          <p:nvPr/>
        </p:nvSpPr>
        <p:spPr>
          <a:xfrm>
            <a:off x="274320" y="45720"/>
            <a:ext cx="8594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Paxos dans la vraie vie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2"/>
          <p:cNvSpPr/>
          <p:nvPr/>
        </p:nvSpPr>
        <p:spPr>
          <a:xfrm>
            <a:off x="0" y="685800"/>
            <a:ext cx="72360" cy="445716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4" name="Table 0"/>
          <p:cNvGraphicFramePr/>
          <p:nvPr/>
        </p:nvGraphicFramePr>
        <p:xfrm>
          <a:off x="274320" y="822960"/>
          <a:ext cx="8595000" cy="4112640"/>
        </p:xfrm>
        <a:graphic>
          <a:graphicData uri="http://schemas.openxmlformats.org/drawingml/2006/table">
            <a:tbl>
              <a:tblPr/>
              <a:tblGrid>
                <a:gridCol w="3200400"/>
                <a:gridCol w="5394960"/>
              </a:tblGrid>
              <a:tr h="5875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Système</a:t>
                      </a:r>
                      <a:endParaRPr lang="fr-F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Usage</a:t>
                      </a:r>
                      <a:endParaRPr lang="fr-F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</a:tr>
              <a:tr h="5875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C10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Google Chubby</a:t>
                      </a:r>
                      <a:endParaRPr lang="fr-F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Verrouillage distribué (Bigtable, GFS)</a:t>
                      </a:r>
                      <a:endParaRPr lang="fr-F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</a:tr>
              <a:tr h="5875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C10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Google Spanner</a:t>
                      </a:r>
                      <a:endParaRPr lang="fr-F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Base SQL distribuée mondialement</a:t>
                      </a:r>
                      <a:endParaRPr lang="fr-F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5875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C10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Amazon DynamoDB</a:t>
                      </a:r>
                      <a:endParaRPr lang="fr-F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Élection de leader et consensus</a:t>
                      </a:r>
                      <a:endParaRPr lang="fr-F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</a:tr>
              <a:tr h="5875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C10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Amazon ECS</a:t>
                      </a:r>
                      <a:endParaRPr lang="fr-F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Vue cohérente de l'état du cluster</a:t>
                      </a:r>
                      <a:endParaRPr lang="fr-F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5875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C10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Apache Cassandra</a:t>
                      </a:r>
                      <a:endParaRPr lang="fr-F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Lightweight Transactions</a:t>
                      </a:r>
                      <a:endParaRPr lang="fr-F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</a:tr>
              <a:tr h="5875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C10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Microsoft Autopilot</a:t>
                      </a:r>
                      <a:endParaRPr lang="fr-F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Gestion des clusters Bing</a:t>
                      </a:r>
                      <a:endParaRPr lang="fr-F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0"/>
          <p:cNvSpPr/>
          <p:nvPr/>
        </p:nvSpPr>
        <p:spPr>
          <a:xfrm>
            <a:off x="0" y="0"/>
            <a:ext cx="9143280" cy="9072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"/>
          <p:cNvSpPr/>
          <p:nvPr/>
        </p:nvSpPr>
        <p:spPr>
          <a:xfrm>
            <a:off x="0" y="5052240"/>
            <a:ext cx="9143280" cy="9072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"/>
          <p:cNvSpPr/>
          <p:nvPr/>
        </p:nvSpPr>
        <p:spPr>
          <a:xfrm>
            <a:off x="457200" y="1645920"/>
            <a:ext cx="82288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8. Paxos vs Raft</a:t>
            </a:r>
            <a:endParaRPr lang="fr-F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"/>
          <p:cNvSpPr/>
          <p:nvPr/>
        </p:nvSpPr>
        <p:spPr>
          <a:xfrm>
            <a:off x="274320" y="45720"/>
            <a:ext cx="8594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Paxos vs Raft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"/>
          <p:cNvSpPr/>
          <p:nvPr/>
        </p:nvSpPr>
        <p:spPr>
          <a:xfrm>
            <a:off x="0" y="685800"/>
            <a:ext cx="72360" cy="445716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1" name="Table 0"/>
          <p:cNvGraphicFramePr/>
          <p:nvPr/>
        </p:nvGraphicFramePr>
        <p:xfrm>
          <a:off x="274320" y="822960"/>
          <a:ext cx="8595000" cy="3747600"/>
        </p:xfrm>
        <a:graphic>
          <a:graphicData uri="http://schemas.openxmlformats.org/drawingml/2006/table">
            <a:tbl>
              <a:tblPr/>
              <a:tblGrid>
                <a:gridCol w="2560320"/>
                <a:gridCol w="3017520"/>
                <a:gridCol w="3017520"/>
              </a:tblGrid>
              <a:tr h="624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Critère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Paxos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Raft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</a:tr>
              <a:tr h="624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C10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Compréhensibilité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C10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Difficile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C10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Facile (conçu pour ça)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</a:tr>
              <a:tr h="624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Leader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Optionnel (Multi-Paxos)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Obligatoire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624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Élection de leader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Non intégrée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Intégrée (timeouts aléatoires)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</a:tr>
              <a:tr h="624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Flexibilité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Haute (nombreuses variantes)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Moins flexible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624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Cas d'usage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Systèmes critiques, recherche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Systèmes modernes (etcd, Consul)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1565C0"/>
                      </a:solidFill>
                      <a:prstDash val="solid"/>
                    </a:lnL>
                    <a:lnR w="6480">
                      <a:solidFill>
                        <a:srgbClr val="1565C0"/>
                      </a:solidFill>
                      <a:prstDash val="solid"/>
                    </a:lnR>
                    <a:lnT w="6480">
                      <a:solidFill>
                        <a:srgbClr val="1565C0"/>
                      </a:solidFill>
                      <a:prstDash val="solid"/>
                    </a:lnT>
                    <a:lnB w="6480">
                      <a:solidFill>
                        <a:srgbClr val="1565C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232" name="Text 3"/>
          <p:cNvSpPr/>
          <p:nvPr/>
        </p:nvSpPr>
        <p:spPr>
          <a:xfrm>
            <a:off x="274320" y="4663440"/>
            <a:ext cx="8594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0A4AE"/>
                </a:solidFill>
                <a:effectLst/>
                <a:uFillTx/>
                <a:latin typeface="Calibri"/>
                <a:ea typeface="Calibri"/>
              </a:rPr>
              <a:t>Raft (2013) : "In Search of an Understandable Consensus Algorithm" — Diego Ongaro &amp; John Ousterhout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0"/>
          <p:cNvSpPr/>
          <p:nvPr/>
        </p:nvSpPr>
        <p:spPr>
          <a:xfrm>
            <a:off x="0" y="0"/>
            <a:ext cx="9143280" cy="9072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"/>
          <p:cNvSpPr/>
          <p:nvPr/>
        </p:nvSpPr>
        <p:spPr>
          <a:xfrm>
            <a:off x="0" y="5052240"/>
            <a:ext cx="9143280" cy="9072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"/>
          <p:cNvSpPr/>
          <p:nvPr/>
        </p:nvSpPr>
        <p:spPr>
          <a:xfrm>
            <a:off x="457200" y="1645920"/>
            <a:ext cx="82288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9. Exercice</a:t>
            </a:r>
            <a:endParaRPr lang="fr-F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"/>
          <p:cNvSpPr/>
          <p:nvPr/>
        </p:nvSpPr>
        <p:spPr>
          <a:xfrm>
            <a:off x="274320" y="45720"/>
            <a:ext cx="8594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Exercice — Paxos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"/>
          <p:cNvSpPr/>
          <p:nvPr/>
        </p:nvSpPr>
        <p:spPr>
          <a:xfrm>
            <a:off x="0" y="685800"/>
            <a:ext cx="72360" cy="445716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"/>
          <p:cNvSpPr/>
          <p:nvPr/>
        </p:nvSpPr>
        <p:spPr>
          <a:xfrm>
            <a:off x="274320" y="91440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Q1. Quel rôle vote sur les valeurs proposées ?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4"/>
          <p:cNvSpPr/>
          <p:nvPr/>
        </p:nvSpPr>
        <p:spPr>
          <a:xfrm>
            <a:off x="5943600" y="914400"/>
            <a:ext cx="2925360" cy="3650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5"/>
          <p:cNvSpPr/>
          <p:nvPr/>
        </p:nvSpPr>
        <p:spPr>
          <a:xfrm>
            <a:off x="5989320" y="914400"/>
            <a:ext cx="2833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C107"/>
                </a:solidFill>
                <a:effectLst/>
                <a:uFillTx/>
                <a:latin typeface="Calibri"/>
                <a:ea typeface="Calibri"/>
              </a:rPr>
              <a:t>✅ Acceptor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6"/>
          <p:cNvSpPr/>
          <p:nvPr/>
        </p:nvSpPr>
        <p:spPr>
          <a:xfrm>
            <a:off x="274320" y="173736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Q2. Combien d'acceptors doivent accepter pour atteindre le consensus ?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7"/>
          <p:cNvSpPr/>
          <p:nvPr/>
        </p:nvSpPr>
        <p:spPr>
          <a:xfrm>
            <a:off x="5943600" y="1737360"/>
            <a:ext cx="2925360" cy="3650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8"/>
          <p:cNvSpPr/>
          <p:nvPr/>
        </p:nvSpPr>
        <p:spPr>
          <a:xfrm>
            <a:off x="5989320" y="1737360"/>
            <a:ext cx="2833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C107"/>
                </a:solidFill>
                <a:effectLst/>
                <a:uFillTx/>
                <a:latin typeface="Calibri"/>
                <a:ea typeface="Calibri"/>
              </a:rPr>
              <a:t>✅ Une majorité (⌊N/2⌋ + 1)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9"/>
          <p:cNvSpPr/>
          <p:nvPr/>
        </p:nvSpPr>
        <p:spPr>
          <a:xfrm>
            <a:off x="274320" y="256032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Q3. Qu'est-ce qu'un livelock dans Paxos ?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0"/>
          <p:cNvSpPr/>
          <p:nvPr/>
        </p:nvSpPr>
        <p:spPr>
          <a:xfrm>
            <a:off x="5943600" y="2488320"/>
            <a:ext cx="2925360" cy="49932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1"/>
          <p:cNvSpPr/>
          <p:nvPr/>
        </p:nvSpPr>
        <p:spPr>
          <a:xfrm>
            <a:off x="5989320" y="2560320"/>
            <a:ext cx="2833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C107"/>
                </a:solidFill>
                <a:effectLst/>
                <a:uFillTx/>
                <a:latin typeface="Calibri"/>
                <a:ea typeface="Calibri"/>
              </a:rPr>
              <a:t>✅ Deux proposers se bloquent mutuellement indéfiniment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2"/>
          <p:cNvSpPr/>
          <p:nvPr/>
        </p:nvSpPr>
        <p:spPr>
          <a:xfrm>
            <a:off x="274320" y="338328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Q4. Quelle variante élit un leader pour éviter la phase Prepare ?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3"/>
          <p:cNvSpPr/>
          <p:nvPr/>
        </p:nvSpPr>
        <p:spPr>
          <a:xfrm>
            <a:off x="5943600" y="3383280"/>
            <a:ext cx="2925360" cy="3650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4"/>
          <p:cNvSpPr/>
          <p:nvPr/>
        </p:nvSpPr>
        <p:spPr>
          <a:xfrm>
            <a:off x="5989320" y="3383280"/>
            <a:ext cx="2833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C107"/>
                </a:solidFill>
                <a:effectLst/>
                <a:uFillTx/>
                <a:latin typeface="Calibri"/>
                <a:ea typeface="Calibri"/>
              </a:rPr>
              <a:t>✅ Multi-Paxos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5"/>
          <p:cNvSpPr/>
          <p:nvPr/>
        </p:nvSpPr>
        <p:spPr>
          <a:xfrm>
            <a:off x="274320" y="420624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Q5. Quel système Google utilise Paxos pour le verrouillage distribué ?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6"/>
          <p:cNvSpPr/>
          <p:nvPr/>
        </p:nvSpPr>
        <p:spPr>
          <a:xfrm>
            <a:off x="5943600" y="4206240"/>
            <a:ext cx="2925360" cy="3650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7"/>
          <p:cNvSpPr/>
          <p:nvPr/>
        </p:nvSpPr>
        <p:spPr>
          <a:xfrm>
            <a:off x="5989320" y="4206240"/>
            <a:ext cx="2833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C107"/>
                </a:solidFill>
                <a:effectLst/>
                <a:uFillTx/>
                <a:latin typeface="Calibri"/>
                <a:ea typeface="Calibri"/>
              </a:rPr>
              <a:t>✅ Google Chubby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>
                                          <p:val>
                                            <p:str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4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>
                                          <p:val>
                                            <p:str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2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>
                                          <p:val>
                                            <p:str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8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9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>
                                          <p:val>
                                            <p:str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1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6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6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7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>
                                          <p:val>
                                            <p:str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8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9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0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6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9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2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3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>
                                          <p:val>
                                            <p:str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4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5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6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7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8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0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2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4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6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0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0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1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>
                                          <p:val>
                                            <p:str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2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3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4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5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6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8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0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2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3" presetID="26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26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7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>
                                          <p:val>
                                            <p:str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8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9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0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1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2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4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6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8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6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44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5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>
                                          <p:val>
                                            <p:str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6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7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8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9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0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2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3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4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5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6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7" presetID="26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60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1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>
                                          <p:val>
                                            <p:str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2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3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4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5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6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7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8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9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0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1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2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0"/>
          <p:cNvSpPr/>
          <p:nvPr/>
        </p:nvSpPr>
        <p:spPr>
          <a:xfrm>
            <a:off x="0" y="0"/>
            <a:ext cx="136440" cy="5142960"/>
          </a:xfrm>
          <a:prstGeom prst="rect">
            <a:avLst/>
          </a:prstGeom>
          <a:solidFill>
            <a:srgbClr val="2196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45000" rIns="684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"/>
          <p:cNvSpPr/>
          <p:nvPr/>
        </p:nvSpPr>
        <p:spPr>
          <a:xfrm>
            <a:off x="137160" y="2240280"/>
            <a:ext cx="9006120" cy="5400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"/>
          <p:cNvSpPr/>
          <p:nvPr/>
        </p:nvSpPr>
        <p:spPr>
          <a:xfrm>
            <a:off x="457200" y="-126720"/>
            <a:ext cx="841176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Paxos en une phrase</a:t>
            </a:r>
            <a:endParaRPr lang="fr-F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3"/>
          <p:cNvSpPr/>
          <p:nvPr/>
        </p:nvSpPr>
        <p:spPr>
          <a:xfrm>
            <a:off x="457200" y="1371600"/>
            <a:ext cx="8228880" cy="31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« Le handshake TLS est la phase de mise en confiance cryptographique</a:t>
            </a:r>
            <a:endParaRPr lang="fr-F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entre un client et un serveur. »</a:t>
            </a:r>
            <a:endParaRPr lang="fr-F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 même, Paxos est la phase de mise en confiance</a:t>
            </a:r>
            <a:endParaRPr lang="fr-F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entre des nœuds distribués — garantissant</a:t>
            </a:r>
            <a:endParaRPr lang="fr-F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qu'ils s'accordent tous sur la même vérité.</a:t>
            </a:r>
            <a:endParaRPr lang="fr-F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4"/>
          <p:cNvSpPr/>
          <p:nvPr/>
        </p:nvSpPr>
        <p:spPr>
          <a:xfrm>
            <a:off x="457200" y="4206240"/>
            <a:ext cx="8228880" cy="63936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5"/>
          <p:cNvSpPr/>
          <p:nvPr/>
        </p:nvSpPr>
        <p:spPr>
          <a:xfrm>
            <a:off x="548640" y="4251960"/>
            <a:ext cx="8046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0A4AE"/>
                </a:solidFill>
                <a:effectLst/>
                <a:uFillTx/>
                <a:latin typeface="Calibri"/>
                <a:ea typeface="Calibri"/>
              </a:rPr>
              <a:t>Sources : Lamport 1998, 2001 · GeeksforGeeks · Wikipedia · ScyllaDB · Paxos.systems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LibreOffice/26.2.2.2$Windows_X86_64 LibreOffice_project/1f77d10d6938fd34972958f64b2bcfa54f8b1ba5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2026-04-15T18:35:15Z</dcterms:created>
  <dc:creator>Boris Rose</dc:creator>
  <dc:description/>
  <dc:language>fr-FR</dc:language>
  <cp:lastModifiedBy/>
  <dcterms:modified xsi:type="dcterms:W3CDTF">2026-04-15T21:28:28Z</dcterms:modified>
  <cp:revision>3</cp:revision>
  <dc:subject>PptxGenJS Presentation</dc:subject>
  <dc:title>Paxos — Algorithme de consensus distribué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26</vt:i4>
  </property>
  <property fmtid="{D5CDD505-2E9C-101B-9397-08002B2CF9AE}" pid="3" name="PresentationFormat">
    <vt:lpwstr>On-screen Show (16:9)</vt:lpwstr>
  </property>
  <property fmtid="{D5CDD505-2E9C-101B-9397-08002B2CF9AE}" pid="4" name="Slides">
    <vt:i4>26</vt:i4>
  </property>
</Properties>
</file>