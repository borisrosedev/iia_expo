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déplacer la </a:t>
            </a: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diapo</a:t>
            </a:r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modifier 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 format des notes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0929804-8C44-4EDC-A3BB-E5D8131048EC}" type="slidenum"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0831E76-6353-41B1-9548-84EBEED4EC6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8D27B51-87E2-4AFC-A807-176811AEB0F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B565272-E37A-46A9-BF79-6395DA57FC3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4A99D43-6163-44D8-8516-C5EB450C0DD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B01D1AC-BECB-4443-846B-931ECD2FC64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E8D0AD1-AEC8-4551-85BF-60AE9541936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11D44AB-FBEF-46F7-8BF3-621451A1107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5104034-EB7E-4372-A209-0EAA2CC1D12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B6F9078-2320-4519-9D35-1DE0452C20F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0671849-29B3-4FDF-A7F1-6D95FB12105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F2BDD92-2660-4C5B-B755-DC145B8D78E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12309CD-4931-4C79-924A-9C21B7062C8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AB8DEDB-D142-4B56-9391-B856328EB4B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3E97317-A6E0-49B2-9598-02D3DFA4D54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F49B1E8-709F-4972-85CC-B54D0E59E95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BD35FC3-3C76-4E97-9241-AF4D9597354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5EAE43A-C7C0-4520-8C96-AEEDC6821B8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B45FE8E-BB14-4F75-B119-9AB6235F235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37F4914-35F2-46AE-96D8-8F8999120F7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9B4C15A-E3C9-49C3-835A-D031B9E30F8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1376014-2F0B-4126-BEBB-A007409602E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FB5734E-6624-47E7-92DB-1264C33F62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788F904-3509-4619-8D54-C2EB00D74BF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6BB5F50-26A0-4537-A329-1D4D62F2565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CBD7A2F-615B-42E9-940C-D7349E512A6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8BB330E-1E98-4E55-9677-D91F1000A1E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</a:t>
            </a: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du texte-titre</a:t>
            </a:r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plan de texte</a:t>
            </a:r>
            <a:endParaRPr lang="fr-F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niveau de plan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Troisième niveau de plan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Quatrième niveau de plan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Cinquième niveau de plan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Sixième niveau de plan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Septième niveau de plan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35720" cy="5142240"/>
          </a:xfrm>
          <a:prstGeom prst="rect">
            <a:avLst/>
          </a:prstGeom>
          <a:solidFill>
            <a:srgbClr val="2196F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137160" y="2240280"/>
            <a:ext cx="9005400" cy="5328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720" rIns="90000" bIns="972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457200" y="1097280"/>
            <a:ext cx="8411040" cy="12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Paxos</a:t>
            </a:r>
            <a:endParaRPr lang="fr-FR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457200" y="2514600"/>
            <a:ext cx="841104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196F3"/>
                </a:solidFill>
                <a:effectLst/>
                <a:uFillTx/>
                <a:latin typeface="Calibri"/>
                <a:ea typeface="Calibri"/>
              </a:rPr>
              <a:t>Algorithme de consensus distribué </a:t>
            </a: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457200" y="3383280"/>
            <a:ext cx="84110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0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1"/>
          <p:cNvSpPr/>
          <p:nvPr/>
        </p:nvSpPr>
        <p:spPr>
          <a:xfrm>
            <a:off x="274320" y="45720"/>
            <a:ext cx="8593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Sommaire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2"/>
          <p:cNvSpPr/>
          <p:nvPr/>
        </p:nvSpPr>
        <p:spPr>
          <a:xfrm>
            <a:off x="0" y="685800"/>
            <a:ext cx="71640" cy="445644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3"/>
          <p:cNvSpPr/>
          <p:nvPr/>
        </p:nvSpPr>
        <p:spPr>
          <a:xfrm>
            <a:off x="320040" y="868680"/>
            <a:ext cx="850248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1.  Contexte &amp; problématique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2.  Historique et origine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3.  Qu'est-ce que le consensus distribué ?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4.  Les rôles dans Paxos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5.  Les phases de l'algorithme (Prepare → Accept → Learn)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6.  Propriétés garanties : Safety &amp; Liveness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7.  Variantes et déploiements réels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8.  Paxos vs Raft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9. Les limites de Paxos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10.  Exercice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11. Paxos en une phrase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65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0"/>
          <p:cNvSpPr/>
          <p:nvPr/>
        </p:nvSpPr>
        <p:spPr>
          <a:xfrm>
            <a:off x="0" y="0"/>
            <a:ext cx="9142560" cy="9000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1"/>
          <p:cNvSpPr/>
          <p:nvPr/>
        </p:nvSpPr>
        <p:spPr>
          <a:xfrm>
            <a:off x="0" y="5052240"/>
            <a:ext cx="9142560" cy="9000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457200" y="1645920"/>
            <a:ext cx="8228160" cy="182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1. Contexte &amp; problématique</a:t>
            </a:r>
            <a:endParaRPr lang="fr-F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0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"/>
          <p:cNvSpPr/>
          <p:nvPr/>
        </p:nvSpPr>
        <p:spPr>
          <a:xfrm>
            <a:off x="274320" y="45720"/>
            <a:ext cx="8593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problème du consensus distribué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2"/>
          <p:cNvSpPr/>
          <p:nvPr/>
        </p:nvSpPr>
        <p:spPr>
          <a:xfrm>
            <a:off x="0" y="685800"/>
            <a:ext cx="71640" cy="445644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3"/>
          <p:cNvSpPr/>
          <p:nvPr/>
        </p:nvSpPr>
        <p:spPr>
          <a:xfrm>
            <a:off x="274320" y="914400"/>
            <a:ext cx="41133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565C0"/>
                </a:solidFill>
                <a:effectLst/>
                <a:uFillTx/>
                <a:latin typeface="Calibri"/>
                <a:ea typeface="Calibri"/>
              </a:rPr>
              <a:t>Dans un système distribué…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4"/>
          <p:cNvSpPr/>
          <p:nvPr/>
        </p:nvSpPr>
        <p:spPr>
          <a:xfrm>
            <a:off x="274320" y="1280160"/>
            <a:ext cx="4113360" cy="274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Un serveur peut planter sans prévenir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Un message peut se perdre ou arriver en retard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Des nœuds peuvent recevoir des valeurs différentes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Le réseau peut se partitionner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5"/>
          <p:cNvSpPr/>
          <p:nvPr/>
        </p:nvSpPr>
        <p:spPr>
          <a:xfrm>
            <a:off x="4754880" y="914400"/>
            <a:ext cx="4113360" cy="3473280"/>
          </a:xfrm>
          <a:prstGeom prst="rect">
            <a:avLst/>
          </a:prstGeom>
          <a:solidFill>
            <a:srgbClr val="0D1B2A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6"/>
          <p:cNvSpPr/>
          <p:nvPr/>
        </p:nvSpPr>
        <p:spPr>
          <a:xfrm>
            <a:off x="4846320" y="1005840"/>
            <a:ext cx="3930480" cy="255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Comment faire en sorte que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tous les nœuds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s'accordent sur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une même valeur ?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7"/>
          <p:cNvSpPr/>
          <p:nvPr/>
        </p:nvSpPr>
        <p:spPr>
          <a:xfrm>
            <a:off x="4846320" y="3657600"/>
            <a:ext cx="3930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2196F3"/>
                </a:solidFill>
                <a:effectLst/>
                <a:uFillTx/>
                <a:latin typeface="Calibri"/>
                <a:ea typeface="Calibri"/>
              </a:rPr>
              <a:t>→ Problème du consensus distribué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65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0"/>
          <p:cNvSpPr/>
          <p:nvPr/>
        </p:nvSpPr>
        <p:spPr>
          <a:xfrm>
            <a:off x="0" y="0"/>
            <a:ext cx="9142560" cy="9000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"/>
          <p:cNvSpPr/>
          <p:nvPr/>
        </p:nvSpPr>
        <p:spPr>
          <a:xfrm>
            <a:off x="0" y="5052240"/>
            <a:ext cx="9142560" cy="9000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"/>
          <p:cNvSpPr/>
          <p:nvPr/>
        </p:nvSpPr>
        <p:spPr>
          <a:xfrm>
            <a:off x="457200" y="1645920"/>
            <a:ext cx="8228160" cy="182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2. Historique &amp; origine</a:t>
            </a:r>
            <a:endParaRPr lang="fr-F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0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"/>
          <p:cNvSpPr/>
          <p:nvPr/>
        </p:nvSpPr>
        <p:spPr>
          <a:xfrm>
            <a:off x="274320" y="45720"/>
            <a:ext cx="8593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Historique de Paxos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2"/>
          <p:cNvSpPr/>
          <p:nvPr/>
        </p:nvSpPr>
        <p:spPr>
          <a:xfrm>
            <a:off x="0" y="685800"/>
            <a:ext cx="71640" cy="445644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3"/>
          <p:cNvSpPr/>
          <p:nvPr/>
        </p:nvSpPr>
        <p:spPr>
          <a:xfrm>
            <a:off x="1002960" y="2377440"/>
            <a:ext cx="7845840" cy="4428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4"/>
          <p:cNvSpPr/>
          <p:nvPr/>
        </p:nvSpPr>
        <p:spPr>
          <a:xfrm>
            <a:off x="966960" y="2258640"/>
            <a:ext cx="236160" cy="236160"/>
          </a:xfrm>
          <a:prstGeom prst="ellipse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5"/>
          <p:cNvSpPr/>
          <p:nvPr/>
        </p:nvSpPr>
        <p:spPr>
          <a:xfrm>
            <a:off x="609120" y="1828800"/>
            <a:ext cx="10958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565C0"/>
                </a:solidFill>
                <a:effectLst/>
                <a:uFillTx/>
                <a:latin typeface="Calibri"/>
                <a:ea typeface="Calibri"/>
              </a:rPr>
              <a:t>1989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6"/>
          <p:cNvSpPr/>
          <p:nvPr/>
        </p:nvSpPr>
        <p:spPr>
          <a:xfrm>
            <a:off x="380520" y="2596320"/>
            <a:ext cx="1553040" cy="21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Leslie Lamport conçoit Paxos — en cherchant à prouver qu'il était impossible !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7"/>
          <p:cNvSpPr/>
          <p:nvPr/>
        </p:nvSpPr>
        <p:spPr>
          <a:xfrm>
            <a:off x="2730600" y="2258640"/>
            <a:ext cx="236160" cy="236160"/>
          </a:xfrm>
          <a:prstGeom prst="ellipse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8"/>
          <p:cNvSpPr/>
          <p:nvPr/>
        </p:nvSpPr>
        <p:spPr>
          <a:xfrm>
            <a:off x="2300760" y="1828800"/>
            <a:ext cx="10958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565C0"/>
                </a:solidFill>
                <a:effectLst/>
                <a:uFillTx/>
                <a:latin typeface="Calibri"/>
                <a:ea typeface="Calibri"/>
              </a:rPr>
              <a:t>1990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9"/>
          <p:cNvSpPr/>
          <p:nvPr/>
        </p:nvSpPr>
        <p:spPr>
          <a:xfrm>
            <a:off x="2144160" y="2632320"/>
            <a:ext cx="1553040" cy="21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Soumission du papier "The Part-Time Parliament" — rejeté, jugé trop complexe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0"/>
          <p:cNvSpPr/>
          <p:nvPr/>
        </p:nvSpPr>
        <p:spPr>
          <a:xfrm>
            <a:off x="4206240" y="2258640"/>
            <a:ext cx="236160" cy="236160"/>
          </a:xfrm>
          <a:prstGeom prst="ellipse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1"/>
          <p:cNvSpPr/>
          <p:nvPr/>
        </p:nvSpPr>
        <p:spPr>
          <a:xfrm>
            <a:off x="3776400" y="1828800"/>
            <a:ext cx="10958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565C0"/>
                </a:solidFill>
                <a:effectLst/>
                <a:uFillTx/>
                <a:latin typeface="Calibri"/>
                <a:ea typeface="Calibri"/>
              </a:rPr>
              <a:t>1998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2"/>
          <p:cNvSpPr/>
          <p:nvPr/>
        </p:nvSpPr>
        <p:spPr>
          <a:xfrm>
            <a:off x="3655800" y="2632320"/>
            <a:ext cx="1553040" cy="21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Publication officielle dans un journal scientifique, 8 ans plus tard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3"/>
          <p:cNvSpPr/>
          <p:nvPr/>
        </p:nvSpPr>
        <p:spPr>
          <a:xfrm>
            <a:off x="5789880" y="2258640"/>
            <a:ext cx="236160" cy="236160"/>
          </a:xfrm>
          <a:prstGeom prst="ellipse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4"/>
          <p:cNvSpPr/>
          <p:nvPr/>
        </p:nvSpPr>
        <p:spPr>
          <a:xfrm>
            <a:off x="5360040" y="1828800"/>
            <a:ext cx="10958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565C0"/>
                </a:solidFill>
                <a:effectLst/>
                <a:uFillTx/>
                <a:latin typeface="Calibri"/>
                <a:ea typeface="Calibri"/>
              </a:rPr>
              <a:t>2001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5"/>
          <p:cNvSpPr/>
          <p:nvPr/>
        </p:nvSpPr>
        <p:spPr>
          <a:xfrm>
            <a:off x="5203440" y="2560320"/>
            <a:ext cx="1553040" cy="21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Publication de "Paxos Made Simple" pour rendre l'algo accessible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16"/>
          <p:cNvSpPr/>
          <p:nvPr/>
        </p:nvSpPr>
        <p:spPr>
          <a:xfrm>
            <a:off x="7625520" y="2258640"/>
            <a:ext cx="236160" cy="236160"/>
          </a:xfrm>
          <a:prstGeom prst="ellipse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7"/>
          <p:cNvSpPr/>
          <p:nvPr/>
        </p:nvSpPr>
        <p:spPr>
          <a:xfrm>
            <a:off x="7231680" y="1828800"/>
            <a:ext cx="10958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565C0"/>
                </a:solidFill>
                <a:effectLst/>
                <a:uFillTx/>
                <a:latin typeface="Calibri"/>
                <a:ea typeface="Calibri"/>
              </a:rPr>
              <a:t>2006+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8"/>
          <p:cNvSpPr/>
          <p:nvPr/>
        </p:nvSpPr>
        <p:spPr>
          <a:xfrm>
            <a:off x="6921720" y="2659680"/>
            <a:ext cx="1553040" cy="21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Adoption par Google (Chubby, Spanner), Amazon, Microsoft, Apache…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65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hape 0"/>
          <p:cNvSpPr/>
          <p:nvPr/>
        </p:nvSpPr>
        <p:spPr>
          <a:xfrm>
            <a:off x="0" y="0"/>
            <a:ext cx="9142560" cy="9000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1"/>
          <p:cNvSpPr/>
          <p:nvPr/>
        </p:nvSpPr>
        <p:spPr>
          <a:xfrm>
            <a:off x="0" y="5052240"/>
            <a:ext cx="9142560" cy="9000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2"/>
          <p:cNvSpPr/>
          <p:nvPr/>
        </p:nvSpPr>
        <p:spPr>
          <a:xfrm>
            <a:off x="457200" y="1645920"/>
            <a:ext cx="8228160" cy="182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3. Consensus distribué</a:t>
            </a:r>
            <a:endParaRPr lang="fr-F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0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"/>
          <p:cNvSpPr/>
          <p:nvPr/>
        </p:nvSpPr>
        <p:spPr>
          <a:xfrm>
            <a:off x="274320" y="45720"/>
            <a:ext cx="8593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Les trois propriétés du consensus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2"/>
          <p:cNvSpPr/>
          <p:nvPr/>
        </p:nvSpPr>
        <p:spPr>
          <a:xfrm>
            <a:off x="0" y="685800"/>
            <a:ext cx="71640" cy="445644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3"/>
          <p:cNvSpPr/>
          <p:nvPr/>
        </p:nvSpPr>
        <p:spPr>
          <a:xfrm>
            <a:off x="228600" y="914400"/>
            <a:ext cx="2741760" cy="3473280"/>
          </a:xfrm>
          <a:prstGeom prst="rect">
            <a:avLst/>
          </a:prstGeom>
          <a:solidFill>
            <a:srgbClr val="0D1B2A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4"/>
          <p:cNvSpPr/>
          <p:nvPr/>
        </p:nvSpPr>
        <p:spPr>
          <a:xfrm>
            <a:off x="228600" y="1005840"/>
            <a:ext cx="27417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✅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5"/>
          <p:cNvSpPr/>
          <p:nvPr/>
        </p:nvSpPr>
        <p:spPr>
          <a:xfrm>
            <a:off x="228600" y="169164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Agreement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6"/>
          <p:cNvSpPr/>
          <p:nvPr/>
        </p:nvSpPr>
        <p:spPr>
          <a:xfrm>
            <a:off x="365760" y="2194560"/>
            <a:ext cx="2467440" cy="20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Tous les nœuds sains convergent vers la même valeur — pas de divergence possible.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7"/>
          <p:cNvSpPr/>
          <p:nvPr/>
        </p:nvSpPr>
        <p:spPr>
          <a:xfrm>
            <a:off x="3200400" y="914400"/>
            <a:ext cx="2741760" cy="3473280"/>
          </a:xfrm>
          <a:prstGeom prst="rect">
            <a:avLst/>
          </a:prstGeom>
          <a:solidFill>
            <a:srgbClr val="0D1B2A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8"/>
          <p:cNvSpPr/>
          <p:nvPr/>
        </p:nvSpPr>
        <p:spPr>
          <a:xfrm>
            <a:off x="3200400" y="1005840"/>
            <a:ext cx="27417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📋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9"/>
          <p:cNvSpPr/>
          <p:nvPr/>
        </p:nvSpPr>
        <p:spPr>
          <a:xfrm>
            <a:off x="3200400" y="169164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Validity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0"/>
          <p:cNvSpPr/>
          <p:nvPr/>
        </p:nvSpPr>
        <p:spPr>
          <a:xfrm>
            <a:off x="3337560" y="2194560"/>
            <a:ext cx="2467440" cy="20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La valeur choisie doit avoir été proposée par un nœud du système (pas inventée).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11"/>
          <p:cNvSpPr/>
          <p:nvPr/>
        </p:nvSpPr>
        <p:spPr>
          <a:xfrm>
            <a:off x="6172200" y="914400"/>
            <a:ext cx="2741760" cy="3473280"/>
          </a:xfrm>
          <a:prstGeom prst="rect">
            <a:avLst/>
          </a:prstGeom>
          <a:solidFill>
            <a:srgbClr val="0D1B2A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2"/>
          <p:cNvSpPr/>
          <p:nvPr/>
        </p:nvSpPr>
        <p:spPr>
          <a:xfrm>
            <a:off x="6172200" y="1005840"/>
            <a:ext cx="27417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⚡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3"/>
          <p:cNvSpPr/>
          <p:nvPr/>
        </p:nvSpPr>
        <p:spPr>
          <a:xfrm>
            <a:off x="6172200" y="169164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Liveness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4"/>
          <p:cNvSpPr/>
          <p:nvPr/>
        </p:nvSpPr>
        <p:spPr>
          <a:xfrm>
            <a:off x="6309360" y="2194560"/>
            <a:ext cx="2467440" cy="20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Si suffisamment de nœuds fonctionnent, une décision finira toujours par être prise.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5"/>
          <p:cNvSpPr/>
          <p:nvPr/>
        </p:nvSpPr>
        <p:spPr>
          <a:xfrm>
            <a:off x="182880" y="4663440"/>
            <a:ext cx="87768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90A4AE"/>
                </a:solidFill>
                <a:effectLst/>
                <a:uFillTx/>
                <a:latin typeface="Calibri"/>
                <a:ea typeface="Calibri"/>
              </a:rPr>
              <a:t>Hypothèses : réseau asynchrone · pannes crash seulement · pas de messages corrompus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65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0"/>
          <p:cNvSpPr/>
          <p:nvPr/>
        </p:nvSpPr>
        <p:spPr>
          <a:xfrm>
            <a:off x="0" y="0"/>
            <a:ext cx="9142560" cy="9000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"/>
          <p:cNvSpPr/>
          <p:nvPr/>
        </p:nvSpPr>
        <p:spPr>
          <a:xfrm>
            <a:off x="0" y="5052240"/>
            <a:ext cx="9142560" cy="9000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2"/>
          <p:cNvSpPr/>
          <p:nvPr/>
        </p:nvSpPr>
        <p:spPr>
          <a:xfrm>
            <a:off x="457200" y="1645920"/>
            <a:ext cx="8228160" cy="182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4. Les rôles dans Paxos</a:t>
            </a:r>
            <a:endParaRPr lang="fr-F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hape 0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"/>
          <p:cNvSpPr/>
          <p:nvPr/>
        </p:nvSpPr>
        <p:spPr>
          <a:xfrm>
            <a:off x="274320" y="45720"/>
            <a:ext cx="8593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Proposer · Acceptor · Learner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2"/>
          <p:cNvSpPr/>
          <p:nvPr/>
        </p:nvSpPr>
        <p:spPr>
          <a:xfrm>
            <a:off x="0" y="685800"/>
            <a:ext cx="71640" cy="445644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3"/>
          <p:cNvSpPr/>
          <p:nvPr/>
        </p:nvSpPr>
        <p:spPr>
          <a:xfrm>
            <a:off x="201240" y="822960"/>
            <a:ext cx="2741760" cy="45576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4"/>
          <p:cNvSpPr/>
          <p:nvPr/>
        </p:nvSpPr>
        <p:spPr>
          <a:xfrm>
            <a:off x="201240" y="82296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Proposer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5"/>
          <p:cNvSpPr/>
          <p:nvPr/>
        </p:nvSpPr>
        <p:spPr>
          <a:xfrm>
            <a:off x="292680" y="1325880"/>
            <a:ext cx="2558880" cy="228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Propose une valeur à faire accepter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Choisit un numéro de proposition unique 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Initie le protocole (phase Prepare)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6"/>
          <p:cNvSpPr/>
          <p:nvPr/>
        </p:nvSpPr>
        <p:spPr>
          <a:xfrm>
            <a:off x="3173040" y="822960"/>
            <a:ext cx="2741760" cy="455760"/>
          </a:xfrm>
          <a:prstGeom prst="rect">
            <a:avLst/>
          </a:prstGeom>
          <a:solidFill>
            <a:srgbClr val="1B5E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7"/>
          <p:cNvSpPr/>
          <p:nvPr/>
        </p:nvSpPr>
        <p:spPr>
          <a:xfrm>
            <a:off x="3173040" y="82296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Acceptor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8"/>
          <p:cNvSpPr/>
          <p:nvPr/>
        </p:nvSpPr>
        <p:spPr>
          <a:xfrm>
            <a:off x="3264480" y="1325880"/>
            <a:ext cx="2558880" cy="228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Vote sur les valeurs proposées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Maintient un état persistant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La majorité des acceptors garantit la cohérence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9"/>
          <p:cNvSpPr/>
          <p:nvPr/>
        </p:nvSpPr>
        <p:spPr>
          <a:xfrm>
            <a:off x="6144840" y="822960"/>
            <a:ext cx="2741760" cy="455760"/>
          </a:xfrm>
          <a:prstGeom prst="rect">
            <a:avLst/>
          </a:prstGeom>
          <a:solidFill>
            <a:srgbClr val="4A14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0"/>
          <p:cNvSpPr/>
          <p:nvPr/>
        </p:nvSpPr>
        <p:spPr>
          <a:xfrm>
            <a:off x="6144840" y="82296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Learner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1"/>
          <p:cNvSpPr/>
          <p:nvPr/>
        </p:nvSpPr>
        <p:spPr>
          <a:xfrm>
            <a:off x="6236280" y="1325880"/>
            <a:ext cx="2558880" cy="228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Apprend la valeur choisie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Ne participe pas aux votes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Peut être plusieurs (répliques)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2"/>
          <p:cNvSpPr/>
          <p:nvPr/>
        </p:nvSpPr>
        <p:spPr>
          <a:xfrm>
            <a:off x="274320" y="4389120"/>
            <a:ext cx="85939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1565C0"/>
                </a:solidFill>
                <a:effectLst/>
                <a:uFillTx/>
                <a:latin typeface="Calibri"/>
                <a:ea typeface="Calibri"/>
              </a:rPr>
              <a:t>⚠️ Un même nœud peut cumuler plusieurs rôles simultanément.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65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Shape 0"/>
          <p:cNvSpPr/>
          <p:nvPr/>
        </p:nvSpPr>
        <p:spPr>
          <a:xfrm>
            <a:off x="0" y="0"/>
            <a:ext cx="9142560" cy="9000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1"/>
          <p:cNvSpPr/>
          <p:nvPr/>
        </p:nvSpPr>
        <p:spPr>
          <a:xfrm>
            <a:off x="0" y="5052240"/>
            <a:ext cx="9142560" cy="9000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"/>
          <p:cNvSpPr/>
          <p:nvPr/>
        </p:nvSpPr>
        <p:spPr>
          <a:xfrm>
            <a:off x="457200" y="1645920"/>
            <a:ext cx="8228160" cy="182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5. Les phases de l'algorithme</a:t>
            </a:r>
            <a:endParaRPr lang="fr-F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Shape 0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"/>
          <p:cNvSpPr/>
          <p:nvPr/>
        </p:nvSpPr>
        <p:spPr>
          <a:xfrm>
            <a:off x="274320" y="45720"/>
            <a:ext cx="8593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Phase 1 — Prepare / Promise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2"/>
          <p:cNvSpPr/>
          <p:nvPr/>
        </p:nvSpPr>
        <p:spPr>
          <a:xfrm>
            <a:off x="0" y="685800"/>
            <a:ext cx="71640" cy="445644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3"/>
          <p:cNvSpPr/>
          <p:nvPr/>
        </p:nvSpPr>
        <p:spPr>
          <a:xfrm>
            <a:off x="228600" y="777240"/>
            <a:ext cx="4113360" cy="41004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4"/>
          <p:cNvSpPr/>
          <p:nvPr/>
        </p:nvSpPr>
        <p:spPr>
          <a:xfrm>
            <a:off x="228600" y="777240"/>
            <a:ext cx="41133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1a. Proposer → Prepare(n)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5"/>
          <p:cNvSpPr/>
          <p:nvPr/>
        </p:nvSpPr>
        <p:spPr>
          <a:xfrm>
            <a:off x="228600" y="1234440"/>
            <a:ext cx="4113360" cy="20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Choisit n, numéro unique et supérieur à tout vu précédemment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Envoie Prepare(n) à une majorité d'acceptors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Objectif : obtenir des promesses avant de proposer une valeur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6"/>
          <p:cNvSpPr/>
          <p:nvPr/>
        </p:nvSpPr>
        <p:spPr>
          <a:xfrm>
            <a:off x="4800600" y="777240"/>
            <a:ext cx="4113360" cy="410040"/>
          </a:xfrm>
          <a:prstGeom prst="rect">
            <a:avLst/>
          </a:prstGeom>
          <a:solidFill>
            <a:srgbClr val="1B5E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7"/>
          <p:cNvSpPr/>
          <p:nvPr/>
        </p:nvSpPr>
        <p:spPr>
          <a:xfrm>
            <a:off x="4800600" y="777240"/>
            <a:ext cx="41133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1b. Acceptor → Promise(n, val?)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8"/>
          <p:cNvSpPr/>
          <p:nvPr/>
        </p:nvSpPr>
        <p:spPr>
          <a:xfrm>
            <a:off x="4800600" y="1234440"/>
            <a:ext cx="4113360" cy="20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Si n est le plus grand numéro vu : promet de ne plus accepter de proposition &lt; n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Renvoie la valeur déjà acceptée (si elle existe)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Sinon : ignore la demande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9"/>
          <p:cNvSpPr/>
          <p:nvPr/>
        </p:nvSpPr>
        <p:spPr>
          <a:xfrm>
            <a:off x="228600" y="3429000"/>
            <a:ext cx="8685360" cy="137016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0"/>
          <p:cNvSpPr/>
          <p:nvPr/>
        </p:nvSpPr>
        <p:spPr>
          <a:xfrm>
            <a:off x="365760" y="3493080"/>
            <a:ext cx="8411040" cy="12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💡 Objectif de la phase 1 : s'assurer qu'aucune ancienne décision ne sera ignorée.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Si une valeur v a déjà été acceptée, le proposer doit s'y conformer.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0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"/>
          <p:cNvSpPr/>
          <p:nvPr/>
        </p:nvSpPr>
        <p:spPr>
          <a:xfrm>
            <a:off x="274320" y="45720"/>
            <a:ext cx="8593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Phase 2 — Accept / Accepted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2"/>
          <p:cNvSpPr/>
          <p:nvPr/>
        </p:nvSpPr>
        <p:spPr>
          <a:xfrm>
            <a:off x="0" y="685800"/>
            <a:ext cx="71640" cy="445644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3"/>
          <p:cNvSpPr/>
          <p:nvPr/>
        </p:nvSpPr>
        <p:spPr>
          <a:xfrm>
            <a:off x="228600" y="777240"/>
            <a:ext cx="4113360" cy="41004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4"/>
          <p:cNvSpPr/>
          <p:nvPr/>
        </p:nvSpPr>
        <p:spPr>
          <a:xfrm>
            <a:off x="228600" y="777240"/>
            <a:ext cx="41133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2a. Proposer → Accept(n, v)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5"/>
          <p:cNvSpPr/>
          <p:nvPr/>
        </p:nvSpPr>
        <p:spPr>
          <a:xfrm>
            <a:off x="228600" y="1234440"/>
            <a:ext cx="4113360" cy="20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Si majorité de promesses reçues :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v = valeur déjà acceptée avec le plus grand n (si elle existe)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Sinon v = sa propre valeur proposée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Envoie Accept(n, v) à tous les acceptors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6"/>
          <p:cNvSpPr/>
          <p:nvPr/>
        </p:nvSpPr>
        <p:spPr>
          <a:xfrm>
            <a:off x="4800600" y="777240"/>
            <a:ext cx="4113360" cy="410040"/>
          </a:xfrm>
          <a:prstGeom prst="rect">
            <a:avLst/>
          </a:prstGeom>
          <a:solidFill>
            <a:srgbClr val="1B5E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7"/>
          <p:cNvSpPr/>
          <p:nvPr/>
        </p:nvSpPr>
        <p:spPr>
          <a:xfrm>
            <a:off x="4800600" y="777240"/>
            <a:ext cx="41133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2b. Acceptor → Accepted / Refus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8"/>
          <p:cNvSpPr/>
          <p:nvPr/>
        </p:nvSpPr>
        <p:spPr>
          <a:xfrm>
            <a:off x="4800600" y="1234440"/>
            <a:ext cx="4113360" cy="20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Accepte si n est toujours le plus grand numéro promis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Notifie les learners de l'acceptation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37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Refuse et ignore si un Prepare(n') avec n' &gt; n est arrivé entre-temps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9"/>
          <p:cNvSpPr/>
          <p:nvPr/>
        </p:nvSpPr>
        <p:spPr>
          <a:xfrm>
            <a:off x="228600" y="3429000"/>
            <a:ext cx="8685360" cy="137016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0"/>
          <p:cNvSpPr/>
          <p:nvPr/>
        </p:nvSpPr>
        <p:spPr>
          <a:xfrm>
            <a:off x="365760" y="3493080"/>
            <a:ext cx="8411040" cy="12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💡 Le consensus est atteint quand une majorité d'acceptors accepte la même valeur v.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Les learners sont alors informés → phase Learn terminée.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Shape 0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"/>
          <p:cNvSpPr/>
          <p:nvPr/>
        </p:nvSpPr>
        <p:spPr>
          <a:xfrm>
            <a:off x="274320" y="45720"/>
            <a:ext cx="8593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Schéma de séquence — Vue globale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2"/>
          <p:cNvSpPr/>
          <p:nvPr/>
        </p:nvSpPr>
        <p:spPr>
          <a:xfrm>
            <a:off x="0" y="685800"/>
            <a:ext cx="71640" cy="445644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3"/>
          <p:cNvSpPr/>
          <p:nvPr/>
        </p:nvSpPr>
        <p:spPr>
          <a:xfrm>
            <a:off x="274320" y="777240"/>
            <a:ext cx="1278720" cy="36432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4"/>
          <p:cNvSpPr/>
          <p:nvPr/>
        </p:nvSpPr>
        <p:spPr>
          <a:xfrm>
            <a:off x="274320" y="77724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Proposer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5"/>
          <p:cNvSpPr/>
          <p:nvPr/>
        </p:nvSpPr>
        <p:spPr>
          <a:xfrm>
            <a:off x="914400" y="1143000"/>
            <a:ext cx="360" cy="3657600"/>
          </a:xfrm>
          <a:prstGeom prst="line">
            <a:avLst/>
          </a:prstGeom>
          <a:ln w="12700">
            <a:solidFill>
              <a:srgbClr val="90A4AE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6"/>
          <p:cNvSpPr/>
          <p:nvPr/>
        </p:nvSpPr>
        <p:spPr>
          <a:xfrm>
            <a:off x="2103120" y="777240"/>
            <a:ext cx="1278720" cy="36432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7"/>
          <p:cNvSpPr/>
          <p:nvPr/>
        </p:nvSpPr>
        <p:spPr>
          <a:xfrm>
            <a:off x="2103120" y="77724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Acceptor 1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8"/>
          <p:cNvSpPr/>
          <p:nvPr/>
        </p:nvSpPr>
        <p:spPr>
          <a:xfrm>
            <a:off x="2743200" y="1143000"/>
            <a:ext cx="360" cy="3657600"/>
          </a:xfrm>
          <a:prstGeom prst="line">
            <a:avLst/>
          </a:prstGeom>
          <a:ln w="12700">
            <a:solidFill>
              <a:srgbClr val="90A4AE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9"/>
          <p:cNvSpPr/>
          <p:nvPr/>
        </p:nvSpPr>
        <p:spPr>
          <a:xfrm>
            <a:off x="3931920" y="777240"/>
            <a:ext cx="1278720" cy="36432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0"/>
          <p:cNvSpPr/>
          <p:nvPr/>
        </p:nvSpPr>
        <p:spPr>
          <a:xfrm>
            <a:off x="3931920" y="77724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Acceptor 2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1"/>
          <p:cNvSpPr/>
          <p:nvPr/>
        </p:nvSpPr>
        <p:spPr>
          <a:xfrm>
            <a:off x="4572000" y="1143000"/>
            <a:ext cx="360" cy="3657600"/>
          </a:xfrm>
          <a:prstGeom prst="line">
            <a:avLst/>
          </a:prstGeom>
          <a:ln w="12700">
            <a:solidFill>
              <a:srgbClr val="90A4AE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12"/>
          <p:cNvSpPr/>
          <p:nvPr/>
        </p:nvSpPr>
        <p:spPr>
          <a:xfrm>
            <a:off x="5760720" y="777240"/>
            <a:ext cx="1278720" cy="36432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3"/>
          <p:cNvSpPr/>
          <p:nvPr/>
        </p:nvSpPr>
        <p:spPr>
          <a:xfrm>
            <a:off x="5760720" y="77724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Acceptor 3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4"/>
          <p:cNvSpPr/>
          <p:nvPr/>
        </p:nvSpPr>
        <p:spPr>
          <a:xfrm>
            <a:off x="6400800" y="1143000"/>
            <a:ext cx="360" cy="3657600"/>
          </a:xfrm>
          <a:prstGeom prst="line">
            <a:avLst/>
          </a:prstGeom>
          <a:ln w="12700">
            <a:solidFill>
              <a:srgbClr val="90A4AE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15"/>
          <p:cNvSpPr/>
          <p:nvPr/>
        </p:nvSpPr>
        <p:spPr>
          <a:xfrm>
            <a:off x="7589520" y="777240"/>
            <a:ext cx="1278720" cy="36432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6"/>
          <p:cNvSpPr/>
          <p:nvPr/>
        </p:nvSpPr>
        <p:spPr>
          <a:xfrm>
            <a:off x="7589520" y="77724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Learner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17"/>
          <p:cNvSpPr/>
          <p:nvPr/>
        </p:nvSpPr>
        <p:spPr>
          <a:xfrm>
            <a:off x="8229600" y="1143000"/>
            <a:ext cx="360" cy="3657600"/>
          </a:xfrm>
          <a:prstGeom prst="line">
            <a:avLst/>
          </a:prstGeom>
          <a:ln w="12700">
            <a:solidFill>
              <a:srgbClr val="90A4AE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8"/>
          <p:cNvSpPr/>
          <p:nvPr/>
        </p:nvSpPr>
        <p:spPr>
          <a:xfrm>
            <a:off x="45720" y="123444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565C0"/>
                </a:solidFill>
                <a:effectLst/>
                <a:uFillTx/>
                <a:latin typeface="Calibri"/>
                <a:ea typeface="Calibri"/>
              </a:rPr>
              <a:t>Phase 1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19"/>
          <p:cNvSpPr/>
          <p:nvPr/>
        </p:nvSpPr>
        <p:spPr>
          <a:xfrm>
            <a:off x="914400" y="1417320"/>
            <a:ext cx="1828800" cy="360"/>
          </a:xfrm>
          <a:prstGeom prst="line">
            <a:avLst/>
          </a:prstGeom>
          <a:ln w="19050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0"/>
          <p:cNvSpPr/>
          <p:nvPr/>
        </p:nvSpPr>
        <p:spPr>
          <a:xfrm>
            <a:off x="2606040" y="1343880"/>
            <a:ext cx="137160" cy="73440"/>
          </a:xfrm>
          <a:prstGeom prst="line">
            <a:avLst/>
          </a:prstGeom>
          <a:ln w="19050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28440" rIns="68400" bIns="284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21"/>
          <p:cNvSpPr/>
          <p:nvPr/>
        </p:nvSpPr>
        <p:spPr>
          <a:xfrm flipV="1">
            <a:off x="2606040" y="1417320"/>
            <a:ext cx="137160" cy="73080"/>
          </a:xfrm>
          <a:prstGeom prst="line">
            <a:avLst/>
          </a:prstGeom>
          <a:ln w="19050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28080" rIns="68400" bIns="2808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22"/>
          <p:cNvSpPr/>
          <p:nvPr/>
        </p:nvSpPr>
        <p:spPr>
          <a:xfrm>
            <a:off x="1280160" y="1161360"/>
            <a:ext cx="10958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565C0"/>
                </a:solidFill>
                <a:effectLst/>
                <a:uFillTx/>
                <a:latin typeface="Calibri"/>
                <a:ea typeface="Calibri"/>
              </a:rPr>
              <a:t>Prepare(n)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23"/>
          <p:cNvSpPr/>
          <p:nvPr/>
        </p:nvSpPr>
        <p:spPr>
          <a:xfrm>
            <a:off x="914400" y="1645920"/>
            <a:ext cx="3657600" cy="360"/>
          </a:xfrm>
          <a:prstGeom prst="line">
            <a:avLst/>
          </a:prstGeom>
          <a:ln w="19050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24"/>
          <p:cNvSpPr/>
          <p:nvPr/>
        </p:nvSpPr>
        <p:spPr>
          <a:xfrm>
            <a:off x="4434840" y="1572480"/>
            <a:ext cx="137160" cy="73440"/>
          </a:xfrm>
          <a:prstGeom prst="line">
            <a:avLst/>
          </a:prstGeom>
          <a:ln w="19050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28440" rIns="68400" bIns="284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25"/>
          <p:cNvSpPr/>
          <p:nvPr/>
        </p:nvSpPr>
        <p:spPr>
          <a:xfrm flipV="1">
            <a:off x="4434840" y="1645920"/>
            <a:ext cx="137160" cy="73080"/>
          </a:xfrm>
          <a:prstGeom prst="line">
            <a:avLst/>
          </a:prstGeom>
          <a:ln w="19050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28080" rIns="68400" bIns="2808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26"/>
          <p:cNvSpPr/>
          <p:nvPr/>
        </p:nvSpPr>
        <p:spPr>
          <a:xfrm>
            <a:off x="2194560" y="1389960"/>
            <a:ext cx="10958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565C0"/>
                </a:solidFill>
                <a:effectLst/>
                <a:uFillTx/>
                <a:latin typeface="Calibri"/>
                <a:ea typeface="Calibri"/>
              </a:rPr>
              <a:t>Prepare(n)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27"/>
          <p:cNvSpPr/>
          <p:nvPr/>
        </p:nvSpPr>
        <p:spPr>
          <a:xfrm>
            <a:off x="914400" y="1874520"/>
            <a:ext cx="5486400" cy="360"/>
          </a:xfrm>
          <a:prstGeom prst="line">
            <a:avLst/>
          </a:prstGeom>
          <a:ln w="19050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28"/>
          <p:cNvSpPr/>
          <p:nvPr/>
        </p:nvSpPr>
        <p:spPr>
          <a:xfrm>
            <a:off x="6263640" y="1801080"/>
            <a:ext cx="137160" cy="73440"/>
          </a:xfrm>
          <a:prstGeom prst="line">
            <a:avLst/>
          </a:prstGeom>
          <a:ln w="19050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28440" rIns="68400" bIns="284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29"/>
          <p:cNvSpPr/>
          <p:nvPr/>
        </p:nvSpPr>
        <p:spPr>
          <a:xfrm flipV="1">
            <a:off x="6263640" y="1874520"/>
            <a:ext cx="137160" cy="73080"/>
          </a:xfrm>
          <a:prstGeom prst="line">
            <a:avLst/>
          </a:prstGeom>
          <a:ln w="19050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28080" rIns="68400" bIns="2808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30"/>
          <p:cNvSpPr/>
          <p:nvPr/>
        </p:nvSpPr>
        <p:spPr>
          <a:xfrm>
            <a:off x="3108960" y="1618560"/>
            <a:ext cx="10958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565C0"/>
                </a:solidFill>
                <a:effectLst/>
                <a:uFillTx/>
                <a:latin typeface="Calibri"/>
                <a:ea typeface="Calibri"/>
              </a:rPr>
              <a:t>Prepare(n)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31"/>
          <p:cNvSpPr/>
          <p:nvPr/>
        </p:nvSpPr>
        <p:spPr>
          <a:xfrm>
            <a:off x="914400" y="2240280"/>
            <a:ext cx="1828800" cy="360"/>
          </a:xfrm>
          <a:prstGeom prst="line">
            <a:avLst/>
          </a:prstGeom>
          <a:ln w="19050">
            <a:solidFill>
              <a:srgbClr val="1B5E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32"/>
          <p:cNvSpPr/>
          <p:nvPr/>
        </p:nvSpPr>
        <p:spPr>
          <a:xfrm flipH="1">
            <a:off x="914400" y="2166840"/>
            <a:ext cx="137160" cy="73440"/>
          </a:xfrm>
          <a:prstGeom prst="line">
            <a:avLst/>
          </a:prstGeom>
          <a:ln w="19050">
            <a:solidFill>
              <a:srgbClr val="1B5E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28440" rIns="68400" bIns="284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33"/>
          <p:cNvSpPr/>
          <p:nvPr/>
        </p:nvSpPr>
        <p:spPr>
          <a:xfrm flipH="1" flipV="1">
            <a:off x="914400" y="2240280"/>
            <a:ext cx="137160" cy="73080"/>
          </a:xfrm>
          <a:prstGeom prst="line">
            <a:avLst/>
          </a:prstGeom>
          <a:ln w="19050">
            <a:solidFill>
              <a:srgbClr val="1B5E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28080" rIns="68400" bIns="2808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34"/>
          <p:cNvSpPr/>
          <p:nvPr/>
        </p:nvSpPr>
        <p:spPr>
          <a:xfrm>
            <a:off x="1280160" y="1984320"/>
            <a:ext cx="10958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5E20"/>
                </a:solidFill>
                <a:effectLst/>
                <a:uFillTx/>
                <a:latin typeface="Calibri"/>
                <a:ea typeface="Calibri"/>
              </a:rPr>
              <a:t>Promise(n)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35"/>
          <p:cNvSpPr/>
          <p:nvPr/>
        </p:nvSpPr>
        <p:spPr>
          <a:xfrm>
            <a:off x="914400" y="2468880"/>
            <a:ext cx="3657600" cy="360"/>
          </a:xfrm>
          <a:prstGeom prst="line">
            <a:avLst/>
          </a:prstGeom>
          <a:ln w="19050">
            <a:solidFill>
              <a:srgbClr val="1B5E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36"/>
          <p:cNvSpPr/>
          <p:nvPr/>
        </p:nvSpPr>
        <p:spPr>
          <a:xfrm flipH="1">
            <a:off x="914400" y="2395440"/>
            <a:ext cx="137160" cy="73440"/>
          </a:xfrm>
          <a:prstGeom prst="line">
            <a:avLst/>
          </a:prstGeom>
          <a:ln w="19050">
            <a:solidFill>
              <a:srgbClr val="1B5E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28440" rIns="68400" bIns="284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37"/>
          <p:cNvSpPr/>
          <p:nvPr/>
        </p:nvSpPr>
        <p:spPr>
          <a:xfrm flipH="1" flipV="1">
            <a:off x="914400" y="2468880"/>
            <a:ext cx="137160" cy="73080"/>
          </a:xfrm>
          <a:prstGeom prst="line">
            <a:avLst/>
          </a:prstGeom>
          <a:ln w="19050">
            <a:solidFill>
              <a:srgbClr val="1B5E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28080" rIns="68400" bIns="2808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38"/>
          <p:cNvSpPr/>
          <p:nvPr/>
        </p:nvSpPr>
        <p:spPr>
          <a:xfrm>
            <a:off x="2194560" y="2212920"/>
            <a:ext cx="10958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5E20"/>
                </a:solidFill>
                <a:effectLst/>
                <a:uFillTx/>
                <a:latin typeface="Calibri"/>
                <a:ea typeface="Calibri"/>
              </a:rPr>
              <a:t>Promise(n)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39"/>
          <p:cNvSpPr/>
          <p:nvPr/>
        </p:nvSpPr>
        <p:spPr>
          <a:xfrm>
            <a:off x="914400" y="2697480"/>
            <a:ext cx="5486400" cy="360"/>
          </a:xfrm>
          <a:prstGeom prst="line">
            <a:avLst/>
          </a:prstGeom>
          <a:ln w="19050">
            <a:solidFill>
              <a:srgbClr val="1B5E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40"/>
          <p:cNvSpPr/>
          <p:nvPr/>
        </p:nvSpPr>
        <p:spPr>
          <a:xfrm flipH="1">
            <a:off x="914400" y="2624040"/>
            <a:ext cx="137160" cy="73440"/>
          </a:xfrm>
          <a:prstGeom prst="line">
            <a:avLst/>
          </a:prstGeom>
          <a:ln w="19050">
            <a:solidFill>
              <a:srgbClr val="1B5E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28440" rIns="68400" bIns="284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41"/>
          <p:cNvSpPr/>
          <p:nvPr/>
        </p:nvSpPr>
        <p:spPr>
          <a:xfrm flipH="1" flipV="1">
            <a:off x="914400" y="2697480"/>
            <a:ext cx="137160" cy="73080"/>
          </a:xfrm>
          <a:prstGeom prst="line">
            <a:avLst/>
          </a:prstGeom>
          <a:ln w="19050">
            <a:solidFill>
              <a:srgbClr val="1B5E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28080" rIns="68400" bIns="2808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42"/>
          <p:cNvSpPr/>
          <p:nvPr/>
        </p:nvSpPr>
        <p:spPr>
          <a:xfrm>
            <a:off x="3108960" y="2441520"/>
            <a:ext cx="10958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5E20"/>
                </a:solidFill>
                <a:effectLst/>
                <a:uFillTx/>
                <a:latin typeface="Calibri"/>
                <a:ea typeface="Calibri"/>
              </a:rPr>
              <a:t>Promise(n)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43"/>
          <p:cNvSpPr/>
          <p:nvPr/>
        </p:nvSpPr>
        <p:spPr>
          <a:xfrm>
            <a:off x="45720" y="283464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565C0"/>
                </a:solidFill>
                <a:effectLst/>
                <a:uFillTx/>
                <a:latin typeface="Calibri"/>
                <a:ea typeface="Calibri"/>
              </a:rPr>
              <a:t>Phase 2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44"/>
          <p:cNvSpPr/>
          <p:nvPr/>
        </p:nvSpPr>
        <p:spPr>
          <a:xfrm>
            <a:off x="914400" y="3063240"/>
            <a:ext cx="1828800" cy="360"/>
          </a:xfrm>
          <a:prstGeom prst="line">
            <a:avLst/>
          </a:prstGeom>
          <a:ln w="19050">
            <a:solidFill>
              <a:srgbClr val="2196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45"/>
          <p:cNvSpPr/>
          <p:nvPr/>
        </p:nvSpPr>
        <p:spPr>
          <a:xfrm>
            <a:off x="2606040" y="2989800"/>
            <a:ext cx="137160" cy="73440"/>
          </a:xfrm>
          <a:prstGeom prst="line">
            <a:avLst/>
          </a:prstGeom>
          <a:ln w="19050">
            <a:solidFill>
              <a:srgbClr val="2196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28440" rIns="68400" bIns="284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46"/>
          <p:cNvSpPr/>
          <p:nvPr/>
        </p:nvSpPr>
        <p:spPr>
          <a:xfrm flipV="1">
            <a:off x="2606040" y="3063240"/>
            <a:ext cx="137160" cy="73080"/>
          </a:xfrm>
          <a:prstGeom prst="line">
            <a:avLst/>
          </a:prstGeom>
          <a:ln w="19050">
            <a:solidFill>
              <a:srgbClr val="2196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28080" rIns="68400" bIns="2808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47"/>
          <p:cNvSpPr/>
          <p:nvPr/>
        </p:nvSpPr>
        <p:spPr>
          <a:xfrm>
            <a:off x="1280160" y="2807280"/>
            <a:ext cx="10958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196F3"/>
                </a:solidFill>
                <a:effectLst/>
                <a:uFillTx/>
                <a:latin typeface="Calibri"/>
                <a:ea typeface="Calibri"/>
              </a:rPr>
              <a:t>Accept(n,v)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48"/>
          <p:cNvSpPr/>
          <p:nvPr/>
        </p:nvSpPr>
        <p:spPr>
          <a:xfrm>
            <a:off x="914400" y="3291840"/>
            <a:ext cx="3657600" cy="360"/>
          </a:xfrm>
          <a:prstGeom prst="line">
            <a:avLst/>
          </a:prstGeom>
          <a:ln w="19050">
            <a:solidFill>
              <a:srgbClr val="2196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49"/>
          <p:cNvSpPr/>
          <p:nvPr/>
        </p:nvSpPr>
        <p:spPr>
          <a:xfrm>
            <a:off x="4434840" y="3218400"/>
            <a:ext cx="137160" cy="73440"/>
          </a:xfrm>
          <a:prstGeom prst="line">
            <a:avLst/>
          </a:prstGeom>
          <a:ln w="19050">
            <a:solidFill>
              <a:srgbClr val="2196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28440" rIns="68400" bIns="284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50"/>
          <p:cNvSpPr/>
          <p:nvPr/>
        </p:nvSpPr>
        <p:spPr>
          <a:xfrm flipV="1">
            <a:off x="4434840" y="3291840"/>
            <a:ext cx="137160" cy="73080"/>
          </a:xfrm>
          <a:prstGeom prst="line">
            <a:avLst/>
          </a:prstGeom>
          <a:ln w="19050">
            <a:solidFill>
              <a:srgbClr val="2196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28080" rIns="68400" bIns="2808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51"/>
          <p:cNvSpPr/>
          <p:nvPr/>
        </p:nvSpPr>
        <p:spPr>
          <a:xfrm>
            <a:off x="2194560" y="3035880"/>
            <a:ext cx="10958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196F3"/>
                </a:solidFill>
                <a:effectLst/>
                <a:uFillTx/>
                <a:latin typeface="Calibri"/>
                <a:ea typeface="Calibri"/>
              </a:rPr>
              <a:t>Accept(n,v)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52"/>
          <p:cNvSpPr/>
          <p:nvPr/>
        </p:nvSpPr>
        <p:spPr>
          <a:xfrm>
            <a:off x="914400" y="3520440"/>
            <a:ext cx="5486400" cy="360"/>
          </a:xfrm>
          <a:prstGeom prst="line">
            <a:avLst/>
          </a:prstGeom>
          <a:ln w="19050">
            <a:solidFill>
              <a:srgbClr val="2196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53"/>
          <p:cNvSpPr/>
          <p:nvPr/>
        </p:nvSpPr>
        <p:spPr>
          <a:xfrm>
            <a:off x="6263640" y="3447000"/>
            <a:ext cx="137160" cy="73440"/>
          </a:xfrm>
          <a:prstGeom prst="line">
            <a:avLst/>
          </a:prstGeom>
          <a:ln w="19050">
            <a:solidFill>
              <a:srgbClr val="2196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28440" rIns="68400" bIns="284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54"/>
          <p:cNvSpPr/>
          <p:nvPr/>
        </p:nvSpPr>
        <p:spPr>
          <a:xfrm flipV="1">
            <a:off x="6263640" y="3520440"/>
            <a:ext cx="137160" cy="73080"/>
          </a:xfrm>
          <a:prstGeom prst="line">
            <a:avLst/>
          </a:prstGeom>
          <a:ln w="19050">
            <a:solidFill>
              <a:srgbClr val="2196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28080" rIns="68400" bIns="2808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55"/>
          <p:cNvSpPr/>
          <p:nvPr/>
        </p:nvSpPr>
        <p:spPr>
          <a:xfrm>
            <a:off x="3108960" y="3264480"/>
            <a:ext cx="10958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196F3"/>
                </a:solidFill>
                <a:effectLst/>
                <a:uFillTx/>
                <a:latin typeface="Calibri"/>
                <a:ea typeface="Calibri"/>
              </a:rPr>
              <a:t>Accept(n,v)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56"/>
          <p:cNvSpPr/>
          <p:nvPr/>
        </p:nvSpPr>
        <p:spPr>
          <a:xfrm>
            <a:off x="45720" y="3840480"/>
            <a:ext cx="6386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Learn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57"/>
          <p:cNvSpPr/>
          <p:nvPr/>
        </p:nvSpPr>
        <p:spPr>
          <a:xfrm>
            <a:off x="2743200" y="4023360"/>
            <a:ext cx="5486400" cy="360"/>
          </a:xfrm>
          <a:prstGeom prst="line">
            <a:avLst/>
          </a:prstGeom>
          <a:ln w="19050">
            <a:solidFill>
              <a:srgbClr val="FFC10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58"/>
          <p:cNvSpPr/>
          <p:nvPr/>
        </p:nvSpPr>
        <p:spPr>
          <a:xfrm>
            <a:off x="8092440" y="3949920"/>
            <a:ext cx="137160" cy="73440"/>
          </a:xfrm>
          <a:prstGeom prst="line">
            <a:avLst/>
          </a:prstGeom>
          <a:ln w="19050">
            <a:solidFill>
              <a:srgbClr val="FFC10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28440" rIns="68400" bIns="284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59"/>
          <p:cNvSpPr/>
          <p:nvPr/>
        </p:nvSpPr>
        <p:spPr>
          <a:xfrm flipV="1">
            <a:off x="8092440" y="4023360"/>
            <a:ext cx="137160" cy="73080"/>
          </a:xfrm>
          <a:prstGeom prst="line">
            <a:avLst/>
          </a:prstGeom>
          <a:ln w="19050">
            <a:solidFill>
              <a:srgbClr val="FFC10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28080" rIns="68400" bIns="2808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60"/>
          <p:cNvSpPr/>
          <p:nvPr/>
        </p:nvSpPr>
        <p:spPr>
          <a:xfrm>
            <a:off x="4937760" y="3767400"/>
            <a:ext cx="10958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Accepted(v)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61"/>
          <p:cNvSpPr/>
          <p:nvPr/>
        </p:nvSpPr>
        <p:spPr>
          <a:xfrm>
            <a:off x="4572000" y="4206240"/>
            <a:ext cx="3657600" cy="360"/>
          </a:xfrm>
          <a:prstGeom prst="line">
            <a:avLst/>
          </a:prstGeom>
          <a:ln w="19050">
            <a:solidFill>
              <a:srgbClr val="FFC10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62"/>
          <p:cNvSpPr/>
          <p:nvPr/>
        </p:nvSpPr>
        <p:spPr>
          <a:xfrm>
            <a:off x="8092440" y="4132800"/>
            <a:ext cx="137160" cy="73440"/>
          </a:xfrm>
          <a:prstGeom prst="line">
            <a:avLst/>
          </a:prstGeom>
          <a:ln w="19050">
            <a:solidFill>
              <a:srgbClr val="FFC10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28440" rIns="68400" bIns="2844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63"/>
          <p:cNvSpPr/>
          <p:nvPr/>
        </p:nvSpPr>
        <p:spPr>
          <a:xfrm flipV="1">
            <a:off x="8092440" y="4206240"/>
            <a:ext cx="137160" cy="73080"/>
          </a:xfrm>
          <a:prstGeom prst="line">
            <a:avLst/>
          </a:prstGeom>
          <a:ln w="19050">
            <a:solidFill>
              <a:srgbClr val="FFC10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28080" rIns="68400" bIns="28080" anchor="t" anchorCtr="1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64"/>
          <p:cNvSpPr/>
          <p:nvPr/>
        </p:nvSpPr>
        <p:spPr>
          <a:xfrm>
            <a:off x="5852160" y="3950280"/>
            <a:ext cx="10958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Accepted(v)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65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Shape 0"/>
          <p:cNvSpPr/>
          <p:nvPr/>
        </p:nvSpPr>
        <p:spPr>
          <a:xfrm>
            <a:off x="0" y="0"/>
            <a:ext cx="9142560" cy="9000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1"/>
          <p:cNvSpPr/>
          <p:nvPr/>
        </p:nvSpPr>
        <p:spPr>
          <a:xfrm>
            <a:off x="0" y="5052240"/>
            <a:ext cx="9142560" cy="9000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2"/>
          <p:cNvSpPr/>
          <p:nvPr/>
        </p:nvSpPr>
        <p:spPr>
          <a:xfrm>
            <a:off x="457200" y="1645920"/>
            <a:ext cx="8228160" cy="182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6. Safety &amp; Liveness</a:t>
            </a:r>
            <a:endParaRPr lang="fr-F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Shape 0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"/>
          <p:cNvSpPr/>
          <p:nvPr/>
        </p:nvSpPr>
        <p:spPr>
          <a:xfrm>
            <a:off x="274320" y="45720"/>
            <a:ext cx="8593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Propriétés garanties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2"/>
          <p:cNvSpPr/>
          <p:nvPr/>
        </p:nvSpPr>
        <p:spPr>
          <a:xfrm>
            <a:off x="0" y="685800"/>
            <a:ext cx="71640" cy="445644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3"/>
          <p:cNvSpPr/>
          <p:nvPr/>
        </p:nvSpPr>
        <p:spPr>
          <a:xfrm>
            <a:off x="274320" y="822960"/>
            <a:ext cx="3839040" cy="274176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4"/>
          <p:cNvSpPr/>
          <p:nvPr/>
        </p:nvSpPr>
        <p:spPr>
          <a:xfrm>
            <a:off x="274320" y="868680"/>
            <a:ext cx="38390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🔒 Safety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5"/>
          <p:cNvSpPr/>
          <p:nvPr/>
        </p:nvSpPr>
        <p:spPr>
          <a:xfrm>
            <a:off x="411480" y="1463040"/>
            <a:ext cx="3564720" cy="191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Une seule valeur choisie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La valeur doit avoir été proposée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Une valeur apprise est définitive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6"/>
          <p:cNvSpPr/>
          <p:nvPr/>
        </p:nvSpPr>
        <p:spPr>
          <a:xfrm>
            <a:off x="5029200" y="822960"/>
            <a:ext cx="3839040" cy="274176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7"/>
          <p:cNvSpPr/>
          <p:nvPr/>
        </p:nvSpPr>
        <p:spPr>
          <a:xfrm>
            <a:off x="5029200" y="868680"/>
            <a:ext cx="38390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2196F3"/>
                </a:solidFill>
                <a:effectLst/>
                <a:uFillTx/>
                <a:latin typeface="Calibri"/>
                <a:ea typeface="Calibri"/>
              </a:rPr>
              <a:t>⚡ Liveness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8"/>
          <p:cNvSpPr/>
          <p:nvPr/>
        </p:nvSpPr>
        <p:spPr>
          <a:xfrm>
            <a:off x="5166360" y="1463040"/>
            <a:ext cx="3564720" cy="191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Si majorité de nœuds actifs → décision garantie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Tolérance : N/2 pannes simultanées max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Livelock si 2 proposers en compétition → nécessite un leader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9"/>
          <p:cNvSpPr/>
          <p:nvPr/>
        </p:nvSpPr>
        <p:spPr>
          <a:xfrm>
            <a:off x="274320" y="3794760"/>
            <a:ext cx="8593920" cy="1095840"/>
          </a:xfrm>
          <a:prstGeom prst="rect">
            <a:avLst/>
          </a:prstGeom>
          <a:solidFill>
            <a:srgbClr val="B71C1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0"/>
          <p:cNvSpPr/>
          <p:nvPr/>
        </p:nvSpPr>
        <p:spPr>
          <a:xfrm>
            <a:off x="411480" y="3858840"/>
            <a:ext cx="8319600" cy="95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⚠️ LIVELOCK : si deux proposers incrémentent n indéfiniment, aucun ne passe.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Solution → Multi-Paxos : élection d'un leader unique.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65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hape 0"/>
          <p:cNvSpPr/>
          <p:nvPr/>
        </p:nvSpPr>
        <p:spPr>
          <a:xfrm>
            <a:off x="0" y="0"/>
            <a:ext cx="9142560" cy="9000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1"/>
          <p:cNvSpPr/>
          <p:nvPr/>
        </p:nvSpPr>
        <p:spPr>
          <a:xfrm>
            <a:off x="0" y="5052240"/>
            <a:ext cx="9142560" cy="9000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2"/>
          <p:cNvSpPr/>
          <p:nvPr/>
        </p:nvSpPr>
        <p:spPr>
          <a:xfrm>
            <a:off x="457200" y="1645920"/>
            <a:ext cx="8228160" cy="182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7. Variantes &amp; déploiements réels</a:t>
            </a:r>
            <a:endParaRPr lang="fr-F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Shape 0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1"/>
          <p:cNvSpPr/>
          <p:nvPr/>
        </p:nvSpPr>
        <p:spPr>
          <a:xfrm>
            <a:off x="274320" y="45720"/>
            <a:ext cx="8593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Variantes de Paxos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2"/>
          <p:cNvSpPr/>
          <p:nvPr/>
        </p:nvSpPr>
        <p:spPr>
          <a:xfrm>
            <a:off x="0" y="685800"/>
            <a:ext cx="71640" cy="445644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3"/>
          <p:cNvSpPr/>
          <p:nvPr/>
        </p:nvSpPr>
        <p:spPr>
          <a:xfrm>
            <a:off x="228600" y="914400"/>
            <a:ext cx="4204800" cy="114156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4"/>
          <p:cNvSpPr/>
          <p:nvPr/>
        </p:nvSpPr>
        <p:spPr>
          <a:xfrm>
            <a:off x="228600" y="914400"/>
            <a:ext cx="71640" cy="114156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5"/>
          <p:cNvSpPr/>
          <p:nvPr/>
        </p:nvSpPr>
        <p:spPr>
          <a:xfrm>
            <a:off x="411480" y="987480"/>
            <a:ext cx="39304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196F3"/>
                </a:solidFill>
                <a:effectLst/>
                <a:uFillTx/>
                <a:latin typeface="Calibri"/>
                <a:ea typeface="Calibri"/>
              </a:rPr>
              <a:t>Classic Paxos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6"/>
          <p:cNvSpPr/>
          <p:nvPr/>
        </p:nvSpPr>
        <p:spPr>
          <a:xfrm>
            <a:off x="411480" y="1371600"/>
            <a:ext cx="39304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Version originale : Prepare → Promise → Accept → Learn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7"/>
          <p:cNvSpPr/>
          <p:nvPr/>
        </p:nvSpPr>
        <p:spPr>
          <a:xfrm>
            <a:off x="4663440" y="914400"/>
            <a:ext cx="4204800" cy="114156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8"/>
          <p:cNvSpPr/>
          <p:nvPr/>
        </p:nvSpPr>
        <p:spPr>
          <a:xfrm>
            <a:off x="4663440" y="914400"/>
            <a:ext cx="71640" cy="114156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9"/>
          <p:cNvSpPr/>
          <p:nvPr/>
        </p:nvSpPr>
        <p:spPr>
          <a:xfrm>
            <a:off x="4846320" y="987480"/>
            <a:ext cx="39304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196F3"/>
                </a:solidFill>
                <a:effectLst/>
                <a:uFillTx/>
                <a:latin typeface="Calibri"/>
                <a:ea typeface="Calibri"/>
              </a:rPr>
              <a:t>Multi-Paxos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0"/>
          <p:cNvSpPr/>
          <p:nvPr/>
        </p:nvSpPr>
        <p:spPr>
          <a:xfrm>
            <a:off x="4846320" y="1371600"/>
            <a:ext cx="39304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Leader élu, phase Prepare supprimée pour les instances successives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11"/>
          <p:cNvSpPr/>
          <p:nvPr/>
        </p:nvSpPr>
        <p:spPr>
          <a:xfrm>
            <a:off x="228600" y="2194560"/>
            <a:ext cx="4204800" cy="114156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12"/>
          <p:cNvSpPr/>
          <p:nvPr/>
        </p:nvSpPr>
        <p:spPr>
          <a:xfrm>
            <a:off x="228600" y="2194560"/>
            <a:ext cx="71640" cy="114156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3"/>
          <p:cNvSpPr/>
          <p:nvPr/>
        </p:nvSpPr>
        <p:spPr>
          <a:xfrm>
            <a:off x="411480" y="2267640"/>
            <a:ext cx="39304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196F3"/>
                </a:solidFill>
                <a:effectLst/>
                <a:uFillTx/>
                <a:latin typeface="Calibri"/>
                <a:ea typeface="Calibri"/>
              </a:rPr>
              <a:t>Fast Paxos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4"/>
          <p:cNvSpPr/>
          <p:nvPr/>
        </p:nvSpPr>
        <p:spPr>
          <a:xfrm>
            <a:off x="411480" y="2651760"/>
            <a:ext cx="39304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Proposers contactent directement les acceptors, moins de tours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15"/>
          <p:cNvSpPr/>
          <p:nvPr/>
        </p:nvSpPr>
        <p:spPr>
          <a:xfrm>
            <a:off x="4663440" y="2194560"/>
            <a:ext cx="4204800" cy="114156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16"/>
          <p:cNvSpPr/>
          <p:nvPr/>
        </p:nvSpPr>
        <p:spPr>
          <a:xfrm>
            <a:off x="4663440" y="2194560"/>
            <a:ext cx="71640" cy="114156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17"/>
          <p:cNvSpPr/>
          <p:nvPr/>
        </p:nvSpPr>
        <p:spPr>
          <a:xfrm>
            <a:off x="4846320" y="2267640"/>
            <a:ext cx="39304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196F3"/>
                </a:solidFill>
                <a:effectLst/>
                <a:uFillTx/>
                <a:latin typeface="Calibri"/>
                <a:ea typeface="Calibri"/>
              </a:rPr>
              <a:t>Byzantine Paxos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8"/>
          <p:cNvSpPr/>
          <p:nvPr/>
        </p:nvSpPr>
        <p:spPr>
          <a:xfrm>
            <a:off x="4846320" y="2651760"/>
            <a:ext cx="39304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Supporte les nœuds qui mentent (fautes byzantines)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19"/>
          <p:cNvSpPr/>
          <p:nvPr/>
        </p:nvSpPr>
        <p:spPr>
          <a:xfrm>
            <a:off x="228600" y="3474720"/>
            <a:ext cx="4204800" cy="114156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20"/>
          <p:cNvSpPr/>
          <p:nvPr/>
        </p:nvSpPr>
        <p:spPr>
          <a:xfrm>
            <a:off x="228600" y="3474720"/>
            <a:ext cx="71640" cy="114156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21"/>
          <p:cNvSpPr/>
          <p:nvPr/>
        </p:nvSpPr>
        <p:spPr>
          <a:xfrm>
            <a:off x="411480" y="3547800"/>
            <a:ext cx="39304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196F3"/>
                </a:solidFill>
                <a:effectLst/>
                <a:uFillTx/>
                <a:latin typeface="Calibri"/>
                <a:ea typeface="Calibri"/>
              </a:rPr>
              <a:t>Egalitarian Paxos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22"/>
          <p:cNvSpPr/>
          <p:nvPr/>
        </p:nvSpPr>
        <p:spPr>
          <a:xfrm>
            <a:off x="411480" y="3931920"/>
            <a:ext cx="39304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Tout nœud peut proposer sans leader central désigné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23"/>
          <p:cNvSpPr/>
          <p:nvPr/>
        </p:nvSpPr>
        <p:spPr>
          <a:xfrm>
            <a:off x="4663440" y="3474720"/>
            <a:ext cx="4204800" cy="114156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24"/>
          <p:cNvSpPr/>
          <p:nvPr/>
        </p:nvSpPr>
        <p:spPr>
          <a:xfrm>
            <a:off x="4663440" y="3474720"/>
            <a:ext cx="71640" cy="114156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25"/>
          <p:cNvSpPr/>
          <p:nvPr/>
        </p:nvSpPr>
        <p:spPr>
          <a:xfrm>
            <a:off x="4846320" y="3547800"/>
            <a:ext cx="39304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196F3"/>
                </a:solidFill>
                <a:effectLst/>
                <a:uFillTx/>
                <a:latin typeface="Calibri"/>
                <a:ea typeface="Calibri"/>
              </a:rPr>
              <a:t>Cheap Paxos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26"/>
          <p:cNvSpPr/>
          <p:nvPr/>
        </p:nvSpPr>
        <p:spPr>
          <a:xfrm>
            <a:off x="4846320" y="3931920"/>
            <a:ext cx="39304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Réduit le nombre de nœuds actifs nécessaires à la majorité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hape 0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1"/>
          <p:cNvSpPr/>
          <p:nvPr/>
        </p:nvSpPr>
        <p:spPr>
          <a:xfrm>
            <a:off x="274320" y="45720"/>
            <a:ext cx="8593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Paxos dans la vraie vie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2"/>
          <p:cNvSpPr/>
          <p:nvPr/>
        </p:nvSpPr>
        <p:spPr>
          <a:xfrm>
            <a:off x="0" y="685800"/>
            <a:ext cx="71640" cy="445644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4" name="Table 0"/>
          <p:cNvGraphicFramePr/>
          <p:nvPr/>
        </p:nvGraphicFramePr>
        <p:xfrm>
          <a:off x="274320" y="822960"/>
          <a:ext cx="8595000" cy="4112640"/>
        </p:xfrm>
        <a:graphic>
          <a:graphicData uri="http://schemas.openxmlformats.org/drawingml/2006/table">
            <a:tbl>
              <a:tblPr/>
              <a:tblGrid>
                <a:gridCol w="3200400"/>
                <a:gridCol w="5394960"/>
              </a:tblGrid>
              <a:tr h="5875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Système</a:t>
                      </a:r>
                      <a:endParaRPr lang="fr-FR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Usage</a:t>
                      </a:r>
                      <a:endParaRPr lang="fr-FR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565C0"/>
                    </a:solidFill>
                  </a:tcPr>
                </a:tc>
              </a:tr>
              <a:tr h="5875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FFC107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Google Chubby</a:t>
                      </a:r>
                      <a:endParaRPr lang="fr-FR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Verrouillage distribué (Bigtable, GFS)</a:t>
                      </a:r>
                      <a:endParaRPr lang="fr-FR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0D1B2A"/>
                    </a:solidFill>
                  </a:tcPr>
                </a:tc>
              </a:tr>
              <a:tr h="5875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FFC107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Google Spanner</a:t>
                      </a:r>
                      <a:endParaRPr lang="fr-FR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Base SQL distribuée mondialement</a:t>
                      </a:r>
                      <a:endParaRPr lang="fr-FR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A237E"/>
                    </a:solidFill>
                  </a:tcPr>
                </a:tc>
              </a:tr>
              <a:tr h="5875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FFC107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Amazon DynamoDB</a:t>
                      </a:r>
                      <a:endParaRPr lang="fr-FR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Élection de leader et consensus</a:t>
                      </a:r>
                      <a:endParaRPr lang="fr-FR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0D1B2A"/>
                    </a:solidFill>
                  </a:tcPr>
                </a:tc>
              </a:tr>
              <a:tr h="5875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FFC107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Amazon ECS</a:t>
                      </a:r>
                      <a:endParaRPr lang="fr-FR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Vue cohérente de l'état du cluster</a:t>
                      </a:r>
                      <a:endParaRPr lang="fr-FR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A237E"/>
                    </a:solidFill>
                  </a:tcPr>
                </a:tc>
              </a:tr>
              <a:tr h="5875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FFC107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Apache Cassandra</a:t>
                      </a:r>
                      <a:endParaRPr lang="fr-FR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Lightweight Transactions</a:t>
                      </a:r>
                      <a:endParaRPr lang="fr-FR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0D1B2A"/>
                    </a:solidFill>
                  </a:tcPr>
                </a:tc>
              </a:tr>
              <a:tr h="5875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FFC107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Microsoft Autopilot</a:t>
                      </a:r>
                      <a:endParaRPr lang="fr-FR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Gestion des clusters Bing</a:t>
                      </a:r>
                      <a:endParaRPr lang="fr-FR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A237E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65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Shape 0"/>
          <p:cNvSpPr/>
          <p:nvPr/>
        </p:nvSpPr>
        <p:spPr>
          <a:xfrm>
            <a:off x="0" y="0"/>
            <a:ext cx="9142560" cy="9000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1"/>
          <p:cNvSpPr/>
          <p:nvPr/>
        </p:nvSpPr>
        <p:spPr>
          <a:xfrm>
            <a:off x="0" y="5052240"/>
            <a:ext cx="9142560" cy="9000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2"/>
          <p:cNvSpPr/>
          <p:nvPr/>
        </p:nvSpPr>
        <p:spPr>
          <a:xfrm>
            <a:off x="457200" y="1645920"/>
            <a:ext cx="8228160" cy="182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8. Paxos vs Raft</a:t>
            </a:r>
            <a:endParaRPr lang="fr-F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Shape 0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"/>
          <p:cNvSpPr/>
          <p:nvPr/>
        </p:nvSpPr>
        <p:spPr>
          <a:xfrm>
            <a:off x="274320" y="45720"/>
            <a:ext cx="8593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Paxos vs Raft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2"/>
          <p:cNvSpPr/>
          <p:nvPr/>
        </p:nvSpPr>
        <p:spPr>
          <a:xfrm>
            <a:off x="0" y="685800"/>
            <a:ext cx="71640" cy="445644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1" name="Table 0"/>
          <p:cNvGraphicFramePr/>
          <p:nvPr/>
        </p:nvGraphicFramePr>
        <p:xfrm>
          <a:off x="274320" y="822960"/>
          <a:ext cx="8595000" cy="3747600"/>
        </p:xfrm>
        <a:graphic>
          <a:graphicData uri="http://schemas.openxmlformats.org/drawingml/2006/table">
            <a:tbl>
              <a:tblPr/>
              <a:tblGrid>
                <a:gridCol w="2560320"/>
                <a:gridCol w="3017520"/>
                <a:gridCol w="3017520"/>
              </a:tblGrid>
              <a:tr h="6246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Critère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Paxos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Raft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565C0"/>
                    </a:solidFill>
                  </a:tcPr>
                </a:tc>
              </a:tr>
              <a:tr h="6246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FFC107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Compréhensibilité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FFC107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Difficile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FFC107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Facile (conçu pour ça)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0D1B2A"/>
                    </a:solidFill>
                  </a:tcPr>
                </a:tc>
              </a:tr>
              <a:tr h="6246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Leader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Optionnel (Multi-Paxos)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Obligatoire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A237E"/>
                    </a:solidFill>
                  </a:tcPr>
                </a:tc>
              </a:tr>
              <a:tr h="6246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Élection de leader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Non intégrée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Intégrée (timeouts aléatoires)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0D1B2A"/>
                    </a:solidFill>
                  </a:tcPr>
                </a:tc>
              </a:tr>
              <a:tr h="6246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Flexibilité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Haute (nombreuses variantes)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Moins flexible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1A237E"/>
                    </a:solidFill>
                  </a:tcPr>
                </a:tc>
              </a:tr>
              <a:tr h="6246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Cas d'usage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Systèmes critiques, recherche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Systèmes modernes (etcd, Consul)</a:t>
                      </a:r>
                      <a:endParaRPr lang="fr-F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565C0"/>
                      </a:solidFill>
                      <a:prstDash val="solid"/>
                    </a:lnL>
                    <a:lnR w="6480">
                      <a:solidFill>
                        <a:srgbClr val="1565C0"/>
                      </a:solidFill>
                      <a:prstDash val="solid"/>
                    </a:lnR>
                    <a:lnT w="6480">
                      <a:solidFill>
                        <a:srgbClr val="1565C0"/>
                      </a:solidFill>
                      <a:prstDash val="solid"/>
                    </a:lnT>
                    <a:lnB w="6480">
                      <a:solidFill>
                        <a:srgbClr val="1565C0"/>
                      </a:solidFill>
                      <a:prstDash val="solid"/>
                    </a:lnB>
                    <a:solidFill>
                      <a:srgbClr val="0D1B2A"/>
                    </a:solidFill>
                  </a:tcPr>
                </a:tc>
              </a:tr>
            </a:tbl>
          </a:graphicData>
        </a:graphic>
      </p:graphicFrame>
      <p:sp>
        <p:nvSpPr>
          <p:cNvPr id="232" name="Text 3"/>
          <p:cNvSpPr/>
          <p:nvPr/>
        </p:nvSpPr>
        <p:spPr>
          <a:xfrm>
            <a:off x="274320" y="4663440"/>
            <a:ext cx="8593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90A4AE"/>
                </a:solidFill>
                <a:effectLst/>
                <a:uFillTx/>
                <a:latin typeface="Calibri"/>
                <a:ea typeface="Calibri"/>
              </a:rPr>
              <a:t>Raft (2013) : "In Search of an Understandable Consensus Algorithm" — Diego Ongaro &amp; John Ousterhout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65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Shape 0"/>
          <p:cNvSpPr/>
          <p:nvPr/>
        </p:nvSpPr>
        <p:spPr>
          <a:xfrm>
            <a:off x="0" y="0"/>
            <a:ext cx="9142560" cy="9000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1"/>
          <p:cNvSpPr/>
          <p:nvPr/>
        </p:nvSpPr>
        <p:spPr>
          <a:xfrm>
            <a:off x="0" y="5052240"/>
            <a:ext cx="9142560" cy="9000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2"/>
          <p:cNvSpPr/>
          <p:nvPr/>
        </p:nvSpPr>
        <p:spPr>
          <a:xfrm>
            <a:off x="457200" y="1645920"/>
            <a:ext cx="8228160" cy="182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9. Les limites de Paxos</a:t>
            </a:r>
            <a:endParaRPr lang="fr-F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Shape 26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20"/>
          <p:cNvSpPr/>
          <p:nvPr/>
        </p:nvSpPr>
        <p:spPr>
          <a:xfrm>
            <a:off x="274320" y="45720"/>
            <a:ext cx="8593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Limites de Paxos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30"/>
          <p:cNvSpPr/>
          <p:nvPr/>
        </p:nvSpPr>
        <p:spPr>
          <a:xfrm>
            <a:off x="0" y="685800"/>
            <a:ext cx="71640" cy="445644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34"/>
          <p:cNvSpPr/>
          <p:nvPr/>
        </p:nvSpPr>
        <p:spPr>
          <a:xfrm>
            <a:off x="228600" y="914400"/>
            <a:ext cx="4204800" cy="114156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38"/>
          <p:cNvSpPr/>
          <p:nvPr/>
        </p:nvSpPr>
        <p:spPr>
          <a:xfrm>
            <a:off x="228600" y="914400"/>
            <a:ext cx="71640" cy="114156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23"/>
          <p:cNvSpPr/>
          <p:nvPr/>
        </p:nvSpPr>
        <p:spPr>
          <a:xfrm>
            <a:off x="411480" y="987480"/>
            <a:ext cx="39304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500" b="1" u="none" strike="noStrike">
                <a:solidFill>
                  <a:srgbClr val="2196F3"/>
                </a:solidFill>
                <a:effectLst/>
                <a:uFillTx/>
                <a:latin typeface="Calibri"/>
                <a:ea typeface="Calibri"/>
              </a:rPr>
              <a:t>Complexité d'implémentation élevée 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24"/>
          <p:cNvSpPr/>
          <p:nvPr/>
        </p:nvSpPr>
        <p:spPr>
          <a:xfrm>
            <a:off x="411480" y="1371600"/>
            <a:ext cx="39304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Même les experts font des erreurs 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42"/>
          <p:cNvSpPr/>
          <p:nvPr/>
        </p:nvSpPr>
        <p:spPr>
          <a:xfrm>
            <a:off x="4663440" y="914400"/>
            <a:ext cx="4204800" cy="114156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43"/>
          <p:cNvSpPr/>
          <p:nvPr/>
        </p:nvSpPr>
        <p:spPr>
          <a:xfrm>
            <a:off x="4663440" y="914400"/>
            <a:ext cx="71640" cy="114156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27"/>
          <p:cNvSpPr/>
          <p:nvPr/>
        </p:nvSpPr>
        <p:spPr>
          <a:xfrm>
            <a:off x="4846320" y="987480"/>
            <a:ext cx="39304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500" b="1" u="none" strike="noStrike">
                <a:solidFill>
                  <a:srgbClr val="2196F3"/>
                </a:solidFill>
                <a:effectLst/>
                <a:uFillTx/>
                <a:latin typeface="Calibri"/>
                <a:ea typeface="Calibri"/>
              </a:rPr>
              <a:t>Livelock possible 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28"/>
          <p:cNvSpPr/>
          <p:nvPr/>
        </p:nvSpPr>
        <p:spPr>
          <a:xfrm>
            <a:off x="4846320" y="1371600"/>
            <a:ext cx="39304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 cas de compétition entre proposers 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47"/>
          <p:cNvSpPr/>
          <p:nvPr/>
        </p:nvSpPr>
        <p:spPr>
          <a:xfrm>
            <a:off x="228600" y="2194560"/>
            <a:ext cx="4204800" cy="114156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51"/>
          <p:cNvSpPr/>
          <p:nvPr/>
        </p:nvSpPr>
        <p:spPr>
          <a:xfrm>
            <a:off x="228600" y="2194560"/>
            <a:ext cx="71640" cy="114156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29"/>
          <p:cNvSpPr/>
          <p:nvPr/>
        </p:nvSpPr>
        <p:spPr>
          <a:xfrm>
            <a:off x="411480" y="2267640"/>
            <a:ext cx="39304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196F3"/>
                </a:solidFill>
                <a:effectLst/>
                <a:uFillTx/>
                <a:latin typeface="Calibri"/>
                <a:ea typeface="Calibri"/>
              </a:rPr>
              <a:t>Ne gère pas les fautes byzantines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31"/>
          <p:cNvSpPr/>
          <p:nvPr/>
        </p:nvSpPr>
        <p:spPr>
          <a:xfrm>
            <a:off x="411480" y="2651760"/>
            <a:ext cx="39304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Dans la version classique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55"/>
          <p:cNvSpPr/>
          <p:nvPr/>
        </p:nvSpPr>
        <p:spPr>
          <a:xfrm>
            <a:off x="4663440" y="2194560"/>
            <a:ext cx="4204800" cy="114156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56"/>
          <p:cNvSpPr/>
          <p:nvPr/>
        </p:nvSpPr>
        <p:spPr>
          <a:xfrm>
            <a:off x="4663440" y="2194560"/>
            <a:ext cx="71640" cy="114156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32"/>
          <p:cNvSpPr/>
          <p:nvPr/>
        </p:nvSpPr>
        <p:spPr>
          <a:xfrm>
            <a:off x="4846320" y="2267640"/>
            <a:ext cx="39304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500" b="1" u="none" strike="noStrike">
                <a:solidFill>
                  <a:srgbClr val="2196F3"/>
                </a:solidFill>
                <a:effectLst/>
                <a:uFillTx/>
                <a:latin typeface="Calibri"/>
                <a:ea typeface="Calibri"/>
              </a:rPr>
              <a:t>Pas de gestion native du log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33"/>
          <p:cNvSpPr/>
          <p:nvPr/>
        </p:nvSpPr>
        <p:spPr>
          <a:xfrm>
            <a:off x="4846320" y="2651760"/>
            <a:ext cx="39304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Nécessite Multi-Paxos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60"/>
          <p:cNvSpPr/>
          <p:nvPr/>
        </p:nvSpPr>
        <p:spPr>
          <a:xfrm>
            <a:off x="228600" y="3474720"/>
            <a:ext cx="8591400" cy="114156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64"/>
          <p:cNvSpPr/>
          <p:nvPr/>
        </p:nvSpPr>
        <p:spPr>
          <a:xfrm>
            <a:off x="228600" y="3474720"/>
            <a:ext cx="71640" cy="114156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35"/>
          <p:cNvSpPr/>
          <p:nvPr/>
        </p:nvSpPr>
        <p:spPr>
          <a:xfrm>
            <a:off x="411480" y="3547800"/>
            <a:ext cx="82285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500" b="1" u="none" strike="noStrike">
                <a:solidFill>
                  <a:srgbClr val="2196F3"/>
                </a:solidFill>
                <a:effectLst/>
                <a:uFillTx/>
                <a:latin typeface="Calibri"/>
                <a:ea typeface="Calibri"/>
              </a:rPr>
              <a:t>Pas supporté nativement par les navigateurs web 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36"/>
          <p:cNvSpPr/>
          <p:nvPr/>
        </p:nvSpPr>
        <p:spPr>
          <a:xfrm>
            <a:off x="411480" y="3931920"/>
            <a:ext cx="39304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Ni facilement traversable via NAT 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65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Shape 18"/>
          <p:cNvSpPr/>
          <p:nvPr/>
        </p:nvSpPr>
        <p:spPr>
          <a:xfrm>
            <a:off x="0" y="0"/>
            <a:ext cx="9142560" cy="9000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22"/>
          <p:cNvSpPr/>
          <p:nvPr/>
        </p:nvSpPr>
        <p:spPr>
          <a:xfrm>
            <a:off x="0" y="5052240"/>
            <a:ext cx="9142560" cy="9000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19"/>
          <p:cNvSpPr/>
          <p:nvPr/>
        </p:nvSpPr>
        <p:spPr>
          <a:xfrm>
            <a:off x="457200" y="1645920"/>
            <a:ext cx="8228160" cy="182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10. Exercice</a:t>
            </a:r>
            <a:endParaRPr lang="fr-F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Shape 0"/>
          <p:cNvSpPr/>
          <p:nvPr/>
        </p:nvSpPr>
        <p:spPr>
          <a:xfrm>
            <a:off x="0" y="0"/>
            <a:ext cx="9142560" cy="68436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1"/>
          <p:cNvSpPr/>
          <p:nvPr/>
        </p:nvSpPr>
        <p:spPr>
          <a:xfrm>
            <a:off x="274320" y="45720"/>
            <a:ext cx="8593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Exercice — Paxos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2"/>
          <p:cNvSpPr/>
          <p:nvPr/>
        </p:nvSpPr>
        <p:spPr>
          <a:xfrm>
            <a:off x="0" y="685800"/>
            <a:ext cx="71640" cy="445644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3"/>
          <p:cNvSpPr/>
          <p:nvPr/>
        </p:nvSpPr>
        <p:spPr>
          <a:xfrm>
            <a:off x="274320" y="914400"/>
            <a:ext cx="54849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Q1. Quel rôle vote sur les valeurs proposées ?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4"/>
          <p:cNvSpPr/>
          <p:nvPr/>
        </p:nvSpPr>
        <p:spPr>
          <a:xfrm>
            <a:off x="5943600" y="914400"/>
            <a:ext cx="2924640" cy="36432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5"/>
          <p:cNvSpPr/>
          <p:nvPr/>
        </p:nvSpPr>
        <p:spPr>
          <a:xfrm>
            <a:off x="5989320" y="914400"/>
            <a:ext cx="28332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✅ Acceptor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6"/>
          <p:cNvSpPr/>
          <p:nvPr/>
        </p:nvSpPr>
        <p:spPr>
          <a:xfrm>
            <a:off x="274320" y="1737360"/>
            <a:ext cx="54849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Q2. Combien d'acceptors doivent accepter pour atteindre le consensus ?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7"/>
          <p:cNvSpPr/>
          <p:nvPr/>
        </p:nvSpPr>
        <p:spPr>
          <a:xfrm>
            <a:off x="5943600" y="1737360"/>
            <a:ext cx="2924640" cy="36432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8"/>
          <p:cNvSpPr/>
          <p:nvPr/>
        </p:nvSpPr>
        <p:spPr>
          <a:xfrm>
            <a:off x="5989320" y="1737360"/>
            <a:ext cx="28332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✅ Une majorité (⌊N/2⌋ + 1)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9"/>
          <p:cNvSpPr/>
          <p:nvPr/>
        </p:nvSpPr>
        <p:spPr>
          <a:xfrm>
            <a:off x="274320" y="2560320"/>
            <a:ext cx="54849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Q3. Qu'est-ce qu'un livelock dans Paxos ?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10"/>
          <p:cNvSpPr/>
          <p:nvPr/>
        </p:nvSpPr>
        <p:spPr>
          <a:xfrm>
            <a:off x="5943600" y="2488320"/>
            <a:ext cx="2924640" cy="49860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1"/>
          <p:cNvSpPr/>
          <p:nvPr/>
        </p:nvSpPr>
        <p:spPr>
          <a:xfrm>
            <a:off x="5989320" y="2560320"/>
            <a:ext cx="28332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✅ Deux proposers se bloquent mutuellement indéfiniment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2"/>
          <p:cNvSpPr/>
          <p:nvPr/>
        </p:nvSpPr>
        <p:spPr>
          <a:xfrm>
            <a:off x="274320" y="3383280"/>
            <a:ext cx="54849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Q4. Quelle variante élit un leader pour éviter la phase Prepare ?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13"/>
          <p:cNvSpPr/>
          <p:nvPr/>
        </p:nvSpPr>
        <p:spPr>
          <a:xfrm>
            <a:off x="5943600" y="3383280"/>
            <a:ext cx="2924640" cy="36432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4"/>
          <p:cNvSpPr/>
          <p:nvPr/>
        </p:nvSpPr>
        <p:spPr>
          <a:xfrm>
            <a:off x="5989320" y="3383280"/>
            <a:ext cx="28332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✅ Multi-Paxos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15"/>
          <p:cNvSpPr/>
          <p:nvPr/>
        </p:nvSpPr>
        <p:spPr>
          <a:xfrm>
            <a:off x="274320" y="4206240"/>
            <a:ext cx="54849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A237E"/>
                </a:solidFill>
                <a:effectLst/>
                <a:uFillTx/>
                <a:latin typeface="Calibri"/>
                <a:ea typeface="Calibri"/>
              </a:rPr>
              <a:t>Q5. Quel système Google utilise Paxos pour le verrouillage distribué ?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16"/>
          <p:cNvSpPr/>
          <p:nvPr/>
        </p:nvSpPr>
        <p:spPr>
          <a:xfrm>
            <a:off x="5943600" y="4206240"/>
            <a:ext cx="2924640" cy="36432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17"/>
          <p:cNvSpPr/>
          <p:nvPr/>
        </p:nvSpPr>
        <p:spPr>
          <a:xfrm>
            <a:off x="5989320" y="4206240"/>
            <a:ext cx="28332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C107"/>
                </a:solidFill>
                <a:effectLst/>
                <a:uFillTx/>
                <a:latin typeface="Calibri"/>
                <a:ea typeface="Calibri"/>
              </a:rPr>
              <a:t>✅ Google Chubby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8" dur="1822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9" dur="664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3">
                                          <p:val>
                                            <p:strVal val="0.5"/>
                                          </p:val>
                                        </p:tav>
                                        <p:tav fmla="y-sin(pi*$)/3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0" dur="664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9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9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1" dur="332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27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27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2" dur="164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81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81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 fill="hold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fill="hold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 fill="hold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fill="hold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 fill="hold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fill="hold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 fill="hold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fill="hold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26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2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4" dur="1822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5" dur="664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3">
                                          <p:val>
                                            <p:strVal val="0.5"/>
                                          </p:val>
                                        </p:tav>
                                        <p:tav fmla="y-sin(pi*$)/3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6" dur="664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9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9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7" dur="332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27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27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8" dur="164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81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81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9" dur="26" fill="hold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0" dur="166" fill="hold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1" dur="26" fill="hold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2" dur="166" fill="hold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3" dur="26" fill="hold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4" dur="166" fill="hold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5" dur="26" fill="hold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6" dur="166" fill="hold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6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41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42" dur="1822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43" dur="664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3">
                                          <p:val>
                                            <p:strVal val="0.5"/>
                                          </p:val>
                                        </p:tav>
                                        <p:tav fmla="y-sin(pi*$)/3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44" dur="664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9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9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45" dur="332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27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27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46" dur="164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81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81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47" dur="26" fill="hold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48" dur="166" fill="hold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9" dur="26" fill="hold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50" dur="166" fill="hold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1" dur="26" fill="hold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52" dur="166" fill="hold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3" dur="26" fill="hold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54" dur="166" fill="hold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5" presetID="26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5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58" dur="1822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59" dur="664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3">
                                          <p:val>
                                            <p:strVal val="0.5"/>
                                          </p:val>
                                        </p:tav>
                                        <p:tav fmla="y-sin(pi*$)/3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60" dur="664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9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9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61" dur="332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27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27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62" dur="164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81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81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63" dur="26" fill="hold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64" dur="166" fill="hold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5" dur="26" fill="hold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66" dur="166" fill="hold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7" dur="26" fill="hold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68" dur="166" fill="hold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9" dur="26" fill="hold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70" dur="166" fill="hold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6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7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76" dur="1822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77" dur="664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3">
                                          <p:val>
                                            <p:strVal val="0.5"/>
                                          </p:val>
                                        </p:tav>
                                        <p:tav fmla="y-sin(pi*$)/3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78" dur="664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9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9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79" dur="332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27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27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80" dur="164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81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81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81" dur="26" fill="hold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82" dur="166" fill="hold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83" dur="26" fill="hold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84" dur="166" fill="hold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85" dur="26" fill="hold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86" dur="166" fill="hold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87" dur="26" fill="hold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88" dur="166" fill="hold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6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91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92" dur="1822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93" dur="664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3">
                                          <p:val>
                                            <p:strVal val="0.5"/>
                                          </p:val>
                                        </p:tav>
                                        <p:tav fmla="y-sin(pi*$)/3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94" dur="664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9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9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95" dur="332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27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27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96" dur="164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81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81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97" dur="26" fill="hold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98" dur="166" fill="hold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99" dur="26" fill="hold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00" dur="166" fill="hold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01" dur="26" fill="hold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02" dur="166" fill="hold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03" dur="26" fill="hold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104" dur="166" fill="hold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6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109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110" dur="1822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11" dur="664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3">
                                          <p:val>
                                            <p:strVal val="0.5"/>
                                          </p:val>
                                        </p:tav>
                                        <p:tav fmla="y-sin(pi*$)/3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12" dur="664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9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9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13" dur="332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27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27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14" dur="164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81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81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15" dur="26" fill="hold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16" dur="166" fill="hold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17" dur="26" fill="hold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18" dur="166" fill="hold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19" dur="26" fill="hold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20" dur="166" fill="hold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21" dur="26" fill="hold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122" dur="166" fill="hold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23" presetID="26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12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126" dur="1822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27" dur="664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3">
                                          <p:val>
                                            <p:strVal val="0.5"/>
                                          </p:val>
                                        </p:tav>
                                        <p:tav fmla="y-sin(pi*$)/3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28" dur="664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9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9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29" dur="332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27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27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30" dur="164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81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81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1" dur="26" fill="hold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32" dur="166" fill="hold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33" dur="26" fill="hold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34" dur="166" fill="hold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35" dur="26" fill="hold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36" dur="166" fill="hold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37" dur="26" fill="hold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138" dur="166" fill="hold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26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14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144" dur="1822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45" dur="664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3">
                                          <p:val>
                                            <p:strVal val="0.5"/>
                                          </p:val>
                                        </p:tav>
                                        <p:tav fmla="y-sin(pi*$)/3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46" dur="664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9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9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47" dur="332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27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27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48" dur="164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81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81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49" dur="26" fill="hold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50" dur="166" fill="hold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1" dur="26" fill="hold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52" dur="166" fill="hold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3" dur="26" fill="hold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54" dur="166" fill="hold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5" dur="26" fill="hold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156" dur="166" fill="hold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57" presetID="26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159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160" dur="1822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61" dur="664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3">
                                          <p:val>
                                            <p:strVal val="0.5"/>
                                          </p:val>
                                        </p:tav>
                                        <p:tav fmla="y-sin(pi*$)/3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62" dur="664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9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9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63" dur="332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27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27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64" dur="164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y-sin(pi*$)/81">
                                          <p:val>
                                            <p:strVal val="0"/>
                                          </p:val>
                                        </p:tav>
                                        <p:tav fmla="y-sin(pi*$)/81" tm="100000">
                                          <p:val>
                                            <p:str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65" dur="26" fill="hold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66" dur="166" fill="hold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67" dur="26" fill="hold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8" dur="166" fill="hold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69" dur="26" fill="hold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70" dur="166" fill="hold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1" dur="26" fill="hold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172" dur="166" fill="hold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Shape 0"/>
          <p:cNvSpPr/>
          <p:nvPr/>
        </p:nvSpPr>
        <p:spPr>
          <a:xfrm>
            <a:off x="0" y="0"/>
            <a:ext cx="135720" cy="5142240"/>
          </a:xfrm>
          <a:prstGeom prst="rect">
            <a:avLst/>
          </a:prstGeom>
          <a:solidFill>
            <a:srgbClr val="2196F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1"/>
          <p:cNvSpPr/>
          <p:nvPr/>
        </p:nvSpPr>
        <p:spPr>
          <a:xfrm>
            <a:off x="137160" y="2240280"/>
            <a:ext cx="9005400" cy="53280"/>
          </a:xfrm>
          <a:prstGeom prst="rect">
            <a:avLst/>
          </a:prstGeom>
          <a:solidFill>
            <a:srgbClr val="FFC10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720" rIns="90000" bIns="972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2"/>
          <p:cNvSpPr/>
          <p:nvPr/>
        </p:nvSpPr>
        <p:spPr>
          <a:xfrm>
            <a:off x="457200" y="-126720"/>
            <a:ext cx="8411040" cy="12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Paxos en une phrase</a:t>
            </a:r>
            <a:endParaRPr lang="fr-FR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3"/>
          <p:cNvSpPr/>
          <p:nvPr/>
        </p:nvSpPr>
        <p:spPr>
          <a:xfrm>
            <a:off x="457200" y="1371600"/>
            <a:ext cx="8228160" cy="31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« Le handshake TLS est la phase de mise en confiance cryptographique</a:t>
            </a:r>
            <a:endParaRPr lang="fr-F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entre un client et un serveur. »</a:t>
            </a:r>
            <a:endParaRPr lang="fr-F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 même, Paxos est la phase de mise en confiance</a:t>
            </a:r>
            <a:endParaRPr lang="fr-F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entre des nœuds distribués — garantissant</a:t>
            </a:r>
            <a:endParaRPr lang="fr-F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qu'ils s'accordent tous sur la même vérité.</a:t>
            </a:r>
            <a:endParaRPr lang="fr-F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4"/>
          <p:cNvSpPr/>
          <p:nvPr/>
        </p:nvSpPr>
        <p:spPr>
          <a:xfrm>
            <a:off x="457200" y="4206240"/>
            <a:ext cx="8228160" cy="63864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5"/>
          <p:cNvSpPr/>
          <p:nvPr/>
        </p:nvSpPr>
        <p:spPr>
          <a:xfrm>
            <a:off x="548640" y="4251960"/>
            <a:ext cx="80452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90A4AE"/>
                </a:solidFill>
                <a:effectLst/>
                <a:uFillTx/>
                <a:latin typeface="Calibri"/>
                <a:ea typeface="Calibri"/>
              </a:rPr>
              <a:t>Sources : Lamport 1998, 2001 · GeeksforGeeks · Wikipedia · ScyllaDB · Paxos.systems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</TotalTime>
  <Application>LibreOffice/26.2.2.2$Windows_X86_64 LibreOffice_project/1f77d10d6938fd34972958f64b2bcfa54f8b1ba5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2026-04-15T18:35:15Z</dcterms:created>
  <dc:creator>Boris Rose</dc:creator>
  <dc:description/>
  <dc:language>fr-FR</dc:language>
  <cp:lastModifiedBy/>
  <dcterms:modified xsi:type="dcterms:W3CDTF">2026-04-16T09:19:51Z</dcterms:modified>
  <cp:revision>5</cp:revision>
  <dc:subject>PptxGenJS Presentation</dc:subject>
  <dc:title>Paxos — Algorithme de consensus distribué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26</vt:i4>
  </property>
  <property fmtid="{D5CDD505-2E9C-101B-9397-08002B2CF9AE}" pid="3" name="PresentationFormat">
    <vt:lpwstr>On-screen Show (16:9)</vt:lpwstr>
  </property>
  <property fmtid="{D5CDD505-2E9C-101B-9397-08002B2CF9AE}" pid="4" name="Slides">
    <vt:i4>26</vt:i4>
  </property>
</Properties>
</file>